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theme/themeOverride5.xml" ContentType="application/vnd.openxmlformats-officedocument.themeOverride+xml"/>
  <Override PartName="/ppt/notesSlides/notesSlide9.xml" ContentType="application/vnd.openxmlformats-officedocument.presentationml.notesSlide+xml"/>
  <Override PartName="/ppt/theme/themeOverride6.xml" ContentType="application/vnd.openxmlformats-officedocument.themeOverride+xml"/>
  <Override PartName="/ppt/notesSlides/notesSlide10.xml" ContentType="application/vnd.openxmlformats-officedocument.presentationml.notesSlide+xml"/>
  <Override PartName="/ppt/theme/themeOverride7.xml" ContentType="application/vnd.openxmlformats-officedocument.themeOverride+xml"/>
  <Override PartName="/ppt/notesSlides/notesSlide11.xml" ContentType="application/vnd.openxmlformats-officedocument.presentationml.notesSl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notesMasterIdLst>
    <p:notesMasterId r:id="rId38"/>
  </p:notesMasterIdLst>
  <p:sldIdLst>
    <p:sldId id="256" r:id="rId6"/>
    <p:sldId id="257" r:id="rId7"/>
    <p:sldId id="288" r:id="rId8"/>
    <p:sldId id="258" r:id="rId9"/>
    <p:sldId id="259" r:id="rId10"/>
    <p:sldId id="260" r:id="rId11"/>
    <p:sldId id="261" r:id="rId12"/>
    <p:sldId id="262" r:id="rId13"/>
    <p:sldId id="263" r:id="rId14"/>
    <p:sldId id="280" r:id="rId15"/>
    <p:sldId id="281" r:id="rId16"/>
    <p:sldId id="264" r:id="rId17"/>
    <p:sldId id="265" r:id="rId18"/>
    <p:sldId id="266" r:id="rId19"/>
    <p:sldId id="284" r:id="rId20"/>
    <p:sldId id="285" r:id="rId21"/>
    <p:sldId id="286" r:id="rId22"/>
    <p:sldId id="287" r:id="rId23"/>
    <p:sldId id="267" r:id="rId24"/>
    <p:sldId id="268" r:id="rId25"/>
    <p:sldId id="269" r:id="rId26"/>
    <p:sldId id="282" r:id="rId27"/>
    <p:sldId id="270" r:id="rId28"/>
    <p:sldId id="271" r:id="rId29"/>
    <p:sldId id="272" r:id="rId30"/>
    <p:sldId id="273" r:id="rId31"/>
    <p:sldId id="274" r:id="rId32"/>
    <p:sldId id="276" r:id="rId33"/>
    <p:sldId id="275" r:id="rId34"/>
    <p:sldId id="278" r:id="rId35"/>
    <p:sldId id="279" r:id="rId36"/>
    <p:sldId id="283" r:id="rId37"/>
  </p:sldIdLst>
  <p:sldSz cx="12192000" cy="6858000"/>
  <p:notesSz cx="6858000" cy="9144000"/>
  <p:defaultText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FF"/>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guideOptions xmlns="smNativeData" xmlns:pr="smNativeData" xmlns:p15="http://schemas.microsoft.com/office/powerpoint/2012/main" xmlns:p14="http://schemas.microsoft.com/office/powerpoint/2010/main" xmlns:mc="http://schemas.openxmlformats.org/markup-compatibility/2006" dt="1727321773"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972" autoAdjust="0"/>
  </p:normalViewPr>
  <p:slideViewPr>
    <p:cSldViewPr snapToObjects="1" showGuides="1">
      <p:cViewPr varScale="1">
        <p:scale>
          <a:sx n="49" d="100"/>
          <a:sy n="49" d="100"/>
        </p:scale>
        <p:origin x="1512"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3" d="100"/>
        <a:sy n="13" d="100"/>
      </p:scale>
      <p:origin x="0" y="0"/>
    </p:cViewPr>
  </p:sorterViewPr>
  <p:notesViewPr>
    <p:cSldViewPr snapToObjects="1" showGuides="1">
      <p:cViewPr>
        <p:scale>
          <a:sx n="48" d="100"/>
          <a:sy n="48" d="100"/>
        </p:scale>
        <p:origin x="1362" y="650"/>
      </p:cViewPr>
      <p:guideLst/>
    </p:cSldViewPr>
  </p:notesViewPr>
  <p:gridSpacing cx="71755" cy="71755"/>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L8fAAD/HwAA"/>
              </a:ext>
            </a:extLst>
          </p:cNvSpPr>
          <p:nvPr>
            <p:ph type="sldImg"/>
          </p:nvPr>
        </p:nvSpPr>
        <p:spPr>
          <a:xfrm>
            <a:off x="215900" y="812800"/>
            <a:ext cx="7127240" cy="4008755"/>
          </a:xfrm>
          <a:prstGeom prst="rect">
            <a:avLst/>
          </a:prstGeom>
          <a:noFill/>
          <a:ln>
            <a:noFill/>
          </a:ln>
        </p:spPr>
        <p:txBody>
          <a:bodyPr vert="horz" wrap="square" lIns="0" tIns="0" rIns="0" bIns="0" numCol="1" spcCol="215900" anchor="ctr">
            <a:prstTxWarp prst="textNoShape">
              <a:avLst/>
            </a:prstTxWarp>
          </a:bodyPr>
          <a:lstStyle/>
          <a:p>
            <a:pPr algn="ctr"/>
            <a:r>
              <a:rPr lang="en-us" sz="4400" cap="none">
                <a:solidFill>
                  <a:srgbClr val="000000"/>
                </a:solidFill>
              </a:rPr>
              <a:t>Click to move the slide</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L8fAAD/HwAA"/>
              </a:ext>
            </a:extLst>
          </p:cNvSpPr>
          <p:nvPr>
            <p:ph type="body"/>
          </p:nvPr>
        </p:nvSpPr>
        <p:spPr>
          <a:xfrm>
            <a:off x="756285" y="5078730"/>
            <a:ext cx="6047105" cy="4810760"/>
          </a:xfrm>
          <a:prstGeom prst="rect">
            <a:avLst/>
          </a:prstGeom>
          <a:noFill/>
          <a:ln>
            <a:noFill/>
          </a:ln>
        </p:spPr>
        <p:txBody>
          <a:bodyPr vert="horz" wrap="square" lIns="0" tIns="0" rIns="0" bIns="0" numCol="1" spcCol="215900" anchor="t">
            <a:prstTxWarp prst="textNoShape">
              <a:avLst/>
            </a:prstTxWarp>
          </a:bodyPr>
          <a:lstStyle/>
          <a:p>
            <a:pPr marL="215900" indent="0">
              <a:buNone/>
            </a:pPr>
            <a:r>
              <a:rPr lang="en-us" sz="2000" cap="none">
                <a:solidFill>
                  <a:srgbClr val="000000"/>
                </a:solidFill>
              </a:rPr>
              <a:t>Click to edit the notes format</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AuFAAASQMAABAAAAAmAAAACAAAAL8fAAD/HwAA"/>
              </a:ext>
            </a:extLst>
          </p:cNvSpPr>
          <p:nvPr>
            <p:ph type="hdr"/>
          </p:nvPr>
        </p:nvSpPr>
        <p:spPr>
          <a:xfrm>
            <a:off x="0" y="0"/>
            <a:ext cx="3280410" cy="534035"/>
          </a:xfrm>
          <a:prstGeom prst="rect">
            <a:avLst/>
          </a:prstGeom>
          <a:noFill/>
          <a:ln>
            <a:noFill/>
          </a:ln>
        </p:spPr>
        <p:txBody>
          <a:bodyPr vert="horz" wrap="square" lIns="0" tIns="0" rIns="0" bIns="0" numCol="1" spcCol="215900" anchor="t">
            <a:prstTxWarp prst="textNoShape">
              <a:avLst/>
            </a:prstTxWarp>
          </a:bodyPr>
          <a:lstStyle/>
          <a:p>
            <a:pPr indent="0">
              <a:buNone/>
            </a:pPr>
            <a:r>
              <a:rPr lang="en-us" sz="1400" cap="none">
                <a:solidFill>
                  <a:srgbClr val="000000"/>
                </a:solidFill>
                <a:latin typeface="Times New Roman" pitchFamily="1" charset="0"/>
                <a:ea typeface="DejaVu Sans" pitchFamily="1" charset="0"/>
                <a:cs typeface="DejaVu Sans" pitchFamily="1" charset="0"/>
              </a:rPr>
              <a:t>&lt;header&gt;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AAAAACBLgAASQMAABAAAAAmAAAACAAAAL+fAAD/HwAA"/>
              </a:ext>
            </a:extLst>
          </p:cNvSpPr>
          <p:nvPr>
            <p:ph type="dt" idx="10"/>
          </p:nvPr>
        </p:nvSpPr>
        <p:spPr>
          <a:xfrm>
            <a:off x="4279265" y="0"/>
            <a:ext cx="3280410" cy="534035"/>
          </a:xfrm>
          <a:prstGeom prst="rect">
            <a:avLst/>
          </a:prstGeom>
          <a:noFill/>
          <a:ln>
            <a:noFill/>
          </a:ln>
        </p:spPr>
        <p:txBody>
          <a:bodyPr vert="horz" wrap="square" lIns="0" tIns="0" rIns="0" bIns="0" numCol="1" spcCol="215900" anchor="t">
            <a:prstTxWarp prst="textNoShape">
              <a:avLst/>
            </a:prstTxWarp>
          </a:bodyPr>
          <a:lstStyle>
            <a:lvl1pPr indent="0" algn="r">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lgn="r">
              <a:buNone/>
              <a:defRPr lang="en-us"/>
            </a:pPr>
            <a:r>
              <a:t>&lt;date/time&gt;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Hw+AAAuFAAAxUEAABAAAAAmAAAACAAAAL+fAAD/HwAA"/>
              </a:ext>
            </a:extLst>
          </p:cNvSpPr>
          <p:nvPr>
            <p:ph type="ftr" idx="11"/>
          </p:nvPr>
        </p:nvSpPr>
        <p:spPr>
          <a:xfrm>
            <a:off x="0" y="10157460"/>
            <a:ext cx="3280410" cy="534035"/>
          </a:xfrm>
          <a:prstGeom prst="rect">
            <a:avLst/>
          </a:prstGeom>
          <a:noFill/>
          <a:ln>
            <a:noFill/>
          </a:ln>
        </p:spPr>
        <p:txBody>
          <a:bodyPr vert="horz" wrap="square" lIns="0" tIns="0" rIns="0" bIns="0" numCol="1" spcCol="215900" anchor="b">
            <a:prstTxWarp prst="textNoShape">
              <a:avLst/>
            </a:prstTxWarp>
          </a:bodyPr>
          <a:lstStyle>
            <a:lvl1pPr indent="0">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buNone/>
              <a:defRPr lang="en-us"/>
            </a:pPr>
            <a:r>
              <a:t>&lt;footer&gt;</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L+fAAD/HwAA"/>
              </a:ext>
            </a:extLst>
          </p:cNvSpPr>
          <p:nvPr>
            <p:ph type="sldNum" idx="12"/>
          </p:nvPr>
        </p:nvSpPr>
        <p:spPr>
          <a:xfrm>
            <a:off x="4279265" y="10157460"/>
            <a:ext cx="3280410" cy="534035"/>
          </a:xfrm>
          <a:prstGeom prst="rect">
            <a:avLst/>
          </a:prstGeom>
          <a:noFill/>
          <a:ln>
            <a:noFill/>
          </a:ln>
        </p:spPr>
        <p:txBody>
          <a:bodyPr vert="horz" wrap="square" lIns="0" tIns="0" rIns="0" bIns="0" numCol="1" spcCol="215900" anchor="b">
            <a:prstTxWarp prst="textNoShape">
              <a:avLst/>
            </a:prstTxWarp>
          </a:bodyPr>
          <a:lstStyle>
            <a:lvl1pPr indent="0" algn="r">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lgn="r">
              <a:buNone/>
              <a:defRPr lang="en-us"/>
            </a:pPr>
            <a:fld id="{3FECEABD-F3D2-B91C-9C54-0549A41A6A50}" type="slidenum">
              <a:t>‹#›</a:t>
            </a:fld>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1200" cap="none" dirty="0">
                <a:solidFill>
                  <a:srgbClr val="000000"/>
                </a:solidFill>
                <a:latin typeface="MinionPro-Regular" charset="0"/>
                <a:ea typeface="DejaVu Sans" pitchFamily="1" charset="0"/>
                <a:cs typeface="DejaVu Sans" pitchFamily="1" charset="0"/>
              </a:rPr>
              <a:t>For example, consider the </a:t>
            </a:r>
            <a:r>
              <a:rPr lang="en-us" sz="1200" cap="none" dirty="0" err="1">
                <a:solidFill>
                  <a:srgbClr val="000000"/>
                </a:solidFill>
                <a:latin typeface="MinionPro-Regular" charset="0"/>
                <a:ea typeface="DejaVu Sans" pitchFamily="1" charset="0"/>
                <a:cs typeface="DejaVu Sans" pitchFamily="1" charset="0"/>
              </a:rPr>
              <a:t>names,telephone</a:t>
            </a:r>
            <a:r>
              <a:rPr lang="en-us" sz="1200" cap="none" dirty="0">
                <a:solidFill>
                  <a:srgbClr val="000000"/>
                </a:solidFill>
                <a:latin typeface="MinionPro-Regular" charset="0"/>
                <a:ea typeface="DejaVu Sans" pitchFamily="1" charset="0"/>
                <a:cs typeface="DejaVu Sans" pitchFamily="1" charset="0"/>
              </a:rPr>
              <a:t> numbers, and addresses of the people you know. Nowadays, this data is typically stored in mobile phones,</a:t>
            </a:r>
            <a:endParaRPr lang="en-us" sz="1200" cap="none" dirty="0">
              <a:solidFill>
                <a:srgbClr val="000000"/>
              </a:solidFill>
            </a:endParaRPr>
          </a:p>
          <a:p>
            <a:pPr marL="215900" indent="0" defTabSz="914400">
              <a:lnSpc>
                <a:spcPct val="100000"/>
              </a:lnSpc>
              <a:buNone/>
              <a:tabLst>
                <a:tab pos="0" algn="l"/>
              </a:tabLst>
            </a:pPr>
            <a:endParaRPr lang="en-us" sz="1200" cap="none" dirty="0">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1C0F7C52-1CF1-5A8A-BFB7-EADF32F949BF}" type="slidenum">
              <a:t>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399C80B7-F9D4-C976-9A24-0F23CE6A6C5A}" type="slidenum">
              <a:t>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4813" cy="3084513"/>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a:buNone/>
            </a:pPr>
            <a:r>
              <a:rPr lang="en-US" cap="none" dirty="0">
                <a:solidFill>
                  <a:srgbClr val="000000"/>
                </a:solidFill>
              </a:rPr>
              <a:t>Integrity problem primary key can’t be null</a:t>
            </a:r>
            <a:endParaRPr lang="en-us" cap="none" dirty="0">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42237CEC-A2AF-768A-E19B-54DF32D51701}" type="slidenum">
              <a:t>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GB" dirty="0"/>
              <a:t>User don’t care how the data is stored in memory, disk blocks, or what indexing is used. That’s </a:t>
            </a:r>
            <a:r>
              <a:rPr lang="en-GB" b="1" dirty="0"/>
              <a:t>abstracted</a:t>
            </a:r>
            <a:r>
              <a:rPr lang="en-GB" dirty="0"/>
              <a:t> away.</a:t>
            </a:r>
            <a:endParaRPr lang="en-US" dirty="0"/>
          </a:p>
        </p:txBody>
      </p:sp>
      <p:sp>
        <p:nvSpPr>
          <p:cNvPr id="4" name="Slide Number Placeholder 3"/>
          <p:cNvSpPr>
            <a:spLocks noGrp="1"/>
          </p:cNvSpPr>
          <p:nvPr>
            <p:ph type="sldNum" idx="12"/>
          </p:nvPr>
        </p:nvSpPr>
        <p:spPr/>
        <p:txBody>
          <a:bodyPr/>
          <a:lstStyle/>
          <a:p>
            <a:pPr indent="0" algn="r">
              <a:buNone/>
              <a:defRPr lang="en-us"/>
            </a:pPr>
            <a:fld id="{3FECEABD-F3D2-B91C-9C54-0549A41A6A50}" type="slidenum">
              <a:rPr lang="en-US" smtClean="0"/>
              <a:t>12</a:t>
            </a:fld>
            <a:endParaRPr lang="en-US"/>
          </a:p>
        </p:txBody>
      </p:sp>
    </p:spTree>
    <p:extLst>
      <p:ext uri="{BB962C8B-B14F-4D97-AF65-F5344CB8AC3E}">
        <p14:creationId xmlns:p14="http://schemas.microsoft.com/office/powerpoint/2010/main" val="45312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marL="228600" indent="-228600">
              <a:buAutoNum type="arabicPeriod"/>
            </a:pPr>
            <a:r>
              <a:rPr lang="en-GB" dirty="0"/>
              <a:t>The </a:t>
            </a:r>
            <a:r>
              <a:rPr lang="en-GB" sz="1200" kern="1200" dirty="0">
                <a:solidFill>
                  <a:schemeClr val="tx1"/>
                </a:solidFill>
                <a:latin typeface="+mn-lt"/>
                <a:ea typeface="+mn-ea"/>
                <a:cs typeface="+mn-cs"/>
              </a:rPr>
              <a:t>Students</a:t>
            </a:r>
            <a:r>
              <a:rPr lang="en-GB" dirty="0"/>
              <a:t> table is stored as a B+ tree index on disk with binary files. You don't see this; it's managed by the DBMS.</a:t>
            </a:r>
          </a:p>
          <a:p>
            <a:pPr marL="228600" indent="-228600">
              <a:buAutoNum type="arabicPeriod"/>
            </a:pPr>
            <a:r>
              <a:rPr lang="en-GB" dirty="0"/>
              <a:t>This is how the </a:t>
            </a:r>
            <a:r>
              <a:rPr lang="en-GB" b="1" dirty="0"/>
              <a:t>DBA</a:t>
            </a:r>
            <a:r>
              <a:rPr lang="en-GB" dirty="0"/>
              <a:t> or </a:t>
            </a:r>
            <a:r>
              <a:rPr lang="en-GB" b="1" dirty="0"/>
              <a:t>developer</a:t>
            </a:r>
            <a:r>
              <a:rPr lang="en-GB" dirty="0"/>
              <a:t> sees the database — the logical model, without worrying about how it's stored physically. (</a:t>
            </a:r>
            <a:r>
              <a:rPr lang="en-US" dirty="0"/>
              <a:t>Tables, columns, relationships, data types, constraints.</a:t>
            </a:r>
            <a:r>
              <a:rPr lang="en-GB" dirty="0"/>
              <a:t>)</a:t>
            </a:r>
          </a:p>
          <a:p>
            <a:pPr marL="228600" indent="-228600">
              <a:buAutoNum type="arabicPeriod"/>
            </a:pPr>
            <a:r>
              <a:rPr lang="en-GB" dirty="0"/>
              <a:t>Multiple users can have different views for security or simplicity (what they can see?)</a:t>
            </a:r>
            <a:endParaRPr lang="en-US" dirty="0"/>
          </a:p>
        </p:txBody>
      </p:sp>
      <p:sp>
        <p:nvSpPr>
          <p:cNvPr id="4" name="Slide Number Placeholder 3"/>
          <p:cNvSpPr>
            <a:spLocks noGrp="1"/>
          </p:cNvSpPr>
          <p:nvPr>
            <p:ph type="sldNum" idx="12"/>
          </p:nvPr>
        </p:nvSpPr>
        <p:spPr/>
        <p:txBody>
          <a:bodyPr/>
          <a:lstStyle/>
          <a:p>
            <a:pPr indent="0" algn="r">
              <a:buNone/>
              <a:defRPr lang="en-us"/>
            </a:pPr>
            <a:fld id="{3FECEABD-F3D2-B91C-9C54-0549A41A6A50}" type="slidenum">
              <a:rPr lang="en-US" smtClean="0"/>
              <a:t>13</a:t>
            </a:fld>
            <a:endParaRPr lang="en-US"/>
          </a:p>
        </p:txBody>
      </p:sp>
    </p:spTree>
    <p:extLst>
      <p:ext uri="{BB962C8B-B14F-4D97-AF65-F5344CB8AC3E}">
        <p14:creationId xmlns:p14="http://schemas.microsoft.com/office/powerpoint/2010/main" val="3378649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GB" dirty="0"/>
              <a:t>1. The ability to change the logical schema (like adding new fields or tables) without changing the application programs.</a:t>
            </a:r>
          </a:p>
          <a:p>
            <a:r>
              <a:rPr lang="en-GB"/>
              <a:t>2. The </a:t>
            </a:r>
            <a:r>
              <a:rPr lang="en-GB" dirty="0"/>
              <a:t>ability to change the physical storage (e.g., indexing, file organization) without affecting the logical structure or application code.</a:t>
            </a:r>
          </a:p>
          <a:p>
            <a:endParaRPr lang="en-US" dirty="0"/>
          </a:p>
        </p:txBody>
      </p:sp>
      <p:sp>
        <p:nvSpPr>
          <p:cNvPr id="4" name="Slide Number Placeholder 3"/>
          <p:cNvSpPr>
            <a:spLocks noGrp="1"/>
          </p:cNvSpPr>
          <p:nvPr>
            <p:ph type="sldNum" idx="12"/>
          </p:nvPr>
        </p:nvSpPr>
        <p:spPr/>
        <p:txBody>
          <a:bodyPr/>
          <a:lstStyle/>
          <a:p>
            <a:pPr indent="0" algn="r">
              <a:buNone/>
              <a:defRPr lang="en-us"/>
            </a:pPr>
            <a:fld id="{3FECEABD-F3D2-B91C-9C54-0549A41A6A50}" type="slidenum">
              <a:rPr lang="en-US" smtClean="0"/>
              <a:t>17</a:t>
            </a:fld>
            <a:endParaRPr lang="en-US"/>
          </a:p>
        </p:txBody>
      </p:sp>
    </p:spTree>
    <p:extLst>
      <p:ext uri="{BB962C8B-B14F-4D97-AF65-F5344CB8AC3E}">
        <p14:creationId xmlns:p14="http://schemas.microsoft.com/office/powerpoint/2010/main" val="682575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e.g. semantic Date of birth and date of purchase </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4DD415C7-89A0-81E3-EE6C-7FB65B22182A}" type="slidenum">
              <a:t>19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4813" cy="3084513"/>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dirty="0">
                <a:solidFill>
                  <a:srgbClr val="D1D5DB"/>
                </a:solidFill>
                <a:latin typeface="Söhne" charset="0"/>
                <a:ea typeface="DejaVu Sans" pitchFamily="1" charset="0"/>
                <a:cs typeface="DejaVu Sans" pitchFamily="1" charset="0"/>
              </a:rPr>
              <a:t>For example, An instance of this database might include the names, salaries, and job titles of all employees in the company as of a specific date.</a:t>
            </a:r>
            <a:endParaRPr lang="en-us" sz="2000" cap="none" dirty="0">
              <a:solidFill>
                <a:srgbClr val="000000"/>
              </a:solidFill>
            </a:endParaRPr>
          </a:p>
          <a:p>
            <a:pPr marL="215900" indent="0" defTabSz="914400">
              <a:lnSpc>
                <a:spcPct val="100000"/>
              </a:lnSpc>
              <a:buNone/>
              <a:tabLst>
                <a:tab pos="0" algn="l"/>
              </a:tabLst>
            </a:pPr>
            <a:r>
              <a:rPr lang="en-us" sz="2000" cap="none" dirty="0">
                <a:solidFill>
                  <a:srgbClr val="D1D5DB"/>
                </a:solidFill>
                <a:latin typeface="Söhne" charset="0"/>
                <a:ea typeface="DejaVu Sans" pitchFamily="1" charset="0"/>
                <a:cs typeface="DejaVu Sans" pitchFamily="1" charset="0"/>
              </a:rPr>
              <a:t>For example, the schema of the "employees" table, which includes columns such as "</a:t>
            </a:r>
            <a:r>
              <a:rPr lang="en-us" sz="2000" cap="none" dirty="0" err="1">
                <a:solidFill>
                  <a:srgbClr val="D1D5DB"/>
                </a:solidFill>
                <a:latin typeface="Söhne" charset="0"/>
                <a:ea typeface="DejaVu Sans" pitchFamily="1" charset="0"/>
                <a:cs typeface="DejaVu Sans" pitchFamily="1" charset="0"/>
              </a:rPr>
              <a:t>employee_id</a:t>
            </a:r>
            <a:r>
              <a:rPr lang="en-us" sz="2000" cap="none" dirty="0">
                <a:solidFill>
                  <a:srgbClr val="D1D5DB"/>
                </a:solidFill>
                <a:latin typeface="Söhne" charset="0"/>
                <a:ea typeface="DejaVu Sans" pitchFamily="1" charset="0"/>
                <a:cs typeface="DejaVu Sans" pitchFamily="1" charset="0"/>
              </a:rPr>
              <a:t>", "</a:t>
            </a:r>
            <a:r>
              <a:rPr lang="en-us" sz="2000" cap="none" dirty="0" err="1">
                <a:solidFill>
                  <a:srgbClr val="D1D5DB"/>
                </a:solidFill>
                <a:latin typeface="Söhne" charset="0"/>
                <a:ea typeface="DejaVu Sans" pitchFamily="1" charset="0"/>
                <a:cs typeface="DejaVu Sans" pitchFamily="1" charset="0"/>
              </a:rPr>
              <a:t>first_name</a:t>
            </a:r>
            <a:r>
              <a:rPr lang="en-us" sz="2000" cap="none" dirty="0">
                <a:solidFill>
                  <a:srgbClr val="D1D5DB"/>
                </a:solidFill>
                <a:latin typeface="Söhne" charset="0"/>
                <a:ea typeface="DejaVu Sans" pitchFamily="1" charset="0"/>
                <a:cs typeface="DejaVu Sans" pitchFamily="1" charset="0"/>
              </a:rPr>
              <a:t>", "</a:t>
            </a:r>
            <a:r>
              <a:rPr lang="en-us" sz="2000" cap="none" dirty="0" err="1">
                <a:solidFill>
                  <a:srgbClr val="D1D5DB"/>
                </a:solidFill>
                <a:latin typeface="Söhne" charset="0"/>
                <a:ea typeface="DejaVu Sans" pitchFamily="1" charset="0"/>
                <a:cs typeface="DejaVu Sans" pitchFamily="1" charset="0"/>
              </a:rPr>
              <a:t>last_name</a:t>
            </a:r>
            <a:r>
              <a:rPr lang="en-us" sz="2000" cap="none" dirty="0">
                <a:solidFill>
                  <a:srgbClr val="D1D5DB"/>
                </a:solidFill>
                <a:latin typeface="Söhne" charset="0"/>
                <a:ea typeface="DejaVu Sans" pitchFamily="1" charset="0"/>
                <a:cs typeface="DejaVu Sans" pitchFamily="1" charset="0"/>
              </a:rPr>
              <a:t>", "salary", and "</a:t>
            </a:r>
            <a:r>
              <a:rPr lang="en-us" sz="2000" cap="none" dirty="0" err="1">
                <a:solidFill>
                  <a:srgbClr val="D1D5DB"/>
                </a:solidFill>
                <a:latin typeface="Söhne" charset="0"/>
                <a:ea typeface="DejaVu Sans" pitchFamily="1" charset="0"/>
                <a:cs typeface="DejaVu Sans" pitchFamily="1" charset="0"/>
              </a:rPr>
              <a:t>job_title</a:t>
            </a:r>
            <a:r>
              <a:rPr lang="en-us" sz="2000" cap="none" dirty="0">
                <a:solidFill>
                  <a:srgbClr val="D1D5DB"/>
                </a:solidFill>
                <a:latin typeface="Söhne" charset="0"/>
                <a:ea typeface="DejaVu Sans" pitchFamily="1" charset="0"/>
                <a:cs typeface="DejaVu Sans" pitchFamily="1" charset="0"/>
              </a:rPr>
              <a:t>". </a:t>
            </a:r>
            <a:endParaRPr lang="en-us" sz="2000" cap="none" dirty="0">
              <a:solidFill>
                <a:srgbClr val="000000"/>
              </a:solidFill>
            </a:endParaRPr>
          </a:p>
          <a:p>
            <a:pPr marL="215900" indent="0" defTabSz="914400">
              <a:lnSpc>
                <a:spcPct val="100000"/>
              </a:lnSpc>
              <a:buNone/>
              <a:tabLst>
                <a:tab pos="0" algn="l"/>
              </a:tabLst>
            </a:pPr>
            <a:r>
              <a:rPr lang="en-us" sz="2000" cap="none" dirty="0">
                <a:solidFill>
                  <a:srgbClr val="D1D5DB"/>
                </a:solidFill>
                <a:latin typeface="Söhne" charset="0"/>
                <a:ea typeface="DejaVu Sans" pitchFamily="1" charset="0"/>
                <a:cs typeface="DejaVu Sans" pitchFamily="1" charset="0"/>
              </a:rPr>
              <a:t>It allows the database administrator (DBA) to make changes to the storage structure, indexing methods, or other physical implementation</a:t>
            </a:r>
          </a:p>
          <a:p>
            <a:pPr marL="215900" indent="0" defTabSz="914400">
              <a:lnSpc>
                <a:spcPct val="100000"/>
              </a:lnSpc>
              <a:buNone/>
              <a:tabLst>
                <a:tab pos="0" algn="l"/>
              </a:tabLst>
            </a:pPr>
            <a:endParaRPr lang="en-US" sz="2000" cap="none" dirty="0">
              <a:solidFill>
                <a:srgbClr val="D1D5DB"/>
              </a:solidFill>
              <a:latin typeface="Söhne" charset="0"/>
            </a:endParaRPr>
          </a:p>
          <a:p>
            <a:r>
              <a:rPr lang="en-GB" sz="2000" b="1" dirty="0"/>
              <a:t>Schema</a:t>
            </a:r>
            <a:r>
              <a:rPr lang="en-GB" sz="2000" dirty="0"/>
              <a:t> = Car </a:t>
            </a:r>
            <a:r>
              <a:rPr lang="en-GB" sz="2000" b="1" dirty="0"/>
              <a:t>design</a:t>
            </a:r>
            <a:r>
              <a:rPr lang="en-GB" sz="2000" dirty="0"/>
              <a:t> (model, engine type, number of seats)</a:t>
            </a:r>
          </a:p>
          <a:p>
            <a:r>
              <a:rPr lang="en-GB" sz="2000" b="1" dirty="0"/>
              <a:t>Instance</a:t>
            </a:r>
            <a:r>
              <a:rPr lang="en-GB" sz="2000" dirty="0"/>
              <a:t> = A specific </a:t>
            </a:r>
            <a:r>
              <a:rPr lang="en-GB" sz="2000" b="1" dirty="0"/>
              <a:t>car</a:t>
            </a:r>
            <a:r>
              <a:rPr lang="en-GB" sz="2000" dirty="0"/>
              <a:t> on the road, with a </a:t>
            </a:r>
            <a:r>
              <a:rPr lang="en-GB" sz="2000" dirty="0" err="1"/>
              <a:t>color</a:t>
            </a:r>
            <a:r>
              <a:rPr lang="en-GB" sz="2000" dirty="0"/>
              <a:t>, mileage, and driver.</a:t>
            </a:r>
          </a:p>
          <a:p>
            <a:pPr marL="215900" indent="0" defTabSz="914400">
              <a:lnSpc>
                <a:spcPct val="100000"/>
              </a:lnSpc>
              <a:buNone/>
              <a:tabLst>
                <a:tab pos="0" algn="l"/>
              </a:tabLst>
            </a:pPr>
            <a:endParaRPr lang="en-us" sz="2000" cap="none" dirty="0">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1B525729-67F6-07A1-B8EA-91F419A44EC4}" type="slidenum">
              <a:t>21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Select, insert, delete, update</a:t>
            </a:r>
          </a:p>
          <a:p>
            <a:pPr marL="215900" indent="0" defTabSz="914400">
              <a:lnSpc>
                <a:spcPct val="100000"/>
              </a:lnSpc>
              <a:buNone/>
              <a:tabLst>
                <a:tab pos="0" algn="l"/>
              </a:tabLst>
            </a:pPr>
            <a:endParaRPr lang="en-us" sz="2000"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73E8232C-629E-BDD5-D050-94806D1E26C1}" type="slidenum">
              <a:t>23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oh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U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Drop, alter, drop etc</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3FFACA1E-50D2-AF3C-9C42-A669840C6AF3}" type="slidenum">
              <a:t>24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Uses</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157E5678-36F8-2BA0-B6C6-C0F518884095}" type="slidenum">
              <a:t>29</a:t>
            </a:fld>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8F18F22-6CD5-A479-9B49-9A2CC1076DCF}"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FA841DB-95F2-FDB7-BC10-63E20F5E4A36}"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3D1513E-70CE-84A7-8069-86F21F2776D3}"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66005D2-9C8B-35F3-C5D8-6AA64B96333F}"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E2C1F86-C893-79E9-DD94-3EBC51DA2B6B}"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64C32E8-A6FB-19C4-B5F4-50917CBA4305}"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79730B1-FFCA-C2C6-842F-09937E61725C}"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1B0301E-50EC-E5C6-A208-A6937E4654F3}"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7D07A09-47BA-858C-F468-B1D9342602E4}"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374BEDF-91EE-2148-A0CC-671DF0825632}"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9340B7F-31C4-61FD-8A8C-C7A845C27C92}"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rm/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B8FF981-CFC6-DA0F-8837-395AB7797E6C}"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D24E35C-12A0-7115-EE9C-E440ADD218B1}"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A7E7D11-5FF7-2B8B-B9C6-A9DE33884FFC}"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9E91F0B-45C4-BCE9-8A51-B3BC511F7CE6}"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3F4EBF4-BA8E-A11D-C04C-4C48A5023619}"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7277E90-DE8A-7288-C49F-28DD30D1327D}"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CC8B539-77E1-9D43-AF70-8116FB3E59D4}"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D37A711-5FF0-6251-BE8F-A904E9C148FC}"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68865C6-88DB-DD93-9530-7EC62B7E632B}"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50C5164-2AD8-59A7-96B4-DCF21FFA6089}"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4D83B5E-10C9-8DCD-8760-E698752E71B3}"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55968F2-BCC8-0C9E-86E1-4ACB26AF701F}"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rm/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BDC4869-27E6-89BE-A864-D1EB062A5E84}"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3236A58-16BE-769C-F09B-E0C924D506B5}"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51B9A37-79B8-4E6C-F6A3-8F39D4ED00DA}"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ABFE1A7-E987-EA17-C907-1F42AF493F4A}"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39A0784-CABE-CFF1-F022-3CA4496C0669}"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82A60D6-9885-7F96-CB92-6EC32EDC3D3B}"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23BBE69-278F-6E48-C183-D11DF0CD3784}"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2B89629-67DF-ED60-9100-9135D84E67C4}"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B718075-3BA6-2476-E8C9-CD23CE871E98}"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911F259-17E4-4404-AAA9-E151BCE75CB4}"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052E7CD-839D-0711-D3EA-7544A9A42520}"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24B84C1-8FCF-1E72-81F3-7927CABD772C}"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032F465-2B9D-6702-D38A-DD57BAC42588}"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A963160-2ED7-C3C7-992E-D8927F606F8D}"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43D64DB-95D9-6892-9785-63C72ACB6136}"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B5B2076-38F6-0ED6-B8E3-CE836EAD4E9B}"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5ABF86A-24C8-FE0E-8613-D25BB65D7087}"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8EC471A-5495-B9B1-DB54-A2E4091A2DF7}"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9F5D24A-04C4-A024-8A4D-F2719C037CA7}"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09C2782-CCED-C9D1-A324-3A84696A556F}"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1439558-168C-1663-C2FB-E036DBB534B5}"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C748F09-47A1-2179-EFCC-B12CC18219E4}"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7495782-CCCA-1CA1-84F1-3AF419BF726F}"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E8618D4-9AC3-D3EE-8D3E-6CBB56707B39}"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rm/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A36649C-D2C7-6392-898E-24C72AC07F71}"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BAAAAAmAAAACAAAAAEAAAAAAAAA"/>
              </a:ext>
            </a:extLst>
          </p:cNvSpPr>
          <p:nvPr>
            <p:ph type="ctrTitle"/>
          </p:nvPr>
        </p:nvSpPr>
        <p:spPr>
          <a:xfrm>
            <a:off x="914400" y="2129790"/>
            <a:ext cx="10363200" cy="1470660"/>
          </a:xfrm>
        </p:spPr>
        <p:txBody>
          <a:bodyPr/>
          <a:lstStyle/>
          <a:p>
            <a:r>
              <a:t>Click to edit Master title style</a:t>
            </a:r>
          </a:p>
        </p:txBody>
      </p:sp>
      <p:sp>
        <p:nvSpPr>
          <p:cNvPr id="3" name="SlideSub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AEAAAAAAAAA"/>
              </a:ext>
            </a:extLst>
          </p:cNvSpPr>
          <p:nvPr>
            <p:ph type="subTitle" idx="1"/>
          </p:nvPr>
        </p:nvSpPr>
        <p:spPr>
          <a:xfrm>
            <a:off x="1828800" y="3886200"/>
            <a:ext cx="8534400" cy="1752600"/>
          </a:xfrm>
        </p:spPr>
        <p:txBody>
          <a:bodyPr/>
          <a:lstStyle/>
          <a:p>
            <a:r>
              <a:t>Click to edit Master subtitle style</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2318B8FC-B2CE-4D4E-80A0-441BF6EE7611}"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AAAAAAAAAAA"/>
              </a:ext>
            </a:extLst>
          </p:cNvSpPr>
          <p:nvPr>
            <p:ph idx="1"/>
          </p:nvPr>
        </p:nvSpPr>
        <p:spPr/>
        <p:txBody>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0F846EB6-F8E2-D198-AC3C-0ECD20725A5B}"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BwbAACtRQAAfSMAABAAAAAmAAAACAAAAL0QAAAAAAAA"/>
              </a:ext>
            </a:extLst>
          </p:cNvSpPr>
          <p:nvPr>
            <p:ph type="title"/>
          </p:nvPr>
        </p:nvSpPr>
        <p:spPr>
          <a:xfrm>
            <a:off x="963295" y="4406900"/>
            <a:ext cx="10363200" cy="1362075"/>
          </a:xfrm>
        </p:spPr>
        <p:txBody>
          <a:bodyPr vert="horz" wrap="square" lIns="0" tIns="0" rIns="0" bIns="0" numCol="1" spcCol="215900" anchor="t">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OERAACtRQAAHBsAABAAAAAmAAAACAAAAL0QAAAAAAAA"/>
              </a:ext>
            </a:extLst>
          </p:cNvSpPr>
          <p:nvPr>
            <p:ph idx="1"/>
          </p:nvPr>
        </p:nvSpPr>
        <p:spPr>
          <a:xfrm>
            <a:off x="963295" y="2906395"/>
            <a:ext cx="10363200" cy="1500505"/>
          </a:xfrm>
        </p:spPr>
        <p:txBody>
          <a:bodyPr vert="horz" wrap="square" lIns="0" tIns="0" rIns="0" bIns="0" numCol="1" spcCol="215900" anchor="b">
            <a:prstTxWarp prst="textNoShape">
              <a:avLst/>
            </a:prstTxWarp>
          </a:bodyPr>
          <a:lstStyle/>
          <a:p>
            <a:r>
              <a:t>Click to edit Master text styles</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031325C1-8FEE-46D3-A0AB-79866BE5562C}"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DhJAAAsCUAABAAAAAmAAAACAAAAAEAAAAAAAAA"/>
              </a:ext>
            </a:extLst>
          </p:cNvSpPr>
          <p:nvPr>
            <p:ph idx="1"/>
          </p:nvPr>
        </p:nvSpPr>
        <p:spPr>
          <a:xfrm>
            <a:off x="609600"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yYAANgJAABARwAAsCUAABAAAAAmAAAACAAAAAEAAAAAAAAA"/>
              </a:ext>
            </a:extLst>
          </p:cNvSpPr>
          <p:nvPr>
            <p:ph idx="2"/>
          </p:nvPr>
        </p:nvSpPr>
        <p:spPr>
          <a:xfrm>
            <a:off x="6196965"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6E63332F-6183-36C5-CDDB-97907D953BC2}"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Click to edit Master title style</a:t>
            </a:r>
          </a:p>
        </p:txBody>
      </p:sp>
      <p:sp>
        <p:nvSpPr>
          <p:cNvPr id="3" name="SlideText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HEJAADjJAAAYQ0AABAAAAAmAAAACAAAAL0QAAAAAAAA"/>
              </a:ext>
            </a:extLst>
          </p:cNvSpPr>
          <p:nvPr>
            <p:ph idx="1"/>
          </p:nvPr>
        </p:nvSpPr>
        <p:spPr>
          <a:xfrm>
            <a:off x="609600" y="1534795"/>
            <a:ext cx="5386705" cy="640080"/>
          </a:xfrm>
        </p:spPr>
        <p:txBody>
          <a:bodyPr vert="horz" wrap="square" lIns="0" tIns="0" rIns="0" bIns="0" numCol="1" spcCol="215900" anchor="b">
            <a:prstTxWarp prst="textNoShape">
              <a:avLst/>
            </a:prstTxWarp>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GENAADjJAAAsCUAABAAAAAmAAAACAAAAAEAAAAAAAAA"/>
              </a:ext>
            </a:extLst>
          </p:cNvSpPr>
          <p:nvPr>
            <p:ph idx="2"/>
          </p:nvPr>
        </p:nvSpPr>
        <p:spPr>
          <a:xfrm>
            <a:off x="609600"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HEJAABARwAAYQ0AABAAAAAmAAAACAAAAL0QAAAAAAAA"/>
              </a:ext>
            </a:extLst>
          </p:cNvSpPr>
          <p:nvPr>
            <p:ph idx="3"/>
          </p:nvPr>
        </p:nvSpPr>
        <p:spPr>
          <a:xfrm>
            <a:off x="6195695" y="1534795"/>
            <a:ext cx="5386705" cy="640080"/>
          </a:xfrm>
        </p:spPr>
        <p:txBody>
          <a:bodyPr vert="horz" wrap="square" lIns="0" tIns="0" rIns="0" bIns="0" numCol="1" spcCol="215900" anchor="b">
            <a:prstTxWarp prst="textNoShape">
              <a:avLst/>
            </a:prstTxWarp>
          </a:bodyPr>
          <a:lstStyle/>
          <a:p>
            <a:r>
              <a:t>Click to edit Master text styles</a:t>
            </a:r>
          </a:p>
        </p:txBody>
      </p:sp>
      <p:sp>
        <p:nvSpPr>
          <p:cNvPr id="6" name="SlideText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GENAABARwAAsCUAABAAAAAmAAAACAAAAAEAAAAAAAAA"/>
              </a:ext>
            </a:extLst>
          </p:cNvSpPr>
          <p:nvPr>
            <p:ph idx="4"/>
          </p:nvPr>
        </p:nvSpPr>
        <p:spPr>
          <a:xfrm>
            <a:off x="6195695"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8"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9"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g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2CAC189C-D2C1-F9EE-8F14-24BB565A7971}"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Click to edit Master title style</a:t>
            </a:r>
          </a:p>
        </p:txBody>
      </p:sp>
      <p:sp>
        <p:nvSpPr>
          <p:cNvPr id="3"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4"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5"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17C85EDC-92FA-9DA8-B470-64FD103E4231}"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3"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4"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04F09F8F-C1E9-A569-A748-373CD1065162}"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L0QAAAAAAAA"/>
              </a:ext>
            </a:extLst>
          </p:cNvSpPr>
          <p:nvPr>
            <p:ph type="title"/>
          </p:nvPr>
        </p:nvSpPr>
        <p:spPr>
          <a:xfrm>
            <a:off x="609600" y="273050"/>
            <a:ext cx="4011295" cy="1162050"/>
          </a:xfrm>
        </p:spPr>
        <p:txBody>
          <a:bodyPr vert="horz" wrap="square" lIns="0" tIns="0" rIns="0" bIns="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BAAAAAmAAAACAAAAAEAAAAAAAAA"/>
              </a:ext>
            </a:extLst>
          </p:cNvSpPr>
          <p:nvPr>
            <p:ph idx="1"/>
          </p:nvPr>
        </p:nvSpPr>
        <p:spPr>
          <a:xfrm>
            <a:off x="4766945" y="273050"/>
            <a:ext cx="6815455" cy="585343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EAAAAAAAAA"/>
              </a:ext>
            </a:extLst>
          </p:cNvSpPr>
          <p:nvPr>
            <p:ph idx="2"/>
          </p:nvPr>
        </p:nvSpPr>
        <p:spPr>
          <a:xfrm>
            <a:off x="609600" y="1435100"/>
            <a:ext cx="4011295" cy="46913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56D1C868-26BB-843E-F569-D06B86270385}"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IgdAACzOwAABCEAABAAAAAmAAAACAAAAL0QAAAAAAAA"/>
              </a:ext>
            </a:extLst>
          </p:cNvSpPr>
          <p:nvPr>
            <p:ph type="title"/>
          </p:nvPr>
        </p:nvSpPr>
        <p:spPr>
          <a:xfrm>
            <a:off x="2389505" y="4800600"/>
            <a:ext cx="7315200" cy="566420"/>
          </a:xfrm>
        </p:spPr>
        <p:txBody>
          <a:bodyPr vert="horz" wrap="square" lIns="0" tIns="0" rIns="0" bIns="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MYDAACzOwAAFh0AABAAAAAmAAAACAAAAAEAAAAAAAAA"/>
              </a:ext>
            </a:extLst>
          </p:cNvSpPr>
          <p:nvPr>
            <p:ph idx="1"/>
          </p:nvPr>
        </p:nvSpPr>
        <p:spPr>
          <a:xfrm>
            <a:off x="2389505" y="613410"/>
            <a:ext cx="7315200" cy="4114800"/>
          </a:xfrm>
        </p:spPr>
        <p:txBody>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AQhAACzOwAA+CUAABAAAAAmAAAACAAAAAEAAAAAAAAA"/>
              </a:ext>
            </a:extLst>
          </p:cNvSpPr>
          <p:nvPr>
            <p:ph idx="2"/>
          </p:nvPr>
        </p:nvSpPr>
        <p:spPr>
          <a:xfrm>
            <a:off x="2389505" y="5367020"/>
            <a:ext cx="7315200" cy="8051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2AD8978F-C1C7-8D61-8960-3734D92E7F62}"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4QAAAAAAAA"/>
              </a:ext>
            </a:extLst>
          </p:cNvSpPr>
          <p:nvPr>
            <p:ph idx="1"/>
          </p:nvPr>
        </p:nvSpPr>
        <p:spPr/>
        <p:txBody>
          <a:bodyPr vert="vert" wrap="square" lIns="0" tIns="0" rIns="0" bIns="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2D90CE08-46C0-C538-8E28-B06D806678E5}"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DYAALABAABARwAAsCUAABAAAAAmAAAACAAAAL8QAAAAAAAA"/>
              </a:ext>
            </a:extLst>
          </p:cNvSpPr>
          <p:nvPr>
            <p:ph type="title"/>
          </p:nvPr>
        </p:nvSpPr>
        <p:spPr>
          <a:xfrm>
            <a:off x="8839200" y="274320"/>
            <a:ext cx="2743200" cy="5852160"/>
          </a:xfrm>
        </p:spPr>
        <p:txBody>
          <a:bodyPr vert="vert" wrap="square" lIns="0" tIns="0" rIns="0" bIns="0" numCol="1" spcCol="215900" anchor="b">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AfNQAAsCUAABAAAAAmAAAACAAAAD8QAAAAAAAA"/>
              </a:ext>
            </a:extLst>
          </p:cNvSpPr>
          <p:nvPr>
            <p:ph idx="1"/>
          </p:nvPr>
        </p:nvSpPr>
        <p:spPr>
          <a:xfrm>
            <a:off x="609600" y="274320"/>
            <a:ext cx="8025765" cy="5852160"/>
          </a:xfrm>
        </p:spPr>
        <p:txBody>
          <a:bodyPr vert="vert" wrap="square" lIns="0" tIns="0" rIns="0" bIns="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sz="quarter" idx="10"/>
          </p:nvPr>
        </p:nvSpPr>
        <p:spPr/>
        <p:txBody>
          <a:bodyPr/>
          <a:lstStyle/>
          <a:p>
            <a:r>
              <a:t>&lt;date/time&gt;</a:t>
            </a: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sz="quarter" idx="11"/>
          </p:nvPr>
        </p:nvSpPr>
        <p:spPr/>
        <p:txBody>
          <a:bodyPr/>
          <a:lstStyle/>
          <a:p>
            <a:r>
              <a:t>&lt;footer&gt;</a:t>
            </a: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o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sz="quarter" idx="12"/>
          </p:nvPr>
        </p:nvSpPr>
        <p:spPr/>
        <p:txBody>
          <a:bodyPr/>
          <a:lstStyle/>
          <a:p>
            <a:fld id="{7987B8BF-F194-D24E-DA3F-071BF6712C52}" type="slidenum">
              <a:t>‹#›</a:t>
            </a:fld>
            <a:endParaRPr cap="none">
              <a:solidFill>
                <a:srgbClr val="000000"/>
              </a:solidFill>
              <a:latin typeface="Times New Roman" pitchFamily="1" charset="0"/>
              <a:ea typeface="Basic Sans" pitchFamily="1" charset="0"/>
              <a:cs typeface="Basic Sans" pitchFamily="1" charset="0"/>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5384974C-02BE-D161-F03C-F434D97206A1}"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0325104B-05EE-70E6-A09D-F3B35ED356A6}"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5D9DF893-DDB0-C80E-FE25-2B5BB66B087E}"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3298E669-27DF-CD10-9120-D145A86E6784}"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8EB"/>
              </a:ext>
            </a:extLst>
          </p:cNvSpPr>
          <p:nvPr>
            <p:ph type="ftr" idx="3"/>
          </p:nvPr>
        </p:nvSpPr>
        <p:spPr>
          <a:xfrm>
            <a:off x="4038600" y="6356350"/>
            <a:ext cx="4113530" cy="363855"/>
          </a:xfrm>
          <a:prstGeom prst="rect">
            <a:avLst/>
          </a:prstGeom>
          <a:noFill/>
          <a:ln>
            <a:noFill/>
          </a:ln>
          <a:effectLst/>
        </p:spPr>
        <p:txBody>
          <a:bodyPr vert="horz" wrap="square" lIns="91440" tIns="45720" rIns="91440" bIns="45720" numCol="1" spcCol="215900" anchor="ctr">
            <a:prstTxWarp prst="textNoShape">
              <a:avLst/>
            </a:prstTxWarp>
          </a:bodyPr>
          <a:lstStyle>
            <a:lvl1pPr algn="ctr" defTabSz="914400">
              <a:tabLst>
                <a:tab pos="0" algn="l"/>
              </a:tabLst>
              <a:defRPr sz="1400" cap="none">
                <a:solidFill>
                  <a:srgbClr val="000000"/>
                </a:solidFill>
                <a:latin typeface="Times New Roman" pitchFamily="1" charset="0"/>
                <a:ea typeface="Basic Sans" pitchFamily="1" charset="0"/>
                <a:cs typeface="Basic Sans" pitchFamily="1" charset="0"/>
              </a:defRPr>
            </a:lvl1pPr>
          </a:lstStyle>
          <a:p>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8EB"/>
              </a:ext>
            </a:extLst>
          </p:cNvSpPr>
          <p:nvPr>
            <p:ph type="sldNum" idx="4"/>
          </p:nvPr>
        </p:nvSpPr>
        <p:spPr>
          <a:xfrm>
            <a:off x="8610600" y="6356350"/>
            <a:ext cx="2741930" cy="363855"/>
          </a:xfrm>
          <a:prstGeom prst="rect">
            <a:avLst/>
          </a:prstGeom>
          <a:noFill/>
          <a:ln>
            <a:noFill/>
          </a:ln>
          <a:effectLst/>
        </p:spPr>
        <p:txBody>
          <a:bodyPr vert="horz" wrap="square" lIns="91440" tIns="45720" rIns="91440" bIns="45720" numCol="1" spcCol="215900" anchor="ctr">
            <a:prstTxWarp prst="textNoShape">
              <a:avLst/>
            </a:prstTxWarp>
          </a:bodyPr>
          <a:lstStyle>
            <a:lvl1pPr algn="r" defTabSz="914400">
              <a:tabLst>
                <a:tab pos="0" algn="l"/>
              </a:tabLst>
              <a:defRPr sz="1200" cap="none">
                <a:solidFill>
                  <a:srgbClr val="8B8B8B"/>
                </a:solidFill>
                <a:latin typeface="Calibri" pitchFamily="2" charset="0"/>
                <a:ea typeface="Basic Sans" pitchFamily="1" charset="0"/>
                <a:cs typeface="Basic Sans" pitchFamily="1" charset="0"/>
              </a:defRPr>
            </a:lvl1pPr>
          </a:lstStyle>
          <a:p>
            <a:fld id="{1D4F8B16-58F0-1A7D-BEF7-AE28C5B948FB}" type="slidenum">
              <a:t>‹#›</a:t>
            </a:fld>
            <a:endParaRPr cap="none">
              <a:solidFill>
                <a:srgbClr val="000000"/>
              </a:solidFill>
              <a:latin typeface="Times New Roman" pitchFamily="1" charset="0"/>
              <a:ea typeface="Basic Sans" pitchFamily="1" charset="0"/>
              <a:cs typeface="Basic Sans"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8EB"/>
              </a:ext>
            </a:extLst>
          </p:cNvSpPr>
          <p:nvPr>
            <p:ph type="dt" idx="2"/>
          </p:nvPr>
        </p:nvSpPr>
        <p:spPr>
          <a:xfrm>
            <a:off x="838200" y="6356350"/>
            <a:ext cx="2741930" cy="363855"/>
          </a:xfrm>
          <a:prstGeom prst="rect">
            <a:avLst/>
          </a:prstGeom>
          <a:noFill/>
          <a:ln>
            <a:noFill/>
          </a:ln>
          <a:effectLst/>
        </p:spPr>
        <p:txBody>
          <a:bodyPr vert="horz" wrap="square" lIns="91440" tIns="45720" rIns="91440" bIns="45720" numCol="1" spcCol="215900" anchor="ctr">
            <a:prstTxWarp prst="textNoShape">
              <a:avLst/>
            </a:prstTxWarp>
          </a:bodyPr>
          <a:lstStyle>
            <a:lvl1pPr>
              <a:defRPr sz="1400" cap="none">
                <a:solidFill>
                  <a:srgbClr val="000000"/>
                </a:solidFill>
                <a:latin typeface="Times New Roman" pitchFamily="1" charset="0"/>
                <a:ea typeface="Basic Sans" pitchFamily="1" charset="0"/>
                <a:cs typeface="Basic Sans" pitchFamily="1" charset="0"/>
              </a:defRPr>
            </a:lvl1pPr>
          </a:lstStyle>
          <a:p>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8EB"/>
              </a:ext>
            </a:extLst>
          </p:cNvSpPr>
          <p:nvPr>
            <p:ph type="title"/>
          </p:nvPr>
        </p:nvSpPr>
        <p:spPr>
          <a:xfrm>
            <a:off x="609600" y="273685"/>
            <a:ext cx="10972165" cy="1144905"/>
          </a:xfrm>
          <a:prstGeom prst="rect">
            <a:avLst/>
          </a:prstGeom>
          <a:noFill/>
          <a:ln>
            <a:noFill/>
          </a:ln>
          <a:effectLst/>
        </p:spPr>
        <p:txBody>
          <a:bodyPr vert="horz" wrap="square" lIns="0" tIns="0" rIns="0" bIns="0" numCol="1" spcCol="215900" anchor="ctr">
            <a:prstTxWarp prst="textNoShape">
              <a:avLst/>
            </a:prstTxWarp>
          </a:bodyPr>
          <a:lstStyle/>
          <a:p>
            <a:pPr indent="0" algn="ctr">
              <a:buNone/>
            </a:pPr>
            <a:r>
              <a:rPr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8EB"/>
              </a:ext>
            </a:extLst>
          </p:cNvSpPr>
          <p:nvPr>
            <p:ph type="body"/>
          </p:nvPr>
        </p:nvSpPr>
        <p:spPr>
          <a:xfrm>
            <a:off x="609600" y="1604645"/>
            <a:ext cx="10972165" cy="3977005"/>
          </a:xfrm>
          <a:prstGeom prst="rect">
            <a:avLst/>
          </a:prstGeom>
          <a:noFill/>
          <a:ln>
            <a:noFill/>
          </a:ln>
          <a:effectLst/>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cap="none">
                <a:solidFill>
                  <a:srgbClr val="000000"/>
                </a:solidFill>
              </a:rPr>
              <a:t>Click to edit the outline text format</a:t>
            </a:r>
          </a:p>
          <a:p>
            <a:pPr marL="864235" lvl="1" indent="-323850">
              <a:spcBef>
                <a:spcPts val="1130"/>
              </a:spcBef>
              <a:buClrTx/>
              <a:buSzPts val="2100"/>
              <a:buFont typeface="Symbol" pitchFamily="1" charset="0"/>
              <a:buChar char=""/>
            </a:pPr>
            <a:r>
              <a:rPr cap="none">
                <a:solidFill>
                  <a:srgbClr val="000000"/>
                </a:solidFill>
              </a:rPr>
              <a:t>Second Outline Level</a:t>
            </a:r>
          </a:p>
          <a:p>
            <a:pPr marL="1296035" lvl="2" indent="-288290">
              <a:spcBef>
                <a:spcPts val="850"/>
              </a:spcBef>
              <a:buClrTx/>
              <a:buSzPts val="1080"/>
              <a:buFont typeface="Wingdings" charset="0"/>
              <a:buChar char=""/>
            </a:pPr>
            <a:r>
              <a:rPr cap="none">
                <a:solidFill>
                  <a:srgbClr val="000000"/>
                </a:solidFill>
              </a:rPr>
              <a:t>Third Outline Level</a:t>
            </a:r>
          </a:p>
          <a:p>
            <a:pPr marL="1727835" lvl="3" indent="-215900">
              <a:spcBef>
                <a:spcPts val="565"/>
              </a:spcBef>
              <a:buClrTx/>
              <a:buSzPts val="1500"/>
              <a:buFont typeface="Symbol" pitchFamily="1" charset="0"/>
              <a:buChar char=""/>
            </a:pPr>
            <a:r>
              <a:rPr cap="none">
                <a:solidFill>
                  <a:srgbClr val="000000"/>
                </a:solidFill>
              </a:rPr>
              <a:t>Fourth Outline Level</a:t>
            </a:r>
          </a:p>
          <a:p>
            <a:pPr marL="2160270" lvl="4" indent="-215900">
              <a:spcBef>
                <a:spcPts val="280"/>
              </a:spcBef>
              <a:buClrTx/>
              <a:buSzPts val="900"/>
              <a:buFont typeface="Wingdings" charset="0"/>
              <a:buChar char=""/>
            </a:pPr>
            <a:r>
              <a:rPr cap="none">
                <a:solidFill>
                  <a:srgbClr val="000000"/>
                </a:solidFill>
              </a:rPr>
              <a:t>Fifth Outline Level</a:t>
            </a:r>
          </a:p>
          <a:p>
            <a:pPr marL="2592070" lvl="5" indent="-215900">
              <a:spcBef>
                <a:spcPts val="280"/>
              </a:spcBef>
              <a:buClrTx/>
              <a:buSzPts val="900"/>
              <a:buFont typeface="Wingdings" charset="0"/>
              <a:buChar char=""/>
            </a:pPr>
            <a:r>
              <a:rPr cap="none">
                <a:solidFill>
                  <a:srgbClr val="000000"/>
                </a:solidFill>
              </a:rPr>
              <a:t>Sixth Outline Level</a:t>
            </a:r>
          </a:p>
          <a:p>
            <a:pPr marL="3023870" lvl="6" indent="-215900">
              <a:spcBef>
                <a:spcPts val="280"/>
              </a:spcBef>
              <a:buClrTx/>
              <a:buSzPts val="900"/>
              <a:buFont typeface="Wingdings" charset="0"/>
              <a:buChar char=""/>
            </a:pPr>
            <a:r>
              <a:rPr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Sans" pitchFamily="1" charset="0"/>
          <a:cs typeface="Basic Sans"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Sans" pitchFamily="1" charset="0"/>
          <a:cs typeface="Basic Sans"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Sans" pitchFamily="1" charset="0"/>
          <a:cs typeface="Basic Sans"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Sans" pitchFamily="1" charset="0"/>
          <a:cs typeface="Basic Sans"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Sans" pitchFamily="1" charset="0"/>
          <a:cs typeface="Basic Sans"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Sans" pitchFamily="1" charset="0"/>
          <a:cs typeface="Basic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Sans" pitchFamily="1" charset="0"/>
          <a:cs typeface="Basic Sans"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Sans" pitchFamily="1" charset="0"/>
          <a:cs typeface="Basic Sans"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Sans" pitchFamily="1" charset="0"/>
          <a:cs typeface="Basic Sans"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Sans" pitchFamily="1" charset="0"/>
          <a:cs typeface="Basic Sans"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Sans" pitchFamily="1" charset="0"/>
          <a:cs typeface="Basic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OgGAACeQQAAlRUAABAAAAAmAAAACAAAAL2QAAD/HwAA"/>
              </a:ext>
            </a:extLst>
          </p:cNvSpPr>
          <p:nvPr>
            <p:ph type="title"/>
          </p:nvPr>
        </p:nvSpPr>
        <p:spPr>
          <a:xfrm>
            <a:off x="1524000" y="1122680"/>
            <a:ext cx="9142730" cy="2385695"/>
          </a:xfrm>
          <a:noFill/>
          <a:ln>
            <a:noFill/>
          </a:ln>
        </p:spPr>
        <p:txBody>
          <a:bodyPr vert="horz" wrap="square" lIns="0" tIns="0" rIns="0" bIns="0" numCol="1" spcCol="215900" anchor="b">
            <a:prstTxWarp prst="textNoShape">
              <a:avLst/>
            </a:prstTxWarp>
          </a:bodyPr>
          <a:lstStyle/>
          <a:p>
            <a:pPr indent="0" algn="ctr" defTabSz="914400">
              <a:lnSpc>
                <a:spcPct val="90000"/>
              </a:lnSpc>
              <a:buNone/>
              <a:tabLst>
                <a:tab pos="0" algn="l"/>
              </a:tabLst>
            </a:pPr>
            <a:r>
              <a:rPr lang="en-us" sz="6000" cap="none">
                <a:solidFill>
                  <a:srgbClr val="000000"/>
                </a:solidFill>
                <a:latin typeface="Calibri Light" charset="0"/>
                <a:ea typeface="Basic Roman" pitchFamily="1" charset="0"/>
                <a:cs typeface="Basic Roman" pitchFamily="1" charset="0"/>
              </a:rPr>
              <a:t>Database Management System</a:t>
            </a:r>
            <a:endParaRPr lang="en-us" sz="6000"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CkWAACeQQAAViAAABAAAAAmAAAACAAAAD2RAAD/HwAA"/>
              </a:ext>
            </a:extLst>
          </p:cNvSpPr>
          <p:nvPr>
            <p:ph type="subTitle"/>
          </p:nvPr>
        </p:nvSpPr>
        <p:spPr>
          <a:xfrm>
            <a:off x="1524000" y="3602355"/>
            <a:ext cx="9142730" cy="1654175"/>
          </a:xfrm>
          <a:prstGeom prst="rect">
            <a:avLst/>
          </a:prstGeom>
          <a:noFill/>
          <a:ln>
            <a:noFill/>
          </a:ln>
        </p:spPr>
        <p:txBody>
          <a:bodyPr vert="horz" wrap="square" lIns="91440" tIns="45720" rIns="91440" bIns="45720" numCol="1" spcCol="215900" anchor="t">
            <a:prstTxWarp prst="textNoShape">
              <a:avLst/>
            </a:prstTxWarp>
          </a:bodyPr>
          <a:lstStyle/>
          <a:p>
            <a:pPr indent="0" algn="ctr" defTabSz="914400">
              <a:lnSpc>
                <a:spcPct val="90000"/>
              </a:lnSpc>
              <a:spcBef>
                <a:spcPts val="1000"/>
              </a:spcBef>
              <a:buNone/>
              <a:tabLst>
                <a:tab pos="0" algn="l"/>
              </a:tabLst>
            </a:pPr>
            <a:r>
              <a:rPr lang="en-us" sz="2400" cap="none">
                <a:solidFill>
                  <a:srgbClr val="000000"/>
                </a:solidFill>
                <a:latin typeface="Calibri" pitchFamily="2" charset="0"/>
                <a:ea typeface="DejaVu Sans" pitchFamily="1" charset="0"/>
                <a:cs typeface="DejaVu Sans" pitchFamily="1" charset="0"/>
              </a:rPr>
              <a:t>(DBMS)</a:t>
            </a:r>
            <a:endParaRPr lang="en-us" sz="2400" cap="non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Introduction (Unit-1)</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A database is an organized collection of structured or unstructured data that can be accessed, managed, and updated by a computer system.</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Data refers to a collection of facts, observations, measurements, or other information that can be processed or analyzed to gain insights, draw conclusions, or make decisions. Data can be in various forms, including numbers, text, images, audio, video, or other formats.</a:t>
            </a:r>
            <a:endParaRPr lang="en-us" sz="2400" cap="none">
              <a:solidFill>
                <a:srgbClr val="000000"/>
              </a:solidFill>
            </a:endParaRPr>
          </a:p>
        </p:txBody>
      </p:sp>
      <p:pic>
        <p:nvPicPr>
          <p:cNvPr id="4" name="Picture 2" descr="What is an Open Source Database? Definition &amp; FAQs | HEAVY.AI"/>
          <p:cNvPicPr>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QZxEP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QtAACuFgAAX0gAAO8nAAAQAAAAJgAAAAgAAAD//////////w=="/>
              </a:ext>
            </a:extLst>
          </p:cNvPicPr>
          <p:nvPr/>
        </p:nvPicPr>
        <p:blipFill>
          <a:blip r:embed="rId3"/>
          <a:stretch>
            <a:fillRect/>
          </a:stretch>
        </p:blipFill>
        <p:spPr>
          <a:xfrm>
            <a:off x="7470140" y="3686810"/>
            <a:ext cx="4294505" cy="2804795"/>
          </a:xfrm>
          <a:prstGeom prst="rect">
            <a:avLst/>
          </a:prstGeom>
          <a:noFill/>
          <a:ln>
            <a:noFill/>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MQGAADiAAAAtToAANYnAAAQAAAAJgAAAAgAAAD//////////w=="/>
              </a:ext>
            </a:extLst>
          </p:cNvPicPr>
          <p:nvPr/>
        </p:nvPicPr>
        <p:blipFill>
          <a:blip r:embed="rId2"/>
          <a:stretch>
            <a:fillRect/>
          </a:stretch>
        </p:blipFill>
        <p:spPr>
          <a:xfrm>
            <a:off x="1099820" y="143510"/>
            <a:ext cx="8443595" cy="6332220"/>
          </a:xfrm>
          <a:prstGeom prst="rect">
            <a:avLst/>
          </a:prstGeom>
          <a:noFill/>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M9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HgkAABAAAAAmAAAACAAAAL2QAAD/HwAA"/>
              </a:ext>
            </a:extLst>
          </p:cNvSpPr>
          <p:nvPr>
            <p:ph type="title"/>
          </p:nvPr>
        </p:nvSpPr>
        <p:spPr>
          <a:xfrm>
            <a:off x="838200" y="365125"/>
            <a:ext cx="10514330" cy="111696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What is Database Management system ?</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oh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A database-management system (DBMS) is a collection of interrelated data and a set of programs to access those data.</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The primary goal of a DBMS is to provide a way to store and retrieve database information that is both convenient and efficient.</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Database systems are designed to manage large bodies of information.</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Management of data involves both defining structures for storage of information and providing mechanisms for the manipulation of information.</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The database system must ensure the safety of the information stored, despite system crashes or attempts at unauthorized access.</a:t>
            </a:r>
            <a:endParaRPr lang="en-us" sz="2745" cap="none">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Why we need DBMS ?</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Controlling Redundancy</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Restricting Unauthorized Access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Providing Storage Structures and Search Techniques for Efficient Query Processing</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Providing Backup and Recovery</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Providing Multiple User Interfaces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Representing Complex Relationships among Data</a:t>
            </a:r>
            <a:endParaRPr lang="en-us" sz="2800" cap="none">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8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DBMS application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Enterprise Information</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Manufacturing</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Banking and Finance</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Universities</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Airlines</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Telecommunication</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Web-based services</a:t>
            </a:r>
            <a:endParaRPr lang="en-us" sz="2800" cap="none">
              <a:solidFill>
                <a:srgbClr val="000000"/>
              </a:solidFill>
            </a:endParaRPr>
          </a:p>
          <a:p>
            <a:pPr marL="514350" indent="-514350">
              <a:lnSpc>
                <a:spcPct val="90000"/>
              </a:lnSpc>
              <a:spcBef>
                <a:spcPts val="1000"/>
              </a:spcBef>
              <a:buClrTx/>
              <a:buFont typeface="Calibri Light" charset="0"/>
              <a:buAutoNum type="arabicPeriod"/>
            </a:pPr>
            <a:r>
              <a:rPr lang="en-us" sz="2800" cap="none">
                <a:solidFill>
                  <a:srgbClr val="000000"/>
                </a:solidFill>
                <a:latin typeface="Calibri" pitchFamily="2" charset="0"/>
                <a:ea typeface="DejaVu Sans" pitchFamily="1" charset="0"/>
                <a:cs typeface="DejaVu Sans" pitchFamily="1" charset="0"/>
              </a:rPr>
              <a:t>Navigation systems</a:t>
            </a:r>
            <a:endParaRPr lang="en-us" sz="2800" cap="none">
              <a:solidFill>
                <a:srgbClr val="000000"/>
              </a:solidFill>
            </a:endParaRPr>
          </a:p>
        </p:txBody>
      </p:sp>
      <p:pic>
        <p:nvPicPr>
          <p:cNvPr id="4" name="Picture 2" descr="Database Applications - javatpoint"/>
          <p:cNvPicPr>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EAGc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EkdAABXCQAAMEkAAJgpAAAQAAAAJgAAAAgAAAD//////////w=="/>
              </a:ext>
            </a:extLst>
          </p:cNvPicPr>
          <p:nvPr/>
        </p:nvPicPr>
        <p:blipFill>
          <a:blip r:embed="rId3"/>
          <a:stretch>
            <a:fillRect/>
          </a:stretch>
        </p:blipFill>
        <p:spPr>
          <a:xfrm>
            <a:off x="4760595" y="1518285"/>
            <a:ext cx="7136765" cy="5243195"/>
          </a:xfrm>
          <a:prstGeom prst="rect">
            <a:avLst/>
          </a:prstGeom>
          <a:noFill/>
          <a:ln>
            <a:noFill/>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c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Purpose of Database system</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o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Avoid data redundancy and inconsistency:</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Difficulty in accessing data:</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Data isolation:</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Integrity problems: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Atomicity of updates: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Concurrent access: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Security problems: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Supports multiple views of data:</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4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Purpose of Database system</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7965" indent="-227965">
              <a:lnSpc>
                <a:spcPct val="90000"/>
              </a:lnSpc>
              <a:spcBef>
                <a:spcPts val="810"/>
              </a:spcBef>
              <a:buClrTx/>
              <a:buFont typeface="Arial" pitchFamily="2" charset="0"/>
              <a:buChar char="•"/>
              <a:defRPr sz="1460" cap="none"/>
            </a:pPr>
            <a:r>
              <a:rPr lang="en-us" sz="2270" cap="none">
                <a:solidFill>
                  <a:srgbClr val="000000"/>
                </a:solidFill>
                <a:latin typeface="Calibri" pitchFamily="2" charset="0"/>
                <a:ea typeface="DejaVu Sans" pitchFamily="1" charset="0"/>
                <a:cs typeface="DejaVu Sans" pitchFamily="1" charset="0"/>
              </a:rPr>
              <a:t>Data redundancy and inconsistency</a:t>
            </a:r>
            <a:endParaRPr lang="en-us" sz="2270" cap="none">
              <a:solidFill>
                <a:srgbClr val="000000"/>
              </a:solidFill>
            </a:endParaRPr>
          </a:p>
          <a:p>
            <a:pPr marL="684530" lvl="1" indent="-227965">
              <a:lnSpc>
                <a:spcPct val="90000"/>
              </a:lnSpc>
              <a:spcBef>
                <a:spcPts val="400"/>
              </a:spcBef>
              <a:buClrTx/>
              <a:buFont typeface="Arial" pitchFamily="2" charset="0"/>
              <a:buChar char="•"/>
              <a:defRPr sz="1460" cap="none"/>
            </a:pPr>
            <a:r>
              <a:rPr lang="en-us" sz="1945" cap="none">
                <a:solidFill>
                  <a:srgbClr val="000000"/>
                </a:solidFill>
                <a:latin typeface="Calibri" pitchFamily="2" charset="0"/>
                <a:ea typeface="DejaVu Sans" pitchFamily="1" charset="0"/>
                <a:cs typeface="DejaVu Sans" pitchFamily="1" charset="0"/>
              </a:rPr>
              <a:t>Data redundancy refers to the duplication of data within a database system. Data inconsistency, refers to a situation where data values in a database are not consistent with each other.</a:t>
            </a:r>
            <a:endParaRPr lang="en-us" sz="1945" cap="none">
              <a:solidFill>
                <a:srgbClr val="000000"/>
              </a:solidFill>
            </a:endParaRPr>
          </a:p>
          <a:p>
            <a:pPr marL="227965" indent="-227965">
              <a:lnSpc>
                <a:spcPct val="90000"/>
              </a:lnSpc>
              <a:spcBef>
                <a:spcPts val="810"/>
              </a:spcBef>
              <a:buClrTx/>
              <a:buFont typeface="Arial" pitchFamily="2" charset="0"/>
              <a:buChar char="•"/>
              <a:defRPr sz="1460" cap="none"/>
            </a:pPr>
            <a:r>
              <a:rPr lang="en-us" sz="2270" cap="none">
                <a:solidFill>
                  <a:srgbClr val="000000"/>
                </a:solidFill>
                <a:latin typeface="Calibri" pitchFamily="2" charset="0"/>
                <a:ea typeface="DejaVu Sans" pitchFamily="1" charset="0"/>
                <a:cs typeface="DejaVu Sans" pitchFamily="1" charset="0"/>
              </a:rPr>
              <a:t>Difficulty in accessing data</a:t>
            </a:r>
            <a:endParaRPr lang="en-us" sz="2270" cap="none">
              <a:solidFill>
                <a:srgbClr val="000000"/>
              </a:solidFill>
            </a:endParaRPr>
          </a:p>
          <a:p>
            <a:pPr marL="684530" lvl="1" indent="-227965">
              <a:lnSpc>
                <a:spcPct val="90000"/>
              </a:lnSpc>
              <a:spcBef>
                <a:spcPts val="400"/>
              </a:spcBef>
              <a:buClrTx/>
              <a:buFont typeface="Arial" pitchFamily="2" charset="0"/>
              <a:buChar char="•"/>
              <a:defRPr sz="1460" cap="none"/>
            </a:pPr>
            <a:r>
              <a:rPr lang="en-us" sz="1945" cap="none">
                <a:solidFill>
                  <a:srgbClr val="000000"/>
                </a:solidFill>
                <a:latin typeface="Calibri" pitchFamily="2" charset="0"/>
                <a:ea typeface="DejaVu Sans" pitchFamily="1" charset="0"/>
                <a:cs typeface="DejaVu Sans" pitchFamily="1" charset="0"/>
              </a:rPr>
              <a:t>Difficulty in accessing data refers to situations where users or applications are unable to retrieve or use data stored in a database system</a:t>
            </a:r>
            <a:endParaRPr lang="en-us" sz="1945" cap="none">
              <a:solidFill>
                <a:srgbClr val="000000"/>
              </a:solidFill>
            </a:endParaRPr>
          </a:p>
          <a:p>
            <a:pPr marL="227965" indent="-227965">
              <a:lnSpc>
                <a:spcPct val="90000"/>
              </a:lnSpc>
              <a:spcBef>
                <a:spcPts val="810"/>
              </a:spcBef>
              <a:buClrTx/>
              <a:buFont typeface="Arial" pitchFamily="2" charset="0"/>
              <a:buChar char="•"/>
              <a:defRPr sz="1460" cap="none"/>
            </a:pPr>
            <a:r>
              <a:rPr lang="en-us" sz="2270" cap="none">
                <a:solidFill>
                  <a:srgbClr val="000000"/>
                </a:solidFill>
                <a:latin typeface="Calibri" pitchFamily="2" charset="0"/>
                <a:ea typeface="DejaVu Sans" pitchFamily="1" charset="0"/>
                <a:cs typeface="DejaVu Sans" pitchFamily="1" charset="0"/>
              </a:rPr>
              <a:t>Data isolation:</a:t>
            </a:r>
            <a:endParaRPr lang="en-us" sz="2270" cap="none">
              <a:solidFill>
                <a:srgbClr val="000000"/>
              </a:solidFill>
            </a:endParaRPr>
          </a:p>
          <a:p>
            <a:pPr marL="684530" lvl="1" indent="-227965">
              <a:lnSpc>
                <a:spcPct val="90000"/>
              </a:lnSpc>
              <a:spcBef>
                <a:spcPts val="400"/>
              </a:spcBef>
              <a:buClrTx/>
              <a:buFont typeface="Arial" pitchFamily="2" charset="0"/>
              <a:buChar char="•"/>
              <a:defRPr sz="1460" cap="none"/>
            </a:pPr>
            <a:r>
              <a:rPr lang="en-us" sz="1945" cap="none">
                <a:solidFill>
                  <a:srgbClr val="000000"/>
                </a:solidFill>
                <a:latin typeface="Calibri" pitchFamily="2" charset="0"/>
                <a:ea typeface="DejaVu Sans" pitchFamily="1" charset="0"/>
                <a:cs typeface="DejaVu Sans" pitchFamily="1" charset="0"/>
              </a:rPr>
              <a:t>Data isolation is a property of database systems that ensures that one transaction does not interfere with another transaction and also different data (formats) from different places (location) is causes hard to retrieve an appropriate data.</a:t>
            </a:r>
            <a:endParaRPr lang="en-us" sz="1945" cap="none">
              <a:solidFill>
                <a:srgbClr val="000000"/>
              </a:solidFill>
            </a:endParaRPr>
          </a:p>
          <a:p>
            <a:pPr marL="227965" indent="-227965">
              <a:lnSpc>
                <a:spcPct val="90000"/>
              </a:lnSpc>
              <a:spcBef>
                <a:spcPts val="810"/>
              </a:spcBef>
              <a:buClrTx/>
              <a:buFont typeface="Arial" pitchFamily="2" charset="0"/>
              <a:buChar char="•"/>
              <a:defRPr sz="1460" cap="none"/>
            </a:pPr>
            <a:r>
              <a:rPr lang="en-us" sz="2270" cap="none">
                <a:solidFill>
                  <a:srgbClr val="000000"/>
                </a:solidFill>
                <a:latin typeface="Calibri" pitchFamily="2" charset="0"/>
                <a:ea typeface="DejaVu Sans" pitchFamily="1" charset="0"/>
                <a:cs typeface="DejaVu Sans" pitchFamily="1" charset="0"/>
              </a:rPr>
              <a:t>Atomicity of updates:</a:t>
            </a:r>
            <a:endParaRPr lang="en-us" sz="2270" cap="none">
              <a:solidFill>
                <a:srgbClr val="000000"/>
              </a:solidFill>
            </a:endParaRPr>
          </a:p>
          <a:p>
            <a:pPr marL="684530" lvl="1" indent="-227965">
              <a:lnSpc>
                <a:spcPct val="90000"/>
              </a:lnSpc>
              <a:spcBef>
                <a:spcPts val="400"/>
              </a:spcBef>
              <a:buClrTx/>
              <a:buFont typeface="Arial" pitchFamily="2" charset="0"/>
              <a:buChar char="•"/>
              <a:defRPr sz="1460" cap="none"/>
            </a:pPr>
            <a:r>
              <a:rPr lang="en-us" sz="1945" cap="none">
                <a:solidFill>
                  <a:srgbClr val="000000"/>
                </a:solidFill>
                <a:latin typeface="Calibri" pitchFamily="2" charset="0"/>
                <a:ea typeface="DejaVu Sans" pitchFamily="1" charset="0"/>
                <a:cs typeface="DejaVu Sans" pitchFamily="1" charset="0"/>
              </a:rPr>
              <a:t>a transaction either completes successfully and commits all its changes, or it fails and rolls back all its changes, leaving the database in its original state.</a:t>
            </a:r>
            <a:endParaRPr lang="en-us" sz="1945" cap="none">
              <a:solidFill>
                <a:srgbClr val="000000"/>
              </a:solidFill>
            </a:endParaRPr>
          </a:p>
          <a:p>
            <a:pPr indent="0" defTabSz="914400">
              <a:lnSpc>
                <a:spcPct val="90000"/>
              </a:lnSpc>
              <a:spcBef>
                <a:spcPts val="400"/>
              </a:spcBef>
              <a:buNone/>
              <a:tabLst>
                <a:tab pos="0" algn="l"/>
              </a:tabLst>
              <a:defRPr sz="1460" cap="none"/>
            </a:pPr>
            <a:endParaRPr lang="en-us" sz="1945" cap="none">
              <a:solidFill>
                <a:srgbClr val="000000"/>
              </a:solidFill>
            </a:endParaRPr>
          </a:p>
          <a:p>
            <a:pPr indent="0" defTabSz="914400">
              <a:lnSpc>
                <a:spcPct val="90000"/>
              </a:lnSpc>
              <a:spcBef>
                <a:spcPts val="400"/>
              </a:spcBef>
              <a:buNone/>
              <a:tabLst>
                <a:tab pos="0" algn="l"/>
              </a:tabLst>
              <a:defRPr sz="1460" cap="none"/>
            </a:pPr>
            <a:endParaRPr lang="en-us" sz="1945" cap="none">
              <a:solidFill>
                <a:srgbClr val="000000"/>
              </a:solidFill>
            </a:endParaRPr>
          </a:p>
          <a:p>
            <a:pPr indent="0" defTabSz="914400">
              <a:lnSpc>
                <a:spcPct val="90000"/>
              </a:lnSpc>
              <a:spcBef>
                <a:spcPts val="400"/>
              </a:spcBef>
              <a:buNone/>
              <a:tabLst>
                <a:tab pos="0" algn="l"/>
              </a:tabLst>
              <a:defRPr sz="1460" cap="none"/>
            </a:pPr>
            <a:endParaRPr lang="en-us" sz="1945" cap="none">
              <a:solidFill>
                <a:srgbClr val="000000"/>
              </a:solidFill>
            </a:endParaRPr>
          </a:p>
          <a:p>
            <a:pPr indent="0" defTabSz="914400">
              <a:lnSpc>
                <a:spcPct val="90000"/>
              </a:lnSpc>
              <a:spcBef>
                <a:spcPts val="400"/>
              </a:spcBef>
              <a:buNone/>
              <a:tabLst>
                <a:tab pos="0" algn="l"/>
              </a:tabLst>
              <a:defRPr sz="1460" cap="none"/>
            </a:pPr>
            <a:endParaRPr lang="en-us" sz="1945" cap="none">
              <a:solidFill>
                <a:srgbClr val="000000"/>
              </a:solidFill>
            </a:endParaRPr>
          </a:p>
          <a:p>
            <a:pPr indent="0" defTabSz="914400">
              <a:lnSpc>
                <a:spcPct val="90000"/>
              </a:lnSpc>
              <a:spcBef>
                <a:spcPts val="400"/>
              </a:spcBef>
              <a:buNone/>
              <a:tabLst>
                <a:tab pos="0" algn="l"/>
              </a:tabLst>
              <a:defRPr sz="1460" cap="none"/>
            </a:pPr>
            <a:endParaRPr lang="en-us" sz="1945" cap="none">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Purpose of Database system</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w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7ycAABAAAAAmAAAACAAAAD2RAAD/HwAA"/>
              </a:ext>
            </a:extLst>
          </p:cNvSpPr>
          <p:nvPr>
            <p:ph type="body"/>
          </p:nvPr>
        </p:nvSpPr>
        <p:spPr>
          <a:xfrm>
            <a:off x="838200" y="1825625"/>
            <a:ext cx="10514330" cy="4665980"/>
          </a:xfrm>
          <a:prstGeom prst="rect">
            <a:avLst/>
          </a:prstGeom>
          <a:noFill/>
          <a:ln>
            <a:noFill/>
          </a:ln>
        </p:spPr>
        <p:txBody>
          <a:bodyPr vert="horz" wrap="square" lIns="91440" tIns="45720" rIns="91440" bIns="45720" numCol="1" spcCol="215900" anchor="t">
            <a:prstTxWarp prst="textNoShape">
              <a:avLst/>
            </a:prstTxWarp>
          </a:bodyPr>
          <a:lstStyle/>
          <a:p>
            <a:pPr marL="233680" indent="-233680">
              <a:lnSpc>
                <a:spcPct val="90000"/>
              </a:lnSpc>
              <a:spcBef>
                <a:spcPts val="830"/>
              </a:spcBef>
              <a:buClrTx/>
              <a:buFont typeface="Arial" pitchFamily="2" charset="0"/>
              <a:buChar char="•"/>
              <a:defRPr sz="1495" cap="none"/>
            </a:pPr>
            <a:r>
              <a:rPr lang="en-us" sz="2325" cap="none" dirty="0">
                <a:solidFill>
                  <a:srgbClr val="000000"/>
                </a:solidFill>
                <a:latin typeface="Calibri" pitchFamily="2" charset="0"/>
                <a:ea typeface="DejaVu Sans" pitchFamily="1" charset="0"/>
                <a:cs typeface="DejaVu Sans" pitchFamily="1" charset="0"/>
              </a:rPr>
              <a:t>Concurrent access:</a:t>
            </a:r>
            <a:endParaRPr lang="en-us" sz="2325" cap="none" dirty="0">
              <a:solidFill>
                <a:srgbClr val="000000"/>
              </a:solidFill>
            </a:endParaRPr>
          </a:p>
          <a:p>
            <a:pPr marL="701040" lvl="1" indent="-233680">
              <a:lnSpc>
                <a:spcPct val="90000"/>
              </a:lnSpc>
              <a:spcBef>
                <a:spcPts val="410"/>
              </a:spcBef>
              <a:buClrTx/>
              <a:buFont typeface="Arial" pitchFamily="2" charset="0"/>
              <a:buChar char="•"/>
              <a:defRPr sz="1495" cap="none"/>
            </a:pPr>
            <a:r>
              <a:rPr lang="en-us" sz="1990" cap="none" dirty="0">
                <a:solidFill>
                  <a:srgbClr val="000000"/>
                </a:solidFill>
                <a:latin typeface="Calibri" pitchFamily="2" charset="0"/>
                <a:ea typeface="DejaVu Sans" pitchFamily="1" charset="0"/>
                <a:cs typeface="DejaVu Sans" pitchFamily="1" charset="0"/>
              </a:rPr>
              <a:t>Concurrent access refers to the ability of multiple users or applications to access a database system simultaneously.</a:t>
            </a:r>
            <a:endParaRPr lang="en-us" sz="1990" cap="none" dirty="0">
              <a:solidFill>
                <a:srgbClr val="000000"/>
              </a:solidFill>
            </a:endParaRPr>
          </a:p>
          <a:p>
            <a:pPr marL="233680" indent="-233680">
              <a:lnSpc>
                <a:spcPct val="90000"/>
              </a:lnSpc>
              <a:spcBef>
                <a:spcPts val="830"/>
              </a:spcBef>
              <a:buClrTx/>
              <a:buFont typeface="Arial" pitchFamily="2" charset="0"/>
              <a:buChar char="•"/>
              <a:defRPr sz="1495" cap="none"/>
            </a:pPr>
            <a:r>
              <a:rPr lang="en-us" sz="2325" cap="none" dirty="0">
                <a:solidFill>
                  <a:srgbClr val="000000"/>
                </a:solidFill>
                <a:latin typeface="Calibri" pitchFamily="2" charset="0"/>
                <a:ea typeface="DejaVu Sans" pitchFamily="1" charset="0"/>
                <a:cs typeface="DejaVu Sans" pitchFamily="1" charset="0"/>
              </a:rPr>
              <a:t>Security problems:</a:t>
            </a:r>
            <a:endParaRPr lang="en-us" sz="2325" cap="none" dirty="0">
              <a:solidFill>
                <a:srgbClr val="000000"/>
              </a:solidFill>
            </a:endParaRPr>
          </a:p>
          <a:p>
            <a:pPr marL="701040" lvl="1" indent="-233680">
              <a:lnSpc>
                <a:spcPct val="90000"/>
              </a:lnSpc>
              <a:spcBef>
                <a:spcPts val="410"/>
              </a:spcBef>
              <a:buClrTx/>
              <a:buFont typeface="Arial" pitchFamily="2" charset="0"/>
              <a:buChar char="•"/>
              <a:defRPr sz="1495" cap="none"/>
            </a:pPr>
            <a:r>
              <a:rPr lang="en-us" sz="1990" cap="none" dirty="0">
                <a:solidFill>
                  <a:srgbClr val="000000"/>
                </a:solidFill>
                <a:latin typeface="Calibri" pitchFamily="2" charset="0"/>
                <a:ea typeface="DejaVu Sans" pitchFamily="1" charset="0"/>
                <a:cs typeface="DejaVu Sans" pitchFamily="1" charset="0"/>
              </a:rPr>
              <a:t>Database systems are vulnerable to a variety of security problems that can compromise the confidentiality, integrity, and availability of the data they manage.</a:t>
            </a:r>
            <a:endParaRPr lang="en-us" sz="1990" cap="none" dirty="0">
              <a:solidFill>
                <a:srgbClr val="000000"/>
              </a:solidFill>
            </a:endParaRPr>
          </a:p>
          <a:p>
            <a:pPr marL="233680" indent="-233680">
              <a:lnSpc>
                <a:spcPct val="90000"/>
              </a:lnSpc>
              <a:spcBef>
                <a:spcPts val="830"/>
              </a:spcBef>
              <a:buClrTx/>
              <a:buFont typeface="Arial" pitchFamily="2" charset="0"/>
              <a:buChar char="•"/>
              <a:defRPr sz="1495" cap="none"/>
            </a:pPr>
            <a:r>
              <a:rPr lang="en-us" sz="2325" cap="none" dirty="0">
                <a:solidFill>
                  <a:srgbClr val="000000"/>
                </a:solidFill>
                <a:latin typeface="Calibri" pitchFamily="2" charset="0"/>
                <a:ea typeface="DejaVu Sans" pitchFamily="1" charset="0"/>
                <a:cs typeface="DejaVu Sans" pitchFamily="1" charset="0"/>
              </a:rPr>
              <a:t>Supports multiple views of data</a:t>
            </a:r>
            <a:endParaRPr lang="en-us" sz="2325" cap="none" dirty="0">
              <a:solidFill>
                <a:srgbClr val="000000"/>
              </a:solidFill>
            </a:endParaRPr>
          </a:p>
          <a:p>
            <a:pPr marL="701040" lvl="1" indent="-233680">
              <a:lnSpc>
                <a:spcPct val="90000"/>
              </a:lnSpc>
              <a:spcBef>
                <a:spcPts val="410"/>
              </a:spcBef>
              <a:buClrTx/>
              <a:buFont typeface="Arial" pitchFamily="2" charset="0"/>
              <a:buChar char="•"/>
              <a:defRPr sz="1495" cap="none"/>
            </a:pPr>
            <a:r>
              <a:rPr lang="en-us" sz="1990" cap="none" dirty="0">
                <a:solidFill>
                  <a:srgbClr val="000000"/>
                </a:solidFill>
                <a:latin typeface="Calibri" pitchFamily="2" charset="0"/>
                <a:ea typeface="DejaVu Sans" pitchFamily="1" charset="0"/>
                <a:cs typeface="DejaVu Sans" pitchFamily="1" charset="0"/>
              </a:rPr>
              <a:t>Supporting multiple views of data is an important feature of a database system that allows different users or applications to access the same data in different ways, depending on their specific needs.</a:t>
            </a:r>
            <a:endParaRPr lang="en-us" sz="1990" cap="none" dirty="0">
              <a:solidFill>
                <a:srgbClr val="000000"/>
              </a:solidFill>
            </a:endParaRPr>
          </a:p>
          <a:p>
            <a:pPr marL="233680" indent="-233680">
              <a:lnSpc>
                <a:spcPct val="90000"/>
              </a:lnSpc>
              <a:spcBef>
                <a:spcPts val="830"/>
              </a:spcBef>
              <a:buClrTx/>
              <a:buFont typeface="Arial" pitchFamily="2" charset="0"/>
              <a:buChar char="•"/>
              <a:defRPr sz="1495" cap="none"/>
            </a:pPr>
            <a:r>
              <a:rPr lang="en-us" sz="2325" cap="none" dirty="0">
                <a:solidFill>
                  <a:srgbClr val="000000"/>
                </a:solidFill>
                <a:latin typeface="Calibri" pitchFamily="2" charset="0"/>
                <a:ea typeface="DejaVu Sans" pitchFamily="1" charset="0"/>
                <a:cs typeface="DejaVu Sans" pitchFamily="1" charset="0"/>
              </a:rPr>
              <a:t>Integrity problems</a:t>
            </a:r>
            <a:endParaRPr lang="en-us" sz="2325" cap="none" dirty="0">
              <a:solidFill>
                <a:srgbClr val="000000"/>
              </a:solidFill>
            </a:endParaRPr>
          </a:p>
          <a:p>
            <a:pPr marL="701040" lvl="1" indent="-233680">
              <a:lnSpc>
                <a:spcPct val="90000"/>
              </a:lnSpc>
              <a:spcBef>
                <a:spcPts val="410"/>
              </a:spcBef>
              <a:buClrTx/>
              <a:buFont typeface="Arial" pitchFamily="2" charset="0"/>
              <a:buChar char="•"/>
              <a:defRPr sz="1495" cap="none"/>
            </a:pPr>
            <a:r>
              <a:rPr lang="en-us" sz="1990" cap="none" dirty="0">
                <a:solidFill>
                  <a:srgbClr val="000000"/>
                </a:solidFill>
                <a:latin typeface="Calibri" pitchFamily="2" charset="0"/>
                <a:ea typeface="DejaVu Sans" pitchFamily="1" charset="0"/>
                <a:cs typeface="DejaVu Sans" pitchFamily="1" charset="0"/>
              </a:rPr>
              <a:t>Integrity problems in a database system refer to situations where the data stored in the database is incorrect, inconsistent, or violates some predefined rules or constraints. (The integrity of data refers to the accuracy, completeness, and consistency of data in a database.)</a:t>
            </a:r>
            <a:endParaRPr lang="en-us" sz="1990" cap="none" dirty="0">
              <a:solidFill>
                <a:srgbClr val="000000"/>
              </a:solidFill>
            </a:endParaRPr>
          </a:p>
          <a:p>
            <a:pPr indent="0" defTabSz="914400">
              <a:lnSpc>
                <a:spcPct val="90000"/>
              </a:lnSpc>
              <a:spcBef>
                <a:spcPts val="830"/>
              </a:spcBef>
              <a:buNone/>
              <a:tabLst>
                <a:tab pos="0" algn="l"/>
              </a:tabLst>
              <a:defRPr sz="1495" cap="none"/>
            </a:pPr>
            <a:endParaRPr lang="en-us" sz="2325" cap="none" dirty="0">
              <a:solidFill>
                <a:srgbClr val="000000"/>
              </a:solidFill>
            </a:endParaRPr>
          </a:p>
          <a:p>
            <a:pPr indent="0" defTabSz="914400">
              <a:lnSpc>
                <a:spcPct val="90000"/>
              </a:lnSpc>
              <a:spcBef>
                <a:spcPts val="830"/>
              </a:spcBef>
              <a:buNone/>
              <a:tabLst>
                <a:tab pos="0" algn="l"/>
              </a:tabLst>
              <a:defRPr sz="1495" cap="none"/>
            </a:pPr>
            <a:endParaRPr lang="en-us" sz="2325" cap="none"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LgYAABAAAAAmAAAACAAAAAEAAAAAAAAA"/>
              </a:ext>
            </a:extLst>
          </p:cNvSpPr>
          <p:nvPr>
            <p:ph type="title"/>
          </p:nvPr>
        </p:nvSpPr>
        <p:spPr>
          <a:xfrm>
            <a:off x="609600" y="273685"/>
            <a:ext cx="10972165" cy="730885"/>
          </a:xfrm>
        </p:spPr>
        <p:txBody>
          <a:bodyPr/>
          <a:lstStyle/>
          <a:p>
            <a:r>
              <a:t>Database System vs File System</a:t>
            </a:r>
          </a:p>
        </p:txBody>
      </p:sp>
      <p:pic>
        <p:nvPicPr>
          <p:cNvPr id="3"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D4NAAAQBwAAeTwAABApAAAQAAAAJgAAAAgAAAD//////////w=="/>
              </a:ext>
            </a:extLst>
          </p:cNvPicPr>
          <p:nvPr/>
        </p:nvPicPr>
        <p:blipFill>
          <a:blip r:embed="rId2"/>
          <a:stretch>
            <a:fillRect/>
          </a:stretch>
        </p:blipFill>
        <p:spPr>
          <a:xfrm>
            <a:off x="2152650" y="1148080"/>
            <a:ext cx="7677785" cy="5527040"/>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8OAACmAgAAzD0AANgpAAAQAAAAJgAAAAgAAAD//////////w=="/>
              </a:ext>
            </a:extLst>
          </p:cNvPicPr>
          <p:nvPr/>
        </p:nvPicPr>
        <p:blipFill>
          <a:blip r:embed="rId2"/>
          <a:stretch>
            <a:fillRect/>
          </a:stretch>
        </p:blipFill>
        <p:spPr>
          <a:xfrm>
            <a:off x="2305685" y="430530"/>
            <a:ext cx="7740015" cy="6371590"/>
          </a:xfrm>
          <a:prstGeom prst="rect">
            <a:avLst/>
          </a:prstGeom>
          <a:noFill/>
          <a:ln>
            <a:noFill/>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View of Data</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dirty="0">
                <a:solidFill>
                  <a:srgbClr val="000000"/>
                </a:solidFill>
                <a:latin typeface="Calibri" pitchFamily="2" charset="0"/>
                <a:ea typeface="DejaVu Sans" pitchFamily="1" charset="0"/>
                <a:cs typeface="DejaVu Sans" pitchFamily="1" charset="0"/>
              </a:rPr>
              <a:t>A database system is a collection of interrelated data and a set of programs that allow users to access and modify these data.</a:t>
            </a:r>
            <a:endParaRPr lang="en-us" sz="2800" cap="none" dirty="0">
              <a:solidFill>
                <a:srgbClr val="000000"/>
              </a:solidFill>
            </a:endParaRPr>
          </a:p>
          <a:p>
            <a:pPr marL="228600" indent="-228600">
              <a:lnSpc>
                <a:spcPct val="90000"/>
              </a:lnSpc>
              <a:spcBef>
                <a:spcPts val="1000"/>
              </a:spcBef>
              <a:buClrTx/>
              <a:buFont typeface="Arial" pitchFamily="2" charset="0"/>
              <a:buChar char="•"/>
            </a:pPr>
            <a:r>
              <a:rPr lang="en-us" sz="2800" cap="none" dirty="0">
                <a:solidFill>
                  <a:srgbClr val="000000"/>
                </a:solidFill>
                <a:latin typeface="Calibri" pitchFamily="2" charset="0"/>
                <a:ea typeface="DejaVu Sans" pitchFamily="1" charset="0"/>
                <a:cs typeface="DejaVu Sans" pitchFamily="1" charset="0"/>
              </a:rPr>
              <a:t>A major purpose of a database system is to provide users with an </a:t>
            </a:r>
            <a:r>
              <a:rPr lang="en-us" sz="2800" b="1" cap="none" dirty="0">
                <a:solidFill>
                  <a:srgbClr val="000000"/>
                </a:solidFill>
                <a:latin typeface="Calibri" pitchFamily="2" charset="0"/>
                <a:ea typeface="DejaVu Sans" pitchFamily="1" charset="0"/>
                <a:cs typeface="DejaVu Sans" pitchFamily="1" charset="0"/>
              </a:rPr>
              <a:t>abstract view of the data.</a:t>
            </a:r>
            <a:endParaRPr lang="en-us" sz="2800" cap="none" dirty="0">
              <a:solidFill>
                <a:srgbClr val="000000"/>
              </a:solidFill>
            </a:endParaRPr>
          </a:p>
          <a:p>
            <a:pPr marL="228600" indent="-228600">
              <a:lnSpc>
                <a:spcPct val="90000"/>
              </a:lnSpc>
              <a:spcBef>
                <a:spcPts val="1000"/>
              </a:spcBef>
              <a:buClrTx/>
              <a:buFont typeface="Arial" pitchFamily="2" charset="0"/>
              <a:buChar char="•"/>
            </a:pPr>
            <a:r>
              <a:rPr lang="en-us" sz="2800" cap="none" dirty="0">
                <a:solidFill>
                  <a:srgbClr val="000000"/>
                </a:solidFill>
                <a:latin typeface="Calibri" pitchFamily="2" charset="0"/>
                <a:ea typeface="DejaVu Sans" pitchFamily="1" charset="0"/>
                <a:cs typeface="DejaVu Sans" pitchFamily="1" charset="0"/>
              </a:rPr>
              <a:t>That is, the system </a:t>
            </a:r>
            <a:r>
              <a:rPr lang="en-us" sz="2800" b="1" cap="none" dirty="0">
                <a:solidFill>
                  <a:srgbClr val="000000"/>
                </a:solidFill>
                <a:latin typeface="Calibri" pitchFamily="2" charset="0"/>
                <a:ea typeface="DejaVu Sans" pitchFamily="1" charset="0"/>
                <a:cs typeface="DejaVu Sans" pitchFamily="1" charset="0"/>
              </a:rPr>
              <a:t>hides certain details of how the data are stored and maintained.</a:t>
            </a:r>
            <a:endParaRPr lang="en-us" sz="2800" cap="none"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dirty="0">
                <a:solidFill>
                  <a:srgbClr val="000000"/>
                </a:solidFill>
                <a:latin typeface="Calibri Light" charset="0"/>
                <a:ea typeface="Basic Roman" pitchFamily="1" charset="0"/>
                <a:cs typeface="Basic Roman" pitchFamily="1" charset="0"/>
              </a:rPr>
              <a:t>Data Abstraction</a:t>
            </a:r>
            <a:endParaRPr lang="en-us" cap="none" dirty="0">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DOYi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M8IAADWRQAA/SUAABAAAAAmAAAACAAAAD2RAAD/HwAA"/>
              </a:ext>
            </a:extLst>
          </p:cNvSpPr>
          <p:nvPr>
            <p:ph type="body"/>
          </p:nvPr>
        </p:nvSpPr>
        <p:spPr>
          <a:xfrm>
            <a:off x="838200" y="1431925"/>
            <a:ext cx="10514330" cy="4743450"/>
          </a:xfrm>
          <a:prstGeom prst="rect">
            <a:avLst/>
          </a:prstGeom>
          <a:noFill/>
          <a:ln>
            <a:noFill/>
          </a:ln>
        </p:spPr>
        <p:txBody>
          <a:bodyPr vert="horz" wrap="square" lIns="91440" tIns="45720" rIns="91440" bIns="45720" numCol="1" spcCol="215900" anchor="t">
            <a:prstTxWarp prst="textNoShape">
              <a:avLst/>
            </a:prstTxWarp>
          </a:bodyPr>
          <a:lstStyle/>
          <a:p>
            <a:pPr marL="237490" indent="-237490">
              <a:lnSpc>
                <a:spcPct val="90000"/>
              </a:lnSpc>
              <a:spcBef>
                <a:spcPts val="710"/>
              </a:spcBef>
              <a:buClrTx/>
              <a:buFont typeface="Arial" pitchFamily="2" charset="0"/>
              <a:buChar char="•"/>
              <a:defRPr sz="1280" cap="none"/>
            </a:pPr>
            <a:r>
              <a:rPr lang="en-us" sz="1990" cap="none" dirty="0">
                <a:solidFill>
                  <a:srgbClr val="000000"/>
                </a:solidFill>
                <a:latin typeface="Calibri" pitchFamily="2" charset="0"/>
                <a:ea typeface="DejaVu Sans" pitchFamily="1" charset="0"/>
                <a:cs typeface="DejaVu Sans" pitchFamily="1" charset="0"/>
              </a:rPr>
              <a:t>Data abstraction is the process of hiding complex details and presenting only essential information to users.</a:t>
            </a:r>
            <a:endParaRPr lang="en-us" sz="1990" cap="none" dirty="0">
              <a:solidFill>
                <a:srgbClr val="000000"/>
              </a:solidFill>
            </a:endParaRPr>
          </a:p>
          <a:p>
            <a:pPr marL="237490" indent="-237490">
              <a:lnSpc>
                <a:spcPct val="90000"/>
              </a:lnSpc>
              <a:spcBef>
                <a:spcPts val="710"/>
              </a:spcBef>
              <a:buClrTx/>
              <a:buFont typeface="Arial" pitchFamily="2" charset="0"/>
              <a:buChar char="•"/>
              <a:defRPr sz="1280" cap="none"/>
            </a:pPr>
            <a:r>
              <a:rPr lang="en-us" sz="1990" cap="none" dirty="0">
                <a:solidFill>
                  <a:srgbClr val="000000"/>
                </a:solidFill>
                <a:latin typeface="Calibri" pitchFamily="2" charset="0"/>
                <a:ea typeface="DejaVu Sans" pitchFamily="1" charset="0"/>
                <a:cs typeface="DejaVu Sans" pitchFamily="1" charset="0"/>
              </a:rPr>
              <a:t>There are three main levels of data abstraction in a database system:</a:t>
            </a:r>
            <a:endParaRPr lang="en-us" sz="1990" cap="none" dirty="0">
              <a:solidFill>
                <a:srgbClr val="000000"/>
              </a:solidFill>
            </a:endParaRPr>
          </a:p>
          <a:p>
            <a:pPr indent="0" defTabSz="914400">
              <a:lnSpc>
                <a:spcPct val="90000"/>
              </a:lnSpc>
              <a:spcBef>
                <a:spcPts val="710"/>
              </a:spcBef>
              <a:buNone/>
              <a:tabLst>
                <a:tab pos="0" algn="l"/>
              </a:tabLst>
              <a:defRPr sz="1280" cap="none"/>
            </a:pPr>
            <a:endParaRPr lang="en-us" sz="1990" cap="none" dirty="0">
              <a:solidFill>
                <a:srgbClr val="000000"/>
              </a:solidFill>
            </a:endParaRPr>
          </a:p>
          <a:p>
            <a:pPr marL="237490" indent="-237490" defTabSz="914400">
              <a:lnSpc>
                <a:spcPct val="90000"/>
              </a:lnSpc>
              <a:spcBef>
                <a:spcPts val="710"/>
              </a:spcBef>
              <a:buClrTx/>
              <a:buFont typeface="Arial" pitchFamily="2" charset="0"/>
              <a:buChar char="•"/>
              <a:tabLst>
                <a:tab pos="0" algn="l"/>
              </a:tabLst>
              <a:defRPr sz="1280" cap="none"/>
            </a:pPr>
            <a:r>
              <a:rPr lang="en-us" sz="1990" cap="none" dirty="0">
                <a:solidFill>
                  <a:srgbClr val="000000"/>
                </a:solidFill>
                <a:latin typeface="Calibri" pitchFamily="2" charset="0"/>
                <a:ea typeface="DejaVu Sans" pitchFamily="1" charset="0"/>
                <a:cs typeface="DejaVu Sans" pitchFamily="1" charset="0"/>
              </a:rPr>
              <a:t>Physical level: This is the lowest level of abstraction and describes </a:t>
            </a:r>
            <a:r>
              <a:rPr lang="en-us" sz="1990" cap="none" dirty="0">
                <a:solidFill>
                  <a:schemeClr val="accent1"/>
                </a:solidFill>
                <a:latin typeface="Calibri" pitchFamily="2" charset="0"/>
                <a:ea typeface="DejaVu Sans" pitchFamily="1" charset="0"/>
                <a:cs typeface="DejaVu Sans" pitchFamily="1" charset="0"/>
              </a:rPr>
              <a:t>how the data is stored on the storage media</a:t>
            </a:r>
            <a:r>
              <a:rPr lang="en-us" sz="1990" cap="none" dirty="0">
                <a:solidFill>
                  <a:srgbClr val="000000"/>
                </a:solidFill>
                <a:latin typeface="Calibri" pitchFamily="2" charset="0"/>
                <a:ea typeface="DejaVu Sans" pitchFamily="1" charset="0"/>
                <a:cs typeface="DejaVu Sans" pitchFamily="1" charset="0"/>
              </a:rPr>
              <a:t> such as hard disks, solid-state drives, or magnetic tapes. It deals with details such as data organization, access methods, and storage structures.</a:t>
            </a:r>
            <a:endParaRPr lang="en-us" sz="1990" cap="none" dirty="0">
              <a:solidFill>
                <a:srgbClr val="000000"/>
              </a:solidFill>
            </a:endParaRPr>
          </a:p>
          <a:p>
            <a:pPr indent="0" defTabSz="914400">
              <a:lnSpc>
                <a:spcPct val="90000"/>
              </a:lnSpc>
              <a:spcBef>
                <a:spcPts val="710"/>
              </a:spcBef>
              <a:buNone/>
              <a:tabLst>
                <a:tab pos="0" algn="l"/>
              </a:tabLst>
              <a:defRPr sz="1280" cap="none"/>
            </a:pPr>
            <a:endParaRPr lang="en-us" sz="1990" cap="none" dirty="0">
              <a:solidFill>
                <a:srgbClr val="000000"/>
              </a:solidFill>
            </a:endParaRPr>
          </a:p>
          <a:p>
            <a:pPr marL="237490" indent="-237490" defTabSz="914400">
              <a:lnSpc>
                <a:spcPct val="90000"/>
              </a:lnSpc>
              <a:spcBef>
                <a:spcPts val="710"/>
              </a:spcBef>
              <a:buClrTx/>
              <a:buFont typeface="Arial" pitchFamily="2" charset="0"/>
              <a:buChar char="•"/>
              <a:tabLst>
                <a:tab pos="0" algn="l"/>
              </a:tabLst>
              <a:defRPr sz="1280" cap="none"/>
            </a:pPr>
            <a:r>
              <a:rPr lang="en-us" sz="1990" cap="none" dirty="0">
                <a:solidFill>
                  <a:srgbClr val="000000"/>
                </a:solidFill>
                <a:latin typeface="Calibri" pitchFamily="2" charset="0"/>
                <a:ea typeface="DejaVu Sans" pitchFamily="1" charset="0"/>
                <a:cs typeface="DejaVu Sans" pitchFamily="1" charset="0"/>
              </a:rPr>
              <a:t>Logical level: This level of abstraction describes </a:t>
            </a:r>
            <a:r>
              <a:rPr lang="en-us" sz="1990" cap="none" dirty="0">
                <a:solidFill>
                  <a:schemeClr val="accent4"/>
                </a:solidFill>
                <a:latin typeface="Calibri" pitchFamily="2" charset="0"/>
                <a:ea typeface="DejaVu Sans" pitchFamily="1" charset="0"/>
                <a:cs typeface="DejaVu Sans" pitchFamily="1" charset="0"/>
              </a:rPr>
              <a:t>how the data is organized and structured in a database. </a:t>
            </a:r>
            <a:r>
              <a:rPr lang="en-us" sz="1990" cap="none" dirty="0">
                <a:solidFill>
                  <a:srgbClr val="000000"/>
                </a:solidFill>
                <a:latin typeface="Calibri" pitchFamily="2" charset="0"/>
                <a:ea typeface="DejaVu Sans" pitchFamily="1" charset="0"/>
                <a:cs typeface="DejaVu Sans" pitchFamily="1" charset="0"/>
              </a:rPr>
              <a:t>It provides a conceptual view of the data and is concerned with the relationships between entities, attributes, and constraints.</a:t>
            </a:r>
            <a:endParaRPr lang="en-us" sz="1990" cap="none" dirty="0">
              <a:solidFill>
                <a:srgbClr val="000000"/>
              </a:solidFill>
            </a:endParaRPr>
          </a:p>
          <a:p>
            <a:pPr indent="0" defTabSz="914400">
              <a:lnSpc>
                <a:spcPct val="90000"/>
              </a:lnSpc>
              <a:spcBef>
                <a:spcPts val="710"/>
              </a:spcBef>
              <a:buNone/>
              <a:tabLst>
                <a:tab pos="0" algn="l"/>
              </a:tabLst>
              <a:defRPr sz="1280" cap="none"/>
            </a:pPr>
            <a:endParaRPr lang="en-us" sz="1990" cap="none" dirty="0">
              <a:solidFill>
                <a:srgbClr val="000000"/>
              </a:solidFill>
            </a:endParaRPr>
          </a:p>
          <a:p>
            <a:pPr marL="237490" indent="-237490" defTabSz="914400">
              <a:lnSpc>
                <a:spcPct val="90000"/>
              </a:lnSpc>
              <a:spcBef>
                <a:spcPts val="710"/>
              </a:spcBef>
              <a:buClrTx/>
              <a:buFont typeface="Arial" pitchFamily="2" charset="0"/>
              <a:buChar char="•"/>
              <a:tabLst>
                <a:tab pos="0" algn="l"/>
              </a:tabLst>
              <a:defRPr sz="1280" cap="none"/>
            </a:pPr>
            <a:r>
              <a:rPr lang="en-us" sz="1990" cap="none" dirty="0">
                <a:solidFill>
                  <a:srgbClr val="000000"/>
                </a:solidFill>
                <a:latin typeface="Calibri" pitchFamily="2" charset="0"/>
                <a:ea typeface="DejaVu Sans" pitchFamily="1" charset="0"/>
                <a:cs typeface="DejaVu Sans" pitchFamily="1" charset="0"/>
              </a:rPr>
              <a:t>View level: This is the highest level of abstraction and </a:t>
            </a:r>
            <a:r>
              <a:rPr lang="en-us" sz="1990" cap="none" dirty="0">
                <a:solidFill>
                  <a:srgbClr val="FF0000"/>
                </a:solidFill>
                <a:latin typeface="Calibri" pitchFamily="2" charset="0"/>
                <a:ea typeface="DejaVu Sans" pitchFamily="1" charset="0"/>
                <a:cs typeface="DejaVu Sans" pitchFamily="1" charset="0"/>
              </a:rPr>
              <a:t>describes how the data is presented to users.</a:t>
            </a:r>
            <a:r>
              <a:rPr lang="en-us" sz="1990" cap="none" dirty="0">
                <a:solidFill>
                  <a:srgbClr val="000000"/>
                </a:solidFill>
                <a:latin typeface="Calibri" pitchFamily="2" charset="0"/>
                <a:ea typeface="DejaVu Sans" pitchFamily="1" charset="0"/>
                <a:cs typeface="DejaVu Sans" pitchFamily="1" charset="0"/>
              </a:rPr>
              <a:t> It provides a user-specific view of the data and is concerned with the selection, projection, and restriction of data.</a:t>
            </a:r>
            <a:endParaRPr lang="en-us" sz="1990" cap="none"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What is Data Abstraction in DBMS and what are its three levels?"/>
          <p:cNvPicPr>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DAQ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oOAAA2BAAASj4AAK0nAAAQAAAAJgAAAAgAAAD//////////w=="/>
              </a:ext>
            </a:extLst>
          </p:cNvPicPr>
          <p:nvPr/>
        </p:nvPicPr>
        <p:blipFill>
          <a:blip r:embed="rId2"/>
          <a:stretch>
            <a:fillRect/>
          </a:stretch>
        </p:blipFill>
        <p:spPr>
          <a:xfrm>
            <a:off x="2434590" y="684530"/>
            <a:ext cx="7691120" cy="5765165"/>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ASAABxBQAAvDYAAEsjAAAQAAAAJgAAAAgAAAD//////////w=="/>
              </a:ext>
            </a:extLst>
          </p:cNvPicPr>
          <p:nvPr/>
        </p:nvPicPr>
        <p:blipFill>
          <a:blip r:embed="rId2"/>
          <a:stretch>
            <a:fillRect/>
          </a:stretch>
        </p:blipFill>
        <p:spPr>
          <a:xfrm>
            <a:off x="2936240" y="884555"/>
            <a:ext cx="5961380" cy="4852670"/>
          </a:xfrm>
          <a:prstGeom prst="rect">
            <a:avLst/>
          </a:prstGeom>
          <a:noFill/>
          <a:ln>
            <a:noFill/>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AcBAAAHAQAAfUgAAMgfAAAQAAAAJgAAAAgAAAD//////////w=="/>
              </a:ext>
            </a:extLst>
          </p:cNvPicPr>
          <p:nvPr/>
        </p:nvPicPr>
        <p:blipFill>
          <a:blip r:embed="rId2"/>
          <a:stretch>
            <a:fillRect/>
          </a:stretch>
        </p:blipFill>
        <p:spPr>
          <a:xfrm>
            <a:off x="167005" y="167005"/>
            <a:ext cx="11616690" cy="4999355"/>
          </a:xfrm>
          <a:prstGeom prst="rect">
            <a:avLst/>
          </a:prstGeom>
          <a:noFill/>
          <a:ln>
            <a:noFill/>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BAAAAAmAAAACAAAADwQAAD//8EB"/>
              </a:ext>
            </a:extLst>
          </p:cNvSpPr>
          <p:nvPr>
            <p:ph type="title"/>
          </p:nvPr>
        </p:nvSpPr>
        <p:spPr>
          <a:noFill/>
          <a:ln>
            <a:noFill/>
          </a:ln>
          <a:effectLst/>
        </p:spPr>
        <p:txBody>
          <a:bodyPr vert="horz" wrap="square" lIns="0" tIns="0" rIns="0" bIns="0" numCol="1" spcCol="215900" anchor="ctr">
            <a:prstTxWarp prst="textNoShape">
              <a:avLst/>
            </a:prstTxWarp>
          </a:bodyPr>
          <a:lstStyle/>
          <a:p>
            <a:r>
              <a:rPr dirty="0"/>
              <a:t>Database independence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BAAAAAmAAAACAAAADwQAAD//8EB"/>
              </a:ext>
            </a:extLst>
          </p:cNvSpPr>
          <p:nvPr>
            <p:ph type="body" idx="1"/>
          </p:nvPr>
        </p:nvSpPr>
        <p:spPr>
          <a:noFill/>
          <a:ln>
            <a:noFill/>
          </a:ln>
          <a:effectLst/>
        </p:spPr>
        <p:txBody>
          <a:bodyPr vert="horz" wrap="square" lIns="0" tIns="0" rIns="0" bIns="0" numCol="1" spcCol="215900" anchor="t">
            <a:prstTxWarp prst="textNoShape">
              <a:avLst/>
            </a:prstTxWarp>
          </a:bodyPr>
          <a:lstStyle/>
          <a:p>
            <a:pPr>
              <a:defRPr sz="2600" cap="none">
                <a:latin typeface="Times New Roman" pitchFamily="1" charset="0"/>
                <a:ea typeface="Basic Sans" pitchFamily="1" charset="0"/>
                <a:cs typeface="Basic Sans" pitchFamily="1" charset="0"/>
              </a:defRPr>
            </a:pPr>
            <a:r>
              <a:rPr b="1" cap="none" dirty="0"/>
              <a:t>Data Independence</a:t>
            </a:r>
            <a:r>
              <a:rPr dirty="0"/>
              <a:t> means the ability of the data to change the schema at one level of the database without having to change the schema at the next higher level.</a:t>
            </a:r>
          </a:p>
          <a:p>
            <a:r>
              <a:rPr sz="2435" b="1" cap="none" dirty="0">
                <a:solidFill>
                  <a:srgbClr val="000000"/>
                </a:solidFill>
                <a:latin typeface="Calibri" pitchFamily="2" charset="0"/>
                <a:ea typeface="Basic Sans" pitchFamily="1" charset="0"/>
                <a:cs typeface="Basic Sans" pitchFamily="1" charset="0"/>
              </a:rPr>
              <a:t>Physical data independence </a:t>
            </a:r>
            <a:r>
              <a:rPr sz="2435" cap="none" dirty="0">
                <a:solidFill>
                  <a:srgbClr val="000000"/>
                </a:solidFill>
                <a:latin typeface="Calibri" pitchFamily="2" charset="0"/>
                <a:ea typeface="Basic Sans" pitchFamily="1" charset="0"/>
                <a:cs typeface="Basic Sans" pitchFamily="1" charset="0"/>
              </a:rPr>
              <a:t>is the ability to modify the physical schema of a database without affecting the logical schema or the applications that use the database.</a:t>
            </a:r>
          </a:p>
          <a:p>
            <a:pPr>
              <a:defRPr sz="2435" cap="none">
                <a:solidFill>
                  <a:srgbClr val="000000"/>
                </a:solidFill>
                <a:latin typeface="Calibri" pitchFamily="2" charset="0"/>
                <a:ea typeface="Basic Sans" pitchFamily="1" charset="0"/>
                <a:cs typeface="Basic Sans" pitchFamily="1" charset="0"/>
              </a:defRPr>
            </a:pPr>
            <a:r>
              <a:rPr b="1" cap="none" dirty="0"/>
              <a:t>Logical Data Independence</a:t>
            </a:r>
            <a:r>
              <a:rPr dirty="0"/>
              <a:t> is a property of a database that can be used to change the logic behind the logical level without affecting the other layers of the database. Logical data independence is usually required for changing the conceptual schema without having to change the external schema or application programs.</a:t>
            </a:r>
          </a:p>
          <a:p>
            <a:pPr>
              <a:defRPr sz="2435" cap="none">
                <a:solidFill>
                  <a:srgbClr val="000000"/>
                </a:solidFill>
                <a:latin typeface="Calibri" pitchFamily="2" charset="0"/>
                <a:ea typeface="Basic Sans" pitchFamily="1" charset="0"/>
                <a:cs typeface="Basic Sans" pitchFamily="1" charset="0"/>
              </a:defRPr>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EIAAA/BwAAiUMAALEcAAAQAAAAJgAAAAgAAAD//////////w=="/>
              </a:ext>
            </a:extLst>
          </p:cNvPicPr>
          <p:nvPr/>
        </p:nvPicPr>
        <p:blipFill>
          <a:blip r:embed="rId2"/>
          <a:stretch>
            <a:fillRect/>
          </a:stretch>
        </p:blipFill>
        <p:spPr>
          <a:xfrm>
            <a:off x="1453515" y="1177925"/>
            <a:ext cx="9525000" cy="3486150"/>
          </a:xfrm>
          <a:prstGeom prst="rect">
            <a:avLst/>
          </a:prstGeom>
          <a:noFill/>
          <a:ln>
            <a:noFill/>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dirty="0">
                <a:solidFill>
                  <a:srgbClr val="000000"/>
                </a:solidFill>
                <a:latin typeface="Calibri Light" charset="0"/>
                <a:ea typeface="Basic Roman" pitchFamily="1" charset="0"/>
                <a:cs typeface="Basic Roman" pitchFamily="1" charset="0"/>
              </a:rPr>
              <a:t>Data Models</a:t>
            </a:r>
            <a:endParaRPr lang="en-us" cap="none" dirty="0">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The data model  is a collection of </a:t>
            </a:r>
            <a:r>
              <a:rPr lang="en-us" sz="2745" b="1" cap="none">
                <a:solidFill>
                  <a:srgbClr val="000000"/>
                </a:solidFill>
                <a:latin typeface="Calibri" pitchFamily="2" charset="0"/>
                <a:ea typeface="DejaVu Sans" pitchFamily="1" charset="0"/>
                <a:cs typeface="DejaVu Sans" pitchFamily="1" charset="0"/>
              </a:rPr>
              <a:t>conceptual tools </a:t>
            </a:r>
            <a:r>
              <a:rPr lang="en-us" sz="2745" cap="none">
                <a:solidFill>
                  <a:srgbClr val="000000"/>
                </a:solidFill>
                <a:latin typeface="Calibri" pitchFamily="2" charset="0"/>
                <a:ea typeface="DejaVu Sans" pitchFamily="1" charset="0"/>
                <a:cs typeface="DejaVu Sans" pitchFamily="1" charset="0"/>
              </a:rPr>
              <a:t>for </a:t>
            </a:r>
            <a:r>
              <a:rPr lang="en-us" sz="2745" b="1" cap="none">
                <a:solidFill>
                  <a:schemeClr val="accent6"/>
                </a:solidFill>
                <a:latin typeface="Calibri" pitchFamily="2" charset="0"/>
                <a:ea typeface="DejaVu Sans" pitchFamily="1" charset="0"/>
                <a:cs typeface="DejaVu Sans" pitchFamily="1" charset="0"/>
              </a:rPr>
              <a:t>describing data, data relationships, data semantics, and consistency constraints</a:t>
            </a:r>
            <a:r>
              <a:rPr lang="en-us" sz="2745" cap="none">
                <a:solidFill>
                  <a:srgbClr val="000000"/>
                </a:solidFill>
                <a:latin typeface="Calibri" pitchFamily="2" charset="0"/>
                <a:ea typeface="DejaVu Sans" pitchFamily="1" charset="0"/>
                <a:cs typeface="DejaVu Sans" pitchFamily="1" charset="0"/>
              </a:rPr>
              <a:t>. </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cap="none">
                <a:solidFill>
                  <a:srgbClr val="000000"/>
                </a:solidFill>
                <a:latin typeface="Calibri" pitchFamily="2" charset="0"/>
                <a:ea typeface="DejaVu Sans" pitchFamily="1" charset="0"/>
                <a:cs typeface="DejaVu Sans" pitchFamily="1" charset="0"/>
              </a:rPr>
              <a:t>A data model provides a way to describe the design of a database at the physical, logical, and view levels.</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b="1" cap="none">
                <a:solidFill>
                  <a:srgbClr val="000000"/>
                </a:solidFill>
                <a:latin typeface="Calibri" pitchFamily="2" charset="0"/>
                <a:ea typeface="DejaVu Sans" pitchFamily="1" charset="0"/>
                <a:cs typeface="DejaVu Sans" pitchFamily="1" charset="0"/>
              </a:rPr>
              <a:t>Data relationships </a:t>
            </a:r>
            <a:r>
              <a:rPr lang="en-us" sz="2745" cap="none">
                <a:solidFill>
                  <a:srgbClr val="000000"/>
                </a:solidFill>
                <a:latin typeface="Calibri" pitchFamily="2" charset="0"/>
                <a:ea typeface="DejaVu Sans" pitchFamily="1" charset="0"/>
                <a:cs typeface="DejaVu Sans" pitchFamily="1" charset="0"/>
              </a:rPr>
              <a:t>define the connections and associations between different data entities in a database.</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b="1" cap="none">
                <a:solidFill>
                  <a:srgbClr val="000000"/>
                </a:solidFill>
                <a:latin typeface="Calibri" pitchFamily="2" charset="0"/>
                <a:ea typeface="DejaVu Sans" pitchFamily="1" charset="0"/>
                <a:cs typeface="DejaVu Sans" pitchFamily="1" charset="0"/>
              </a:rPr>
              <a:t>Data semantics </a:t>
            </a:r>
            <a:r>
              <a:rPr lang="en-us" sz="2745" cap="none">
                <a:solidFill>
                  <a:srgbClr val="000000"/>
                </a:solidFill>
                <a:latin typeface="Calibri" pitchFamily="2" charset="0"/>
                <a:ea typeface="DejaVu Sans" pitchFamily="1" charset="0"/>
                <a:cs typeface="DejaVu Sans" pitchFamily="1" charset="0"/>
              </a:rPr>
              <a:t>refers to the meaning and interpretation of the data in a database.</a:t>
            </a:r>
            <a:endParaRPr lang="en-us" sz="2745" cap="none">
              <a:solidFill>
                <a:srgbClr val="000000"/>
              </a:solidFill>
            </a:endParaRPr>
          </a:p>
          <a:p>
            <a:pPr marL="227330" indent="-227330">
              <a:lnSpc>
                <a:spcPct val="90000"/>
              </a:lnSpc>
              <a:spcBef>
                <a:spcPts val="980"/>
              </a:spcBef>
              <a:buClrTx/>
              <a:buFont typeface="Arial" pitchFamily="2" charset="0"/>
              <a:buChar char="•"/>
            </a:pPr>
            <a:r>
              <a:rPr lang="en-us" sz="2745" b="1" cap="none">
                <a:solidFill>
                  <a:srgbClr val="000000"/>
                </a:solidFill>
                <a:latin typeface="Calibri" pitchFamily="2" charset="0"/>
                <a:ea typeface="DejaVu Sans" pitchFamily="1" charset="0"/>
                <a:cs typeface="DejaVu Sans" pitchFamily="1" charset="0"/>
              </a:rPr>
              <a:t>Consistency constraints </a:t>
            </a:r>
            <a:r>
              <a:rPr lang="en-us" sz="2745" cap="none">
                <a:solidFill>
                  <a:srgbClr val="000000"/>
                </a:solidFill>
                <a:latin typeface="Calibri" pitchFamily="2" charset="0"/>
                <a:ea typeface="DejaVu Sans" pitchFamily="1" charset="0"/>
                <a:cs typeface="DejaVu Sans" pitchFamily="1" charset="0"/>
              </a:rPr>
              <a:t>are rules and restrictions that govern the data in a database and ensure its accuracy and integrity.</a:t>
            </a:r>
            <a:endParaRPr lang="en-us" sz="2745" cap="none">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EsBAADWRQAA5AYAABAAAAAmAAAACAAAAL2QAAD/HwAA"/>
              </a:ext>
            </a:extLst>
          </p:cNvSpPr>
          <p:nvPr>
            <p:ph type="title"/>
          </p:nvPr>
        </p:nvSpPr>
        <p:spPr>
          <a:xfrm>
            <a:off x="838200" y="210185"/>
            <a:ext cx="10514330" cy="90995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 Models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NoHAADWRQAA7icAABAAAAAmAAAACAAAAD2RAAD/HwAA"/>
              </a:ext>
            </a:extLst>
          </p:cNvSpPr>
          <p:nvPr>
            <p:ph type="body"/>
          </p:nvPr>
        </p:nvSpPr>
        <p:spPr>
          <a:xfrm>
            <a:off x="838200" y="1276350"/>
            <a:ext cx="10514330" cy="521462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data models can be classified into four different categories:</a:t>
            </a:r>
            <a:endParaRPr lang="en-us" sz="2800" cap="none">
              <a:solidFill>
                <a:srgbClr val="000000"/>
              </a:solidFill>
            </a:endParaRPr>
          </a:p>
          <a:p>
            <a:pPr marL="914400" lvl="1" indent="-457200">
              <a:lnSpc>
                <a:spcPct val="90000"/>
              </a:lnSpc>
              <a:spcBef>
                <a:spcPts val="495"/>
              </a:spcBef>
              <a:buClrTx/>
              <a:buFont typeface="Arial" pitchFamily="2" charset="0"/>
              <a:buAutoNum type="arabicPeriod"/>
            </a:pPr>
            <a:r>
              <a:rPr lang="en-us" sz="2400" cap="none">
                <a:solidFill>
                  <a:srgbClr val="000000"/>
                </a:solidFill>
                <a:latin typeface="Calibri" pitchFamily="2" charset="0"/>
                <a:ea typeface="DejaVu Sans" pitchFamily="1" charset="0"/>
                <a:cs typeface="DejaVu Sans" pitchFamily="1" charset="0"/>
              </a:rPr>
              <a:t>Relational Model</a:t>
            </a:r>
            <a:endParaRPr lang="en-us" sz="2400" cap="none">
              <a:solidFill>
                <a:srgbClr val="000000"/>
              </a:solidFill>
            </a:endParaRPr>
          </a:p>
          <a:p>
            <a:pPr marL="1143000" lvl="2" indent="-228600">
              <a:lnSpc>
                <a:spcPct val="90000"/>
              </a:lnSpc>
              <a:spcBef>
                <a:spcPts val="495"/>
              </a:spcBef>
              <a:buClrTx/>
              <a:buFont typeface="Arial" pitchFamily="2" charset="0"/>
              <a:buChar char="•"/>
            </a:pPr>
            <a:r>
              <a:rPr lang="en-us" sz="2000" cap="none">
                <a:solidFill>
                  <a:srgbClr val="000000"/>
                </a:solidFill>
                <a:latin typeface="Calibri" pitchFamily="2" charset="0"/>
                <a:ea typeface="DejaVu Sans" pitchFamily="1" charset="0"/>
                <a:cs typeface="DejaVu Sans" pitchFamily="1" charset="0"/>
              </a:rPr>
              <a:t>The relational model uses a collection of tables to represent both data and the relationships among those data. Each table has multiple columns, and each column has a unique name. Tables are also known as relations.</a:t>
            </a:r>
            <a:endParaRPr lang="en-us" sz="2000" cap="none">
              <a:solidFill>
                <a:srgbClr val="000000"/>
              </a:solidFill>
            </a:endParaRPr>
          </a:p>
          <a:p>
            <a:pPr marL="914400" lvl="1" indent="-457200">
              <a:lnSpc>
                <a:spcPct val="90000"/>
              </a:lnSpc>
              <a:spcBef>
                <a:spcPts val="495"/>
              </a:spcBef>
              <a:buClrTx/>
              <a:buFont typeface="Arial" pitchFamily="2" charset="0"/>
              <a:buAutoNum type="arabicPeriod"/>
            </a:pPr>
            <a:r>
              <a:rPr lang="en-us" sz="2400" cap="none">
                <a:solidFill>
                  <a:srgbClr val="000000"/>
                </a:solidFill>
                <a:latin typeface="Calibri" pitchFamily="2" charset="0"/>
                <a:ea typeface="DejaVu Sans" pitchFamily="1" charset="0"/>
                <a:cs typeface="DejaVu Sans" pitchFamily="1" charset="0"/>
              </a:rPr>
              <a:t>Entity-Relationship Model</a:t>
            </a:r>
            <a:endParaRPr lang="en-us" sz="2400" cap="none">
              <a:solidFill>
                <a:srgbClr val="000000"/>
              </a:solidFill>
            </a:endParaRPr>
          </a:p>
          <a:p>
            <a:pPr marL="1143000" lvl="2" indent="-228600">
              <a:lnSpc>
                <a:spcPct val="90000"/>
              </a:lnSpc>
              <a:spcBef>
                <a:spcPts val="495"/>
              </a:spcBef>
              <a:buClrTx/>
              <a:buFont typeface="Arial" pitchFamily="2" charset="0"/>
              <a:buChar char="•"/>
            </a:pPr>
            <a:r>
              <a:rPr lang="en-us" sz="2000" cap="none">
                <a:solidFill>
                  <a:srgbClr val="000000"/>
                </a:solidFill>
                <a:latin typeface="Calibri" pitchFamily="2" charset="0"/>
                <a:ea typeface="DejaVu Sans" pitchFamily="1" charset="0"/>
                <a:cs typeface="DejaVu Sans" pitchFamily="1" charset="0"/>
              </a:rPr>
              <a:t>The entity-relationship (E-R) data model uses a collection of basic objects, called entities, and relationships among these objects.</a:t>
            </a:r>
            <a:endParaRPr lang="en-us" sz="2000" cap="none">
              <a:solidFill>
                <a:srgbClr val="000000"/>
              </a:solidFill>
            </a:endParaRPr>
          </a:p>
          <a:p>
            <a:pPr marL="914400" lvl="1" indent="-457200">
              <a:lnSpc>
                <a:spcPct val="90000"/>
              </a:lnSpc>
              <a:spcBef>
                <a:spcPts val="495"/>
              </a:spcBef>
              <a:buClrTx/>
              <a:buFont typeface="Arial" pitchFamily="2" charset="0"/>
              <a:buAutoNum type="arabicPeriod"/>
            </a:pPr>
            <a:r>
              <a:rPr lang="en-us" sz="2400" cap="none">
                <a:solidFill>
                  <a:srgbClr val="000000"/>
                </a:solidFill>
                <a:latin typeface="Calibri" pitchFamily="2" charset="0"/>
                <a:ea typeface="DejaVu Sans" pitchFamily="1" charset="0"/>
                <a:cs typeface="DejaVu Sans" pitchFamily="1" charset="0"/>
              </a:rPr>
              <a:t>Semi-structured Data Model</a:t>
            </a:r>
            <a:endParaRPr lang="en-us" sz="2400" cap="none">
              <a:solidFill>
                <a:srgbClr val="000000"/>
              </a:solidFill>
            </a:endParaRPr>
          </a:p>
          <a:p>
            <a:pPr marL="1143000" lvl="2" indent="-228600">
              <a:lnSpc>
                <a:spcPct val="90000"/>
              </a:lnSpc>
              <a:spcBef>
                <a:spcPts val="495"/>
              </a:spcBef>
              <a:buClrTx/>
              <a:buFont typeface="Arial" pitchFamily="2" charset="0"/>
              <a:buChar char="•"/>
            </a:pPr>
            <a:r>
              <a:rPr lang="en-us" sz="2000" cap="none">
                <a:solidFill>
                  <a:srgbClr val="000000"/>
                </a:solidFill>
                <a:latin typeface="Calibri" pitchFamily="2" charset="0"/>
                <a:ea typeface="DejaVu Sans" pitchFamily="1" charset="0"/>
                <a:cs typeface="DejaVu Sans" pitchFamily="1" charset="0"/>
              </a:rPr>
              <a:t>A semi-structured data model is a type of data model that does not enforce a specific schema or structure on the data, but allows the data to be organized and represented in a flexible and dynamic manner. (JSON)</a:t>
            </a:r>
            <a:endParaRPr lang="en-us" sz="2000" cap="none">
              <a:solidFill>
                <a:srgbClr val="000000"/>
              </a:solidFill>
            </a:endParaRPr>
          </a:p>
          <a:p>
            <a:pPr marL="914400" lvl="1" indent="-457200">
              <a:lnSpc>
                <a:spcPct val="90000"/>
              </a:lnSpc>
              <a:spcBef>
                <a:spcPts val="495"/>
              </a:spcBef>
              <a:buClrTx/>
              <a:buFont typeface="Arial" pitchFamily="2" charset="0"/>
              <a:buAutoNum type="arabicPeriod"/>
            </a:pPr>
            <a:r>
              <a:rPr lang="en-us" sz="2400" cap="none">
                <a:solidFill>
                  <a:srgbClr val="000000"/>
                </a:solidFill>
                <a:latin typeface="Calibri" pitchFamily="2" charset="0"/>
                <a:ea typeface="DejaVu Sans" pitchFamily="1" charset="0"/>
                <a:cs typeface="DejaVu Sans" pitchFamily="1" charset="0"/>
              </a:rPr>
              <a:t>Object-Based Data Model</a:t>
            </a:r>
            <a:endParaRPr lang="en-us" sz="2400" cap="none">
              <a:solidFill>
                <a:srgbClr val="000000"/>
              </a:solidFill>
            </a:endParaRPr>
          </a:p>
          <a:p>
            <a:pPr marL="1143000" lvl="2" indent="-228600">
              <a:lnSpc>
                <a:spcPct val="90000"/>
              </a:lnSpc>
              <a:spcBef>
                <a:spcPts val="495"/>
              </a:spcBef>
              <a:buClrTx/>
              <a:buFont typeface="Arial" pitchFamily="2" charset="0"/>
              <a:buChar char="•"/>
            </a:pPr>
            <a:r>
              <a:rPr lang="en-us" sz="2000" cap="none">
                <a:solidFill>
                  <a:srgbClr val="000000"/>
                </a:solidFill>
                <a:latin typeface="Calibri" pitchFamily="2" charset="0"/>
                <a:ea typeface="DejaVu Sans" pitchFamily="1" charset="0"/>
                <a:cs typeface="DejaVu Sans" pitchFamily="1" charset="0"/>
              </a:rPr>
              <a:t>An object-based data model is a type of data model that organizes data as a collection of objects, rather than as tables with rows and columns.</a:t>
            </a:r>
            <a:endParaRPr lang="en-us" sz="2000" cap="none">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UQcAABAAAAAmAAAACAAAAL2QAAD/HwAA"/>
              </a:ext>
            </a:extLst>
          </p:cNvSpPr>
          <p:nvPr>
            <p:ph type="title"/>
          </p:nvPr>
        </p:nvSpPr>
        <p:spPr>
          <a:xfrm>
            <a:off x="838200" y="365125"/>
            <a:ext cx="10514330" cy="824230"/>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dirty="0">
                <a:solidFill>
                  <a:srgbClr val="000000"/>
                </a:solidFill>
                <a:latin typeface="Calibri Light" charset="0"/>
                <a:ea typeface="Basic Roman" pitchFamily="1" charset="0"/>
                <a:cs typeface="Basic Roman" pitchFamily="1" charset="0"/>
              </a:rPr>
              <a:t>Instances and Schemas</a:t>
            </a:r>
            <a:endParaRPr lang="en-us" cap="none" dirty="0">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AYJAADWRQAA7ycAABAAAAAmAAAACAAAAD2RAAD/HwAA"/>
              </a:ext>
            </a:extLst>
          </p:cNvSpPr>
          <p:nvPr>
            <p:ph type="body"/>
          </p:nvPr>
        </p:nvSpPr>
        <p:spPr>
          <a:xfrm>
            <a:off x="838200" y="1466850"/>
            <a:ext cx="10514330" cy="5024755"/>
          </a:xfrm>
          <a:prstGeom prst="rect">
            <a:avLst/>
          </a:prstGeom>
          <a:noFill/>
          <a:ln>
            <a:noFill/>
          </a:ln>
        </p:spPr>
        <p:txBody>
          <a:bodyPr vert="horz" wrap="square" lIns="91440" tIns="45720" rIns="91440" bIns="45720" numCol="1" spcCol="215900" anchor="t">
            <a:prstTxWarp prst="textNoShape">
              <a:avLst/>
            </a:prstTxWarp>
          </a:bodyPr>
          <a:lstStyle/>
          <a:p>
            <a:pPr marL="245110" indent="-245110">
              <a:lnSpc>
                <a:spcPct val="90000"/>
              </a:lnSpc>
              <a:spcBef>
                <a:spcPts val="870"/>
              </a:spcBef>
              <a:buClrTx/>
              <a:buFont typeface="Arial" pitchFamily="2" charset="0"/>
              <a:buChar char="•"/>
              <a:defRPr sz="1565" cap="none"/>
            </a:pPr>
            <a:r>
              <a:rPr lang="en-us" sz="2435" cap="none" dirty="0">
                <a:solidFill>
                  <a:srgbClr val="000000"/>
                </a:solidFill>
                <a:latin typeface="Calibri" pitchFamily="2" charset="0"/>
                <a:ea typeface="DejaVu Sans" pitchFamily="1" charset="0"/>
                <a:cs typeface="DejaVu Sans" pitchFamily="1" charset="0"/>
              </a:rPr>
              <a:t>The collection of information stored in the database at a particular moment is called an </a:t>
            </a:r>
            <a:r>
              <a:rPr lang="en-us" sz="2435" cap="none" dirty="0">
                <a:solidFill>
                  <a:srgbClr val="FF0000"/>
                </a:solidFill>
                <a:latin typeface="Calibri" pitchFamily="2" charset="0"/>
                <a:ea typeface="DejaVu Sans" pitchFamily="1" charset="0"/>
                <a:cs typeface="DejaVu Sans" pitchFamily="1" charset="0"/>
              </a:rPr>
              <a:t>instance</a:t>
            </a:r>
            <a:r>
              <a:rPr lang="en-us" sz="2435" cap="none" dirty="0">
                <a:solidFill>
                  <a:srgbClr val="000000"/>
                </a:solidFill>
                <a:latin typeface="Calibri" pitchFamily="2" charset="0"/>
                <a:ea typeface="DejaVu Sans" pitchFamily="1" charset="0"/>
                <a:cs typeface="DejaVu Sans" pitchFamily="1" charset="0"/>
              </a:rPr>
              <a:t> of the database.</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cap="none" dirty="0">
                <a:solidFill>
                  <a:srgbClr val="000000"/>
                </a:solidFill>
                <a:latin typeface="Calibri" pitchFamily="2" charset="0"/>
                <a:ea typeface="DejaVu Sans" pitchFamily="1" charset="0"/>
                <a:cs typeface="DejaVu Sans" pitchFamily="1" charset="0"/>
              </a:rPr>
              <a:t>The overall design of the database is called the database </a:t>
            </a:r>
            <a:r>
              <a:rPr lang="en-us" sz="2435" cap="none" dirty="0">
                <a:solidFill>
                  <a:srgbClr val="C65911"/>
                </a:solidFill>
                <a:latin typeface="Calibri" pitchFamily="2" charset="0"/>
                <a:ea typeface="DejaVu Sans" pitchFamily="1" charset="0"/>
                <a:cs typeface="DejaVu Sans" pitchFamily="1" charset="0"/>
              </a:rPr>
              <a:t>schema</a:t>
            </a:r>
            <a:r>
              <a:rPr lang="en-us" sz="2435" cap="none" dirty="0">
                <a:solidFill>
                  <a:srgbClr val="000000"/>
                </a:solidFill>
                <a:latin typeface="Calibri" pitchFamily="2" charset="0"/>
                <a:ea typeface="DejaVu Sans" pitchFamily="1" charset="0"/>
                <a:cs typeface="DejaVu Sans" pitchFamily="1" charset="0"/>
              </a:rPr>
              <a:t> or blueprint of the database.</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cap="none" dirty="0">
                <a:solidFill>
                  <a:srgbClr val="000000"/>
                </a:solidFill>
                <a:latin typeface="Calibri" pitchFamily="2" charset="0"/>
                <a:ea typeface="DejaVu Sans" pitchFamily="1" charset="0"/>
                <a:cs typeface="DejaVu Sans" pitchFamily="1" charset="0"/>
              </a:rPr>
              <a:t>Two Types of Schema:- </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b="1" cap="none" dirty="0">
                <a:solidFill>
                  <a:srgbClr val="000000"/>
                </a:solidFill>
                <a:latin typeface="Calibri" pitchFamily="2" charset="0"/>
                <a:ea typeface="DejaVu Sans" pitchFamily="1" charset="0"/>
                <a:cs typeface="DejaVu Sans" pitchFamily="1" charset="0"/>
              </a:rPr>
              <a:t>Physical schema </a:t>
            </a:r>
            <a:r>
              <a:rPr lang="en-us" sz="2435" cap="none" dirty="0">
                <a:solidFill>
                  <a:srgbClr val="000000"/>
                </a:solidFill>
                <a:latin typeface="Calibri" pitchFamily="2" charset="0"/>
                <a:ea typeface="DejaVu Sans" pitchFamily="1" charset="0"/>
                <a:cs typeface="DejaVu Sans" pitchFamily="1" charset="0"/>
              </a:rPr>
              <a:t>refers to the way the database is physically stored on a storage device, such as a hard disk or solid-state drive.</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b="1" cap="none" dirty="0">
                <a:solidFill>
                  <a:srgbClr val="000000"/>
                </a:solidFill>
                <a:latin typeface="Calibri" pitchFamily="2" charset="0"/>
                <a:ea typeface="DejaVu Sans" pitchFamily="1" charset="0"/>
                <a:cs typeface="DejaVu Sans" pitchFamily="1" charset="0"/>
              </a:rPr>
              <a:t>Logical schema </a:t>
            </a:r>
            <a:r>
              <a:rPr lang="en-us" sz="2435" cap="none" dirty="0">
                <a:solidFill>
                  <a:srgbClr val="000000"/>
                </a:solidFill>
                <a:latin typeface="Calibri" pitchFamily="2" charset="0"/>
                <a:ea typeface="DejaVu Sans" pitchFamily="1" charset="0"/>
                <a:cs typeface="DejaVu Sans" pitchFamily="1" charset="0"/>
              </a:rPr>
              <a:t>refers to the high-level representation of the database structure, which defines the logical organization and relationship of the data.</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cap="none" dirty="0">
                <a:solidFill>
                  <a:srgbClr val="000000"/>
                </a:solidFill>
                <a:latin typeface="Calibri" pitchFamily="2" charset="0"/>
                <a:ea typeface="DejaVu Sans" pitchFamily="1" charset="0"/>
                <a:cs typeface="DejaVu Sans" pitchFamily="1" charset="0"/>
              </a:rPr>
              <a:t>Schemas at the view level, sometimes called </a:t>
            </a:r>
            <a:r>
              <a:rPr lang="en-us" sz="2435" b="1" cap="none" dirty="0">
                <a:solidFill>
                  <a:srgbClr val="000000"/>
                </a:solidFill>
                <a:latin typeface="Calibri" pitchFamily="2" charset="0"/>
                <a:ea typeface="DejaVu Sans" pitchFamily="1" charset="0"/>
                <a:cs typeface="DejaVu Sans" pitchFamily="1" charset="0"/>
              </a:rPr>
              <a:t>subschemas.</a:t>
            </a:r>
            <a:endParaRPr lang="en-us" sz="2435" cap="none" dirty="0">
              <a:solidFill>
                <a:srgbClr val="000000"/>
              </a:solidFill>
            </a:endParaRPr>
          </a:p>
          <a:p>
            <a:pPr marL="245110" indent="-245110">
              <a:lnSpc>
                <a:spcPct val="90000"/>
              </a:lnSpc>
              <a:spcBef>
                <a:spcPts val="870"/>
              </a:spcBef>
              <a:buClrTx/>
              <a:buFont typeface="Arial" pitchFamily="2" charset="0"/>
              <a:buChar char="•"/>
              <a:defRPr sz="1565" cap="none"/>
            </a:pPr>
            <a:r>
              <a:rPr lang="en-us" sz="2435" b="1" cap="none" dirty="0">
                <a:solidFill>
                  <a:srgbClr val="000000"/>
                </a:solidFill>
                <a:latin typeface="Calibri" pitchFamily="2" charset="0"/>
                <a:ea typeface="DejaVu Sans" pitchFamily="1" charset="0"/>
                <a:cs typeface="DejaVu Sans" pitchFamily="1" charset="0"/>
              </a:rPr>
              <a:t>Physical data independence </a:t>
            </a:r>
            <a:r>
              <a:rPr lang="en-us" sz="2435" cap="none" dirty="0">
                <a:solidFill>
                  <a:srgbClr val="000000"/>
                </a:solidFill>
                <a:latin typeface="Calibri" pitchFamily="2" charset="0"/>
                <a:ea typeface="DejaVu Sans" pitchFamily="1" charset="0"/>
                <a:cs typeface="DejaVu Sans" pitchFamily="1" charset="0"/>
              </a:rPr>
              <a:t>is the ability to modify the physical schema of a database without affecting the logical schema or the applications that use the database.</a:t>
            </a:r>
            <a:endParaRPr lang="en-us" sz="2435" cap="none" dirty="0">
              <a:solidFill>
                <a:srgbClr val="000000"/>
              </a:solidFill>
            </a:endParaRPr>
          </a:p>
          <a:p>
            <a:pPr indent="0" defTabSz="914400">
              <a:lnSpc>
                <a:spcPct val="90000"/>
              </a:lnSpc>
              <a:spcBef>
                <a:spcPts val="870"/>
              </a:spcBef>
              <a:buNone/>
              <a:tabLst>
                <a:tab pos="0" algn="l"/>
              </a:tabLst>
              <a:defRPr sz="1565" cap="none"/>
            </a:pPr>
            <a:endParaRPr lang="en-us" sz="2435" cap="none" dirty="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MYQAAB/AQAAaTUAALcmAAAQAAAAJgAAAAgAAAD//////////w=="/>
              </a:ext>
            </a:extLst>
          </p:cNvPicPr>
          <p:nvPr/>
        </p:nvPicPr>
        <p:blipFill>
          <a:blip r:embed="rId2"/>
          <a:stretch>
            <a:fillRect/>
          </a:stretch>
        </p:blipFill>
        <p:spPr>
          <a:xfrm>
            <a:off x="2726690" y="243205"/>
            <a:ext cx="5955665" cy="6050280"/>
          </a:xfrm>
          <a:prstGeom prst="rect">
            <a:avLst/>
          </a:prstGeom>
          <a:noFill/>
          <a:ln>
            <a:noFill/>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Language </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database language is a computer programming language that is used to define, manipulate, and query databases.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a:t>
            </a:r>
            <a:r>
              <a:rPr lang="en-us" sz="2800" b="1" cap="none">
                <a:solidFill>
                  <a:srgbClr val="000000"/>
                </a:solidFill>
                <a:latin typeface="Calibri" pitchFamily="2" charset="0"/>
                <a:ea typeface="DejaVu Sans" pitchFamily="1" charset="0"/>
                <a:cs typeface="DejaVu Sans" pitchFamily="1" charset="0"/>
              </a:rPr>
              <a:t>data-manipulation language (DML) </a:t>
            </a:r>
            <a:r>
              <a:rPr lang="en-us" sz="2800" cap="none">
                <a:solidFill>
                  <a:srgbClr val="000000"/>
                </a:solidFill>
                <a:latin typeface="Calibri" pitchFamily="2" charset="0"/>
                <a:ea typeface="DejaVu Sans" pitchFamily="1" charset="0"/>
                <a:cs typeface="DejaVu Sans" pitchFamily="1" charset="0"/>
              </a:rPr>
              <a:t>is a language that enables users to access or manipulate data as organized by the appropriate data model. The types of access are: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Retrieval of information stored in the database (SELECT)</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insertion of new information into the database (INSERT)</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Deletion of information from the database (DELETE)</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Modification of information stored in the database (UPDATE)</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a:t>
            </a:r>
            <a:r>
              <a:rPr lang="en-us" sz="2800" b="1" cap="none">
                <a:solidFill>
                  <a:srgbClr val="000000"/>
                </a:solidFill>
                <a:latin typeface="Calibri" pitchFamily="2" charset="0"/>
                <a:ea typeface="DejaVu Sans" pitchFamily="1" charset="0"/>
                <a:cs typeface="DejaVu Sans" pitchFamily="1" charset="0"/>
              </a:rPr>
              <a:t>query </a:t>
            </a:r>
            <a:r>
              <a:rPr lang="en-us" sz="2800" cap="none">
                <a:solidFill>
                  <a:srgbClr val="000000"/>
                </a:solidFill>
                <a:latin typeface="Calibri" pitchFamily="2" charset="0"/>
                <a:ea typeface="DejaVu Sans" pitchFamily="1" charset="0"/>
                <a:cs typeface="DejaVu Sans" pitchFamily="1" charset="0"/>
              </a:rPr>
              <a:t>is a statement requesting the retrieval of information. </a:t>
            </a:r>
            <a:endParaRPr lang="en-us" sz="2800" cap="none">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gS1i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Language </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Data Definition Language (DDL) is a type of database language used to define and manage the structure of a database. It is used to create, modify (Alter), and delete (drop) </a:t>
            </a:r>
            <a:r>
              <a:rPr lang="en-us" sz="2800" b="1" cap="none">
                <a:solidFill>
                  <a:srgbClr val="000000"/>
                </a:solidFill>
                <a:latin typeface="Calibri" pitchFamily="2" charset="0"/>
                <a:ea typeface="DejaVu Sans" pitchFamily="1" charset="0"/>
                <a:cs typeface="DejaVu Sans" pitchFamily="1" charset="0"/>
              </a:rPr>
              <a:t>database objects such as tables, indexes, views, and procedures.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storage structure and access methods used by the database system by a set of statements in a special type of DDL called a </a:t>
            </a:r>
            <a:r>
              <a:rPr lang="en-us" sz="2800" b="1" cap="none">
                <a:solidFill>
                  <a:srgbClr val="000000"/>
                </a:solidFill>
                <a:latin typeface="Calibri" pitchFamily="2" charset="0"/>
                <a:ea typeface="DejaVu Sans" pitchFamily="1" charset="0"/>
                <a:cs typeface="DejaVu Sans" pitchFamily="1" charset="0"/>
              </a:rPr>
              <a:t>data storage and definition language.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data values stored in the database must satisfy certain </a:t>
            </a:r>
            <a:r>
              <a:rPr lang="en-us" sz="2800" b="1" cap="none">
                <a:solidFill>
                  <a:srgbClr val="000000"/>
                </a:solidFill>
                <a:latin typeface="Calibri" pitchFamily="2" charset="0"/>
                <a:ea typeface="DejaVu Sans" pitchFamily="1" charset="0"/>
                <a:cs typeface="DejaVu Sans" pitchFamily="1" charset="0"/>
              </a:rPr>
              <a:t>consistency constraints</a:t>
            </a:r>
            <a:r>
              <a:rPr lang="en-us" sz="2800" cap="none">
                <a:solidFill>
                  <a:srgbClr val="000000"/>
                </a:solidFill>
                <a:latin typeface="Calibri" pitchFamily="2" charset="0"/>
                <a:ea typeface="DejaVu Sans" pitchFamily="1" charset="0"/>
                <a:cs typeface="DejaVu Sans" pitchFamily="1" charset="0"/>
              </a:rPr>
              <a:t>.</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User and Administrators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4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19710" indent="-21971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People who work with a database can be categorized as database users or database administrators.</a:t>
            </a:r>
            <a:endParaRPr lang="en-us" sz="2350" cap="none">
              <a:solidFill>
                <a:srgbClr val="000000"/>
              </a:solidFill>
            </a:endParaRPr>
          </a:p>
          <a:p>
            <a:pPr marL="219710" indent="-219710" algn="ctr">
              <a:lnSpc>
                <a:spcPct val="90000"/>
              </a:lnSpc>
              <a:spcBef>
                <a:spcPts val="840"/>
              </a:spcBef>
              <a:buClrTx/>
              <a:buFont typeface="Arial" pitchFamily="2" charset="0"/>
              <a:buChar char="•"/>
              <a:defRPr sz="1510" cap="none"/>
            </a:pPr>
            <a:r>
              <a:rPr lang="en-us" sz="2350" b="1" cap="none">
                <a:solidFill>
                  <a:srgbClr val="000000"/>
                </a:solidFill>
                <a:latin typeface="Calibri" pitchFamily="2" charset="0"/>
                <a:ea typeface="DejaVu Sans" pitchFamily="1" charset="0"/>
                <a:cs typeface="DejaVu Sans" pitchFamily="1" charset="0"/>
              </a:rPr>
              <a:t>Database User</a:t>
            </a:r>
            <a:endParaRPr lang="en-us" sz="2350" cap="none">
              <a:solidFill>
                <a:srgbClr val="000000"/>
              </a:solidFill>
            </a:endParaRPr>
          </a:p>
          <a:p>
            <a:pPr marL="219710" indent="-21971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There are four different types of database-system users, differentiated by the way they expect to interact with the system.</a:t>
            </a:r>
            <a:endParaRPr lang="en-us" sz="2350" cap="none">
              <a:solidFill>
                <a:srgbClr val="000000"/>
              </a:solidFill>
            </a:endParaRPr>
          </a:p>
          <a:p>
            <a:pPr marL="219710" indent="-219710">
              <a:lnSpc>
                <a:spcPct val="90000"/>
              </a:lnSpc>
              <a:spcBef>
                <a:spcPts val="840"/>
              </a:spcBef>
              <a:buClrTx/>
              <a:buFont typeface="Arial" pitchFamily="2" charset="0"/>
              <a:buChar char="•"/>
              <a:defRPr sz="1510" cap="none"/>
            </a:pPr>
            <a:r>
              <a:rPr lang="en-us" sz="2350" b="1" cap="none">
                <a:solidFill>
                  <a:srgbClr val="000000"/>
                </a:solidFill>
                <a:latin typeface="Calibri" pitchFamily="2" charset="0"/>
                <a:ea typeface="DejaVu Sans" pitchFamily="1" charset="0"/>
                <a:cs typeface="DejaVu Sans" pitchFamily="1" charset="0"/>
              </a:rPr>
              <a:t>Naive users </a:t>
            </a:r>
            <a:r>
              <a:rPr lang="en-us" sz="2350" cap="none">
                <a:solidFill>
                  <a:srgbClr val="000000"/>
                </a:solidFill>
                <a:latin typeface="Calibri" pitchFamily="2" charset="0"/>
                <a:ea typeface="DejaVu Sans" pitchFamily="1" charset="0"/>
                <a:cs typeface="DejaVu Sans" pitchFamily="1" charset="0"/>
              </a:rPr>
              <a:t>are unsophisticated users who interact with the system by invoking one of the application programs that have been written previously.</a:t>
            </a:r>
            <a:endParaRPr lang="en-us" sz="2350" cap="none">
              <a:solidFill>
                <a:srgbClr val="000000"/>
              </a:solidFill>
            </a:endParaRPr>
          </a:p>
          <a:p>
            <a:pPr marL="219710" indent="-219710">
              <a:lnSpc>
                <a:spcPct val="90000"/>
              </a:lnSpc>
              <a:spcBef>
                <a:spcPts val="840"/>
              </a:spcBef>
              <a:buClrTx/>
              <a:buFont typeface="Arial" pitchFamily="2" charset="0"/>
              <a:buChar char="•"/>
              <a:defRPr sz="1510" cap="none"/>
            </a:pPr>
            <a:r>
              <a:rPr lang="en-us" sz="2350" b="1" cap="none">
                <a:solidFill>
                  <a:srgbClr val="000000"/>
                </a:solidFill>
                <a:latin typeface="Calibri" pitchFamily="2" charset="0"/>
                <a:ea typeface="DejaVu Sans" pitchFamily="1" charset="0"/>
                <a:cs typeface="DejaVu Sans" pitchFamily="1" charset="0"/>
              </a:rPr>
              <a:t>Application programmers</a:t>
            </a:r>
            <a:r>
              <a:rPr lang="en-us" sz="2350" cap="none">
                <a:solidFill>
                  <a:srgbClr val="000000"/>
                </a:solidFill>
                <a:latin typeface="Calibri" pitchFamily="2" charset="0"/>
                <a:ea typeface="DejaVu Sans" pitchFamily="1" charset="0"/>
                <a:cs typeface="DejaVu Sans" pitchFamily="1" charset="0"/>
              </a:rPr>
              <a:t> are computer professionals who write application programs. Application programmers can choose from many tools to develop user interfaces. </a:t>
            </a:r>
            <a:endParaRPr lang="en-us" sz="2350" cap="none">
              <a:solidFill>
                <a:srgbClr val="000000"/>
              </a:solidFill>
            </a:endParaRPr>
          </a:p>
          <a:p>
            <a:pPr marL="219710" indent="-21971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Rapid application development (RAD)tools are tools that enable an application programmer to construct forms and reports without writing a program.</a:t>
            </a:r>
            <a:endParaRPr lang="en-us" sz="2350" cap="none">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User and Administrators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38125" indent="-238125">
              <a:lnSpc>
                <a:spcPct val="90000"/>
              </a:lnSpc>
              <a:spcBef>
                <a:spcPts val="910"/>
              </a:spcBef>
              <a:buClrTx/>
              <a:buFont typeface="Arial" pitchFamily="2" charset="0"/>
              <a:buChar char="•"/>
              <a:defRPr sz="1640" cap="none"/>
            </a:pPr>
            <a:r>
              <a:rPr lang="en-us" sz="2550" b="1" cap="none">
                <a:solidFill>
                  <a:srgbClr val="000000"/>
                </a:solidFill>
                <a:latin typeface="Calibri" pitchFamily="2" charset="0"/>
                <a:ea typeface="DejaVu Sans" pitchFamily="1" charset="0"/>
                <a:cs typeface="DejaVu Sans" pitchFamily="1" charset="0"/>
              </a:rPr>
              <a:t>Sophisticated users </a:t>
            </a:r>
            <a:r>
              <a:rPr lang="en-us" sz="2550" cap="none">
                <a:solidFill>
                  <a:srgbClr val="000000"/>
                </a:solidFill>
                <a:latin typeface="Calibri" pitchFamily="2" charset="0"/>
                <a:ea typeface="DejaVu Sans" pitchFamily="1" charset="0"/>
                <a:cs typeface="DejaVu Sans" pitchFamily="1" charset="0"/>
              </a:rPr>
              <a:t>interact with the system without writing programs. Instead, they form their requests in a database query language.</a:t>
            </a:r>
            <a:endParaRPr lang="en-us" sz="2550" cap="none">
              <a:solidFill>
                <a:srgbClr val="000000"/>
              </a:solidFill>
            </a:endParaRPr>
          </a:p>
          <a:p>
            <a:pPr marL="238125" indent="-238125" algn="ctr">
              <a:lnSpc>
                <a:spcPct val="90000"/>
              </a:lnSpc>
              <a:spcBef>
                <a:spcPts val="910"/>
              </a:spcBef>
              <a:buClrTx/>
              <a:buFont typeface="Arial" pitchFamily="2" charset="0"/>
              <a:buChar char="•"/>
              <a:defRPr sz="1640" cap="none"/>
            </a:pPr>
            <a:r>
              <a:rPr lang="en-us" sz="2550" b="1" cap="none">
                <a:solidFill>
                  <a:srgbClr val="000000"/>
                </a:solidFill>
                <a:latin typeface="Calibri" pitchFamily="2" charset="0"/>
                <a:ea typeface="DejaVu Sans" pitchFamily="1" charset="0"/>
                <a:cs typeface="DejaVu Sans" pitchFamily="1" charset="0"/>
              </a:rPr>
              <a:t>Database Administrator</a:t>
            </a:r>
            <a:endParaRPr lang="en-us" sz="2550" cap="none">
              <a:solidFill>
                <a:srgbClr val="000000"/>
              </a:solidFill>
            </a:endParaRPr>
          </a:p>
          <a:p>
            <a:pPr marL="238125" indent="-238125">
              <a:lnSpc>
                <a:spcPct val="90000"/>
              </a:lnSpc>
              <a:spcBef>
                <a:spcPts val="910"/>
              </a:spcBef>
              <a:buClrTx/>
              <a:buFont typeface="Arial" pitchFamily="2" charset="0"/>
              <a:buChar char="•"/>
              <a:defRPr sz="1640" cap="none"/>
            </a:pPr>
            <a:r>
              <a:rPr lang="en-us" sz="2550" cap="none">
                <a:solidFill>
                  <a:srgbClr val="000000"/>
                </a:solidFill>
                <a:latin typeface="Calibri" pitchFamily="2" charset="0"/>
                <a:ea typeface="DejaVu Sans" pitchFamily="1" charset="0"/>
                <a:cs typeface="DejaVu Sans" pitchFamily="1" charset="0"/>
              </a:rPr>
              <a:t>A person who has such central control over the system is called a database administrator (DBA). The functions of a DBA include:</a:t>
            </a:r>
            <a:endParaRPr lang="en-us" sz="2550" cap="none">
              <a:solidFill>
                <a:srgbClr val="000000"/>
              </a:solidFill>
            </a:endParaRPr>
          </a:p>
          <a:p>
            <a:pPr marL="536575" indent="-536575">
              <a:lnSpc>
                <a:spcPct val="90000"/>
              </a:lnSpc>
              <a:spcBef>
                <a:spcPts val="910"/>
              </a:spcBef>
              <a:buClrTx/>
              <a:buFont typeface="Calibri Light" charset="0"/>
              <a:buAutoNum type="arabicPeriod"/>
              <a:defRPr sz="1640" cap="none"/>
            </a:pPr>
            <a:r>
              <a:rPr lang="en-us" sz="2550" cap="none">
                <a:solidFill>
                  <a:srgbClr val="000000"/>
                </a:solidFill>
                <a:latin typeface="Calibri" pitchFamily="2" charset="0"/>
                <a:ea typeface="DejaVu Sans" pitchFamily="1" charset="0"/>
                <a:cs typeface="DejaVu Sans" pitchFamily="1" charset="0"/>
              </a:rPr>
              <a:t>Schema definition</a:t>
            </a:r>
            <a:endParaRPr lang="en-us" sz="2550" cap="none">
              <a:solidFill>
                <a:srgbClr val="000000"/>
              </a:solidFill>
            </a:endParaRPr>
          </a:p>
          <a:p>
            <a:pPr marL="536575" indent="-536575">
              <a:lnSpc>
                <a:spcPct val="90000"/>
              </a:lnSpc>
              <a:spcBef>
                <a:spcPts val="910"/>
              </a:spcBef>
              <a:buClrTx/>
              <a:buFont typeface="Calibri Light" charset="0"/>
              <a:buAutoNum type="arabicPeriod"/>
              <a:defRPr sz="1640" cap="none"/>
            </a:pPr>
            <a:r>
              <a:rPr lang="en-us" sz="2550" cap="none">
                <a:solidFill>
                  <a:srgbClr val="000000"/>
                </a:solidFill>
                <a:latin typeface="Calibri" pitchFamily="2" charset="0"/>
                <a:ea typeface="DejaVu Sans" pitchFamily="1" charset="0"/>
                <a:cs typeface="DejaVu Sans" pitchFamily="1" charset="0"/>
              </a:rPr>
              <a:t>Storage structure and access-method definition</a:t>
            </a:r>
            <a:endParaRPr lang="en-us" sz="2550" cap="none">
              <a:solidFill>
                <a:srgbClr val="000000"/>
              </a:solidFill>
            </a:endParaRPr>
          </a:p>
          <a:p>
            <a:pPr marL="536575" indent="-536575">
              <a:lnSpc>
                <a:spcPct val="90000"/>
              </a:lnSpc>
              <a:spcBef>
                <a:spcPts val="910"/>
              </a:spcBef>
              <a:buClrTx/>
              <a:buFont typeface="Calibri Light" charset="0"/>
              <a:buAutoNum type="arabicPeriod"/>
              <a:defRPr sz="1640" cap="none"/>
            </a:pPr>
            <a:r>
              <a:rPr lang="en-us" sz="2550" cap="none">
                <a:solidFill>
                  <a:srgbClr val="000000"/>
                </a:solidFill>
                <a:latin typeface="Calibri" pitchFamily="2" charset="0"/>
                <a:ea typeface="DejaVu Sans" pitchFamily="1" charset="0"/>
                <a:cs typeface="DejaVu Sans" pitchFamily="1" charset="0"/>
              </a:rPr>
              <a:t>Schema and physical-organization modification</a:t>
            </a:r>
            <a:endParaRPr lang="en-us" sz="2550" cap="none">
              <a:solidFill>
                <a:srgbClr val="000000"/>
              </a:solidFill>
            </a:endParaRPr>
          </a:p>
          <a:p>
            <a:pPr marL="536575" indent="-536575">
              <a:lnSpc>
                <a:spcPct val="90000"/>
              </a:lnSpc>
              <a:spcBef>
                <a:spcPts val="910"/>
              </a:spcBef>
              <a:buClrTx/>
              <a:buFont typeface="Calibri Light" charset="0"/>
              <a:buAutoNum type="arabicPeriod"/>
              <a:defRPr sz="1640" cap="none"/>
            </a:pPr>
            <a:r>
              <a:rPr lang="en-us" sz="2550" cap="none">
                <a:solidFill>
                  <a:srgbClr val="000000"/>
                </a:solidFill>
                <a:latin typeface="Calibri" pitchFamily="2" charset="0"/>
                <a:ea typeface="DejaVu Sans" pitchFamily="1" charset="0"/>
                <a:cs typeface="DejaVu Sans" pitchFamily="1" charset="0"/>
              </a:rPr>
              <a:t>Granting of authorization for data access</a:t>
            </a:r>
            <a:endParaRPr lang="en-us" sz="2550" cap="none">
              <a:solidFill>
                <a:srgbClr val="000000"/>
              </a:solidFill>
            </a:endParaRPr>
          </a:p>
          <a:p>
            <a:pPr marL="536575" indent="-536575">
              <a:lnSpc>
                <a:spcPct val="90000"/>
              </a:lnSpc>
              <a:spcBef>
                <a:spcPts val="910"/>
              </a:spcBef>
              <a:buClrTx/>
              <a:buFont typeface="Calibri Light" charset="0"/>
              <a:buAutoNum type="arabicPeriod"/>
              <a:defRPr sz="1640" cap="none"/>
            </a:pPr>
            <a:r>
              <a:rPr lang="en-us" sz="2550" cap="none">
                <a:solidFill>
                  <a:srgbClr val="000000"/>
                </a:solidFill>
                <a:latin typeface="Calibri" pitchFamily="2" charset="0"/>
                <a:ea typeface="DejaVu Sans" pitchFamily="1" charset="0"/>
                <a:cs typeface="DejaVu Sans" pitchFamily="1" charset="0"/>
              </a:rPr>
              <a:t>Routine maintenance</a:t>
            </a:r>
            <a:endParaRPr lang="en-us" sz="2550" cap="none">
              <a:solidFill>
                <a:srgbClr val="000000"/>
              </a:solidFill>
            </a:endParaRPr>
          </a:p>
          <a:p>
            <a:pPr indent="0" defTabSz="914400">
              <a:lnSpc>
                <a:spcPct val="90000"/>
              </a:lnSpc>
              <a:spcBef>
                <a:spcPts val="910"/>
              </a:spcBef>
              <a:buNone/>
              <a:tabLst>
                <a:tab pos="0" algn="l"/>
              </a:tabLst>
              <a:defRPr sz="1640" cap="none"/>
            </a:pPr>
            <a:endParaRPr lang="en-us" sz="2550" cap="none">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k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Application Architecture</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gAN9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application architecture of a DBMS refers to the way that the DBMS is integrated into an overall application or system.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It includes the </a:t>
            </a:r>
            <a:r>
              <a:rPr lang="en-us" sz="2800" b="1" cap="none">
                <a:solidFill>
                  <a:srgbClr val="000000"/>
                </a:solidFill>
                <a:latin typeface="Calibri" pitchFamily="2" charset="0"/>
                <a:ea typeface="DejaVu Sans" pitchFamily="1" charset="0"/>
                <a:cs typeface="DejaVu Sans" pitchFamily="1" charset="0"/>
              </a:rPr>
              <a:t>design and implementation of the software components that interact with the DBMS and how they are organized to meet the needs of the application.</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Centralized, client-server, and distributed are three common architectures for database management systems (DBMS).</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Application Architecture</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functional components of a database system can be broadly divided into the </a:t>
            </a:r>
            <a:r>
              <a:rPr lang="en-us" sz="2800" b="1" cap="none">
                <a:solidFill>
                  <a:srgbClr val="000000"/>
                </a:solidFill>
                <a:latin typeface="Calibri" pitchFamily="2" charset="0"/>
                <a:ea typeface="DejaVu Sans" pitchFamily="1" charset="0"/>
                <a:cs typeface="DejaVu Sans" pitchFamily="1" charset="0"/>
              </a:rPr>
              <a:t>storage manager </a:t>
            </a:r>
            <a:r>
              <a:rPr lang="en-us" sz="2800" cap="none">
                <a:solidFill>
                  <a:srgbClr val="000000"/>
                </a:solidFill>
                <a:latin typeface="Calibri" pitchFamily="2" charset="0"/>
                <a:ea typeface="DejaVu Sans" pitchFamily="1" charset="0"/>
                <a:cs typeface="DejaVu Sans" pitchFamily="1" charset="0"/>
              </a:rPr>
              <a:t>and the </a:t>
            </a:r>
            <a:r>
              <a:rPr lang="en-us" sz="2800" b="1" cap="none">
                <a:solidFill>
                  <a:srgbClr val="000000"/>
                </a:solidFill>
                <a:latin typeface="Calibri" pitchFamily="2" charset="0"/>
                <a:ea typeface="DejaVu Sans" pitchFamily="1" charset="0"/>
                <a:cs typeface="DejaVu Sans" pitchFamily="1" charset="0"/>
              </a:rPr>
              <a:t>query processor </a:t>
            </a:r>
            <a:r>
              <a:rPr lang="en-us" sz="2800" cap="none">
                <a:solidFill>
                  <a:srgbClr val="000000"/>
                </a:solidFill>
                <a:latin typeface="Calibri" pitchFamily="2" charset="0"/>
                <a:ea typeface="DejaVu Sans" pitchFamily="1" charset="0"/>
                <a:cs typeface="DejaVu Sans" pitchFamily="1" charset="0"/>
              </a:rPr>
              <a:t>components.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storage manager is important because databases typically require a large amount of storage space.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query processor is important because it helps the database system simplify and facilitate access to data.</a:t>
            </a:r>
            <a:endParaRPr lang="en-us" sz="2800" cap="none">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raw,database system architecture, DBMS, Following is a flowchart drawing  of Database system architecture. | Dbms, Database system, System  architecture"/>
          <p:cNvPicPr>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IcPAABuAgAAeTwAAA0pAAAQAAAAJgAAAAgAAAD//////////w=="/>
              </a:ext>
            </a:extLst>
          </p:cNvPicPr>
          <p:nvPr/>
        </p:nvPicPr>
        <p:blipFill>
          <a:blip r:embed="rId3"/>
          <a:stretch>
            <a:fillRect/>
          </a:stretch>
        </p:blipFill>
        <p:spPr>
          <a:xfrm>
            <a:off x="2524125" y="394970"/>
            <a:ext cx="7306310" cy="6278245"/>
          </a:xfrm>
          <a:prstGeom prst="rect">
            <a:avLst/>
          </a:prstGeom>
          <a:noFill/>
          <a:ln>
            <a:no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MbS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Application Architecture</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b="1" cap="none">
                <a:solidFill>
                  <a:srgbClr val="000000"/>
                </a:solidFill>
                <a:latin typeface="Calibri" pitchFamily="2" charset="0"/>
                <a:ea typeface="DejaVu Sans" pitchFamily="1" charset="0"/>
                <a:cs typeface="DejaVu Sans" pitchFamily="1" charset="0"/>
              </a:rPr>
              <a:t>Two-Tier Architecture</a:t>
            </a:r>
            <a:r>
              <a:rPr lang="en-us" sz="2800" cap="none">
                <a:solidFill>
                  <a:srgbClr val="000000"/>
                </a:solidFill>
                <a:latin typeface="Calibri" pitchFamily="2" charset="0"/>
                <a:ea typeface="DejaVu Sans" pitchFamily="1" charset="0"/>
                <a:cs typeface="DejaVu Sans" pitchFamily="1" charset="0"/>
              </a:rPr>
              <a:t>: In a two-tier architecture, the client application interacts directly with the database server.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client application is responsible for user interface and business logic, while the database server handles data storage and retrieval.</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client application invoked database system functionality at the server machine through query language statements.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 This architecture is also known as </a:t>
            </a:r>
            <a:r>
              <a:rPr lang="en-us" sz="2800" b="1" cap="none">
                <a:solidFill>
                  <a:srgbClr val="000000"/>
                </a:solidFill>
                <a:latin typeface="Calibri" pitchFamily="2" charset="0"/>
                <a:ea typeface="DejaVu Sans" pitchFamily="1" charset="0"/>
                <a:cs typeface="DejaVu Sans" pitchFamily="1" charset="0"/>
              </a:rPr>
              <a:t>client-server architecture</a:t>
            </a:r>
            <a:r>
              <a:rPr lang="en-us" sz="2800" cap="none">
                <a:solidFill>
                  <a:srgbClr val="000000"/>
                </a:solidFill>
                <a:latin typeface="Calibri" pitchFamily="2" charset="0"/>
                <a:ea typeface="DejaVu Sans" pitchFamily="1" charset="0"/>
                <a:cs typeface="DejaVu Sans" pitchFamily="1" charset="0"/>
              </a:rPr>
              <a:t>.</a:t>
            </a:r>
            <a:endParaRPr lang="en-us" sz="2800" cap="none">
              <a:solidFill>
                <a:srgbClr val="000000"/>
              </a:solidFill>
            </a:endParaRPr>
          </a:p>
          <a:p>
            <a:pPr marL="228600" indent="0" defTabSz="914400">
              <a:lnSpc>
                <a:spcPct val="90000"/>
              </a:lnSpc>
              <a:spcBef>
                <a:spcPts val="1000"/>
              </a:spcBef>
              <a:buNone/>
              <a:tabLst>
                <a:tab pos="0" algn="l"/>
              </a:tabLst>
            </a:pPr>
            <a:r>
              <a:rPr lang="en-us" sz="2800" cap="none">
                <a:solidFill>
                  <a:srgbClr val="000000"/>
                </a:solidFill>
                <a:latin typeface="Calibri" pitchFamily="2" charset="0"/>
                <a:ea typeface="DejaVu Sans" pitchFamily="1" charset="0"/>
                <a:cs typeface="DejaVu Sans" pitchFamily="1" charset="0"/>
              </a:rPr>
              <a:t> </a:t>
            </a:r>
            <a:endParaRPr lang="en-us" sz="2800" cap="none">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0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QgAABAAAAAmAAAACAAAAL2QAAD/HwAA"/>
              </a:ext>
            </a:extLst>
          </p:cNvSpPr>
          <p:nvPr>
            <p:ph type="title"/>
          </p:nvPr>
        </p:nvSpPr>
        <p:spPr>
          <a:xfrm>
            <a:off x="609600" y="273685"/>
            <a:ext cx="10971530" cy="1144270"/>
          </a:xfrm>
          <a:noFill/>
          <a:ln>
            <a:noFill/>
          </a:ln>
        </p:spPr>
        <p:txBody>
          <a:bodyPr vert="horz" wrap="square" lIns="0" tIns="0" rIns="0" bIns="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Application Architecture</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rdb0ZhMAAAAlAAAAEg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SIAABAAAAAmAAAACAAAAD2RAAD/HwAA"/>
              </a:ext>
            </a:extLst>
          </p:cNvSpPr>
          <p:nvPr>
            <p:ph type="body"/>
          </p:nvPr>
        </p:nvSpPr>
        <p:spPr>
          <a:xfrm>
            <a:off x="609600" y="1604645"/>
            <a:ext cx="10971530" cy="3976370"/>
          </a:xfrm>
          <a:prstGeom prst="rect">
            <a:avLst/>
          </a:prstGeom>
          <a:noFill/>
          <a:ln>
            <a:noFill/>
          </a:ln>
        </p:spPr>
        <p:txBody>
          <a:bodyPr vert="horz" wrap="square" lIns="0" tIns="0" rIns="0" bIns="0" numCol="1" spcCol="215900" anchor="t">
            <a:prstTxWarp prst="textNoShape">
              <a:avLst/>
            </a:prstTxWarp>
          </a:bodyPr>
          <a:lstStyle/>
          <a:p>
            <a:pPr marL="447040" indent="-335280">
              <a:lnSpc>
                <a:spcPct val="90000"/>
              </a:lnSpc>
              <a:spcBef>
                <a:spcPts val="1000"/>
              </a:spcBef>
              <a:buClrTx/>
              <a:buSzPts val="1080"/>
              <a:buFont typeface="Wingdings" charset="0"/>
              <a:buChar char=""/>
            </a:pPr>
            <a:r>
              <a:rPr lang="en-us" sz="2400" b="1" cap="none">
                <a:solidFill>
                  <a:srgbClr val="000000"/>
                </a:solidFill>
                <a:latin typeface="Calibri" pitchFamily="2" charset="0"/>
                <a:ea typeface="DejaVu Sans" pitchFamily="1" charset="0"/>
                <a:cs typeface="DejaVu Sans" pitchFamily="1" charset="0"/>
              </a:rPr>
              <a:t>Three-Tier Architecture</a:t>
            </a:r>
            <a:r>
              <a:rPr lang="en-us" sz="2400" cap="none">
                <a:solidFill>
                  <a:srgbClr val="000000"/>
                </a:solidFill>
                <a:latin typeface="Calibri" pitchFamily="2" charset="0"/>
                <a:ea typeface="DejaVu Sans" pitchFamily="1" charset="0"/>
                <a:cs typeface="DejaVu Sans" pitchFamily="1" charset="0"/>
              </a:rPr>
              <a:t>: </a:t>
            </a:r>
            <a:r>
              <a:rPr lang="en-us" sz="2400" cap="none">
                <a:solidFill>
                  <a:srgbClr val="000000"/>
                </a:solidFill>
                <a:latin typeface="Times New Roman" pitchFamily="1" charset="0"/>
                <a:ea typeface="DejaVu Sans" pitchFamily="1" charset="0"/>
                <a:cs typeface="DejaVu Sans" pitchFamily="1" charset="0"/>
              </a:rPr>
              <a:t>In a three-tier architecture, the client application is split into two separate parts: the application client and the application layer.</a:t>
            </a:r>
            <a:endParaRPr lang="en-us" sz="2400" cap="none">
              <a:solidFill>
                <a:srgbClr val="000000"/>
              </a:solidFill>
            </a:endParaRPr>
          </a:p>
          <a:p>
            <a:pPr marL="447040" indent="-335280">
              <a:lnSpc>
                <a:spcPct val="90000"/>
              </a:lnSpc>
              <a:spcBef>
                <a:spcPts val="1000"/>
              </a:spcBef>
              <a:buClrTx/>
              <a:buSzPts val="1080"/>
              <a:buFont typeface="Wingdings" charset="0"/>
              <a:buChar char=""/>
            </a:pPr>
            <a:r>
              <a:rPr lang="en-us" sz="2400" cap="none">
                <a:solidFill>
                  <a:srgbClr val="000000"/>
                </a:solidFill>
                <a:latin typeface="Times New Roman" pitchFamily="1" charset="0"/>
                <a:ea typeface="DejaVu Sans" pitchFamily="1" charset="0"/>
                <a:cs typeface="DejaVu Sans" pitchFamily="1" charset="0"/>
              </a:rPr>
              <a:t> The </a:t>
            </a:r>
            <a:r>
              <a:rPr lang="en-us" sz="2400" b="1" cap="none">
                <a:solidFill>
                  <a:srgbClr val="000000"/>
                </a:solidFill>
                <a:latin typeface="Times New Roman" pitchFamily="1" charset="0"/>
                <a:ea typeface="DejaVu Sans" pitchFamily="1" charset="0"/>
                <a:cs typeface="DejaVu Sans" pitchFamily="1" charset="0"/>
              </a:rPr>
              <a:t>application client</a:t>
            </a:r>
            <a:r>
              <a:rPr lang="en-us" sz="2400" cap="none">
                <a:solidFill>
                  <a:srgbClr val="000000"/>
                </a:solidFill>
                <a:latin typeface="Times New Roman" pitchFamily="1" charset="0"/>
                <a:ea typeface="DejaVu Sans" pitchFamily="1" charset="0"/>
                <a:cs typeface="DejaVu Sans" pitchFamily="1" charset="0"/>
              </a:rPr>
              <a:t>  is responsible for user interface(mobile and web), the </a:t>
            </a:r>
            <a:r>
              <a:rPr lang="en-us" sz="2400" b="1" cap="none">
                <a:solidFill>
                  <a:srgbClr val="000000"/>
                </a:solidFill>
                <a:latin typeface="Times New Roman" pitchFamily="1" charset="0"/>
                <a:ea typeface="DejaVu Sans" pitchFamily="1" charset="0"/>
                <a:cs typeface="DejaVu Sans" pitchFamily="1" charset="0"/>
              </a:rPr>
              <a:t>application layer</a:t>
            </a:r>
            <a:r>
              <a:rPr lang="en-us" sz="2400" cap="none">
                <a:solidFill>
                  <a:srgbClr val="000000"/>
                </a:solidFill>
                <a:latin typeface="Times New Roman" pitchFamily="1" charset="0"/>
                <a:ea typeface="DejaVu Sans" pitchFamily="1" charset="0"/>
                <a:cs typeface="DejaVu Sans" pitchFamily="1" charset="0"/>
              </a:rPr>
              <a:t> handles business logic, and the database server handles data storage and retrieval. </a:t>
            </a:r>
            <a:endParaRPr lang="en-us" sz="2400" cap="none">
              <a:solidFill>
                <a:srgbClr val="000000"/>
              </a:solidFill>
            </a:endParaRPr>
          </a:p>
          <a:p>
            <a:pPr marL="447040" indent="-335280">
              <a:lnSpc>
                <a:spcPct val="90000"/>
              </a:lnSpc>
              <a:spcBef>
                <a:spcPts val="1000"/>
              </a:spcBef>
              <a:buClrTx/>
              <a:buSzPts val="1080"/>
              <a:buFont typeface="Wingdings" charset="0"/>
              <a:buChar char=""/>
            </a:pPr>
            <a:r>
              <a:rPr lang="en-us" sz="2400" cap="none">
                <a:solidFill>
                  <a:srgbClr val="000000"/>
                </a:solidFill>
                <a:latin typeface="Times New Roman" pitchFamily="1" charset="0"/>
                <a:ea typeface="DejaVu Sans" pitchFamily="1" charset="0"/>
                <a:cs typeface="DejaVu Sans" pitchFamily="1" charset="0"/>
              </a:rPr>
              <a:t>The application client communicates with the application layer, which in turn communicates with the database server.</a:t>
            </a:r>
            <a:endParaRPr lang="en-us" sz="2400" cap="none">
              <a:solidFill>
                <a:srgbClr val="000000"/>
              </a:solidFill>
            </a:endParaRPr>
          </a:p>
          <a:p>
            <a:pPr marL="447040" indent="-335280">
              <a:lnSpc>
                <a:spcPct val="90000"/>
              </a:lnSpc>
              <a:spcBef>
                <a:spcPts val="1000"/>
              </a:spcBef>
              <a:buClrTx/>
              <a:buSzPts val="1080"/>
              <a:buFont typeface="Wingdings" charset="0"/>
              <a:buChar char=""/>
            </a:pPr>
            <a:r>
              <a:rPr lang="en-us" sz="2400" cap="none">
                <a:solidFill>
                  <a:srgbClr val="000000"/>
                </a:solidFill>
                <a:latin typeface="Times New Roman" pitchFamily="1" charset="0"/>
                <a:ea typeface="DejaVu Sans" pitchFamily="1" charset="0"/>
                <a:cs typeface="DejaVu Sans" pitchFamily="1" charset="0"/>
              </a:rPr>
              <a:t>The business logic of the application, which says what actions to carry out under what conditions, is embedded in the application server, instead of being distributed across multiple clients.</a:t>
            </a:r>
            <a:endParaRPr lang="en-us" sz="2400" cap="none">
              <a:solidFill>
                <a:srgbClr val="000000"/>
              </a:solidFill>
            </a:endParaRPr>
          </a:p>
          <a:p>
            <a:pPr marL="447040" indent="-335280">
              <a:lnSpc>
                <a:spcPct val="90000"/>
              </a:lnSpc>
              <a:spcBef>
                <a:spcPts val="1000"/>
              </a:spcBef>
              <a:buClrTx/>
              <a:buSzPts val="1080"/>
              <a:buFont typeface="Wingdings" charset="0"/>
              <a:buChar char=""/>
            </a:pPr>
            <a:r>
              <a:rPr lang="en-us" sz="2400" cap="none">
                <a:solidFill>
                  <a:srgbClr val="000000"/>
                </a:solidFill>
                <a:latin typeface="Times New Roman" pitchFamily="1" charset="0"/>
                <a:ea typeface="DejaVu Sans" pitchFamily="1" charset="0"/>
                <a:cs typeface="DejaVu Sans" pitchFamily="1" charset="0"/>
              </a:rPr>
              <a:t> Three-tier applications are more appropriate for large applications, and for applications that run on the World Wide Web.</a:t>
            </a:r>
            <a:endParaRPr lang="en-us" sz="2400" cap="none">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rdb0Z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EMAAD5AwAAUEMAAPYlAAAQAAAAJgAAAAgAAAD//////////w=="/>
              </a:ext>
            </a:extLst>
          </p:cNvPicPr>
          <p:nvPr/>
        </p:nvPicPr>
        <p:blipFill>
          <a:blip r:embed="rId2"/>
          <a:stretch>
            <a:fillRect/>
          </a:stretch>
        </p:blipFill>
        <p:spPr>
          <a:xfrm>
            <a:off x="1961515" y="645795"/>
            <a:ext cx="8980805" cy="5525135"/>
          </a:xfrm>
          <a:prstGeom prst="rect">
            <a:avLst/>
          </a:prstGeom>
          <a:noFill/>
          <a:ln>
            <a:noFill/>
          </a:ln>
          <a:effectLst/>
        </p:spPr>
      </p:pic>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Sans"/>
        <a:cs typeface="Basic Sans"/>
      </a:majorFont>
      <a:minorFont>
        <a:latin typeface="Basic Sans"/>
        <a:ea typeface="Basic Sans"/>
        <a:cs typeface="Basic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16</TotalTime>
  <Words>2356</Words>
  <Application>Microsoft Office PowerPoint</Application>
  <PresentationFormat>Widescreen</PresentationFormat>
  <Paragraphs>176</Paragraphs>
  <Slides>32</Slides>
  <Notes>11</Notes>
  <HiddenSlides>0</HiddenSlides>
  <MMClips>0</MMClips>
  <ScaleCrop>false</ScaleCrop>
  <HeadingPairs>
    <vt:vector size="4" baseType="variant">
      <vt:variant>
        <vt:lpstr>Theme</vt:lpstr>
      </vt:variant>
      <vt:variant>
        <vt:i4>5</vt:i4>
      </vt:variant>
      <vt:variant>
        <vt:lpstr>Slide Titles</vt:lpstr>
      </vt:variant>
      <vt:variant>
        <vt:i4>32</vt:i4>
      </vt:variant>
    </vt:vector>
  </HeadingPairs>
  <TitlesOfParts>
    <vt:vector size="37" baseType="lpstr">
      <vt:lpstr>Presentation</vt:lpstr>
      <vt:lpstr>Presentation</vt:lpstr>
      <vt:lpstr>Presentation</vt:lpstr>
      <vt:lpstr>Presentation</vt:lpstr>
      <vt:lpstr>Presentation</vt:lpstr>
      <vt:lpstr>Database Management System</vt:lpstr>
      <vt:lpstr>Introduction (Unit-1)</vt:lpstr>
      <vt:lpstr>PowerPoint Presentation</vt:lpstr>
      <vt:lpstr>What is Database Management system ?</vt:lpstr>
      <vt:lpstr>Why we need DBMS ?</vt:lpstr>
      <vt:lpstr>DBMS application</vt:lpstr>
      <vt:lpstr>Purpose of Database system</vt:lpstr>
      <vt:lpstr>Purpose of Database system</vt:lpstr>
      <vt:lpstr>Purpose of Database system</vt:lpstr>
      <vt:lpstr>Database System vs File System</vt:lpstr>
      <vt:lpstr>PowerPoint Presentation</vt:lpstr>
      <vt:lpstr>View of Data</vt:lpstr>
      <vt:lpstr>Data Abstraction</vt:lpstr>
      <vt:lpstr>PowerPoint Presentation</vt:lpstr>
      <vt:lpstr>PowerPoint Presentation</vt:lpstr>
      <vt:lpstr>PowerPoint Presentation</vt:lpstr>
      <vt:lpstr>Database independence</vt:lpstr>
      <vt:lpstr>PowerPoint Presentation</vt:lpstr>
      <vt:lpstr>Data Models</vt:lpstr>
      <vt:lpstr>Data Models</vt:lpstr>
      <vt:lpstr>Instances and Schemas</vt:lpstr>
      <vt:lpstr>PowerPoint Presentation</vt:lpstr>
      <vt:lpstr>Database Language </vt:lpstr>
      <vt:lpstr>Database Language </vt:lpstr>
      <vt:lpstr>Database User and Administrators</vt:lpstr>
      <vt:lpstr>Database User and Administrators</vt:lpstr>
      <vt:lpstr>Application Architecture</vt:lpstr>
      <vt:lpstr>Application Architecture</vt:lpstr>
      <vt:lpstr>PowerPoint Presentation</vt:lpstr>
      <vt:lpstr>Application Architecture</vt:lpstr>
      <vt:lpstr>Application Architecture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subject/>
  <dc:creator>shiva pathak</dc:creator>
  <cp:keywords/>
  <dc:description/>
  <cp:lastModifiedBy>shiva pathak</cp:lastModifiedBy>
  <cp:revision>6</cp:revision>
  <dcterms:created xsi:type="dcterms:W3CDTF">2023-04-23T22:08:34Z</dcterms:created>
  <dcterms:modified xsi:type="dcterms:W3CDTF">2026-02-14T15:19:04Z</dcterms:modified>
</cp:coreProperties>
</file>
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2ED2D-3ABA-5091-62D4-934D448A02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F15D6B8-5CB4-3A9C-0E67-8FFAB28107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E04D7EE-5B46-37DA-8D2E-453DD3BB664C}"/>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5" name="Footer Placeholder 4">
            <a:extLst>
              <a:ext uri="{FF2B5EF4-FFF2-40B4-BE49-F238E27FC236}">
                <a16:creationId xmlns:a16="http://schemas.microsoft.com/office/drawing/2014/main" id="{045FC853-B1B6-6BAD-702C-1DE1E3FC31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26868E-CBEF-5ED0-A4EF-65512FA7C9B0}"/>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248806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62D3E-67DB-591D-5272-943897D25C8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049EFFA-9735-5241-9FFB-D9E7E97FBF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0A6BB2-6694-C9FA-0B02-4B6F9A0F4964}"/>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5" name="Footer Placeholder 4">
            <a:extLst>
              <a:ext uri="{FF2B5EF4-FFF2-40B4-BE49-F238E27FC236}">
                <a16:creationId xmlns:a16="http://schemas.microsoft.com/office/drawing/2014/main" id="{03E7BC05-5BFD-FE29-72D3-A45B7DA305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7A0B9D-02D8-5581-E798-18C9C987A51F}"/>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3710328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90C8B-A412-B10A-1FC8-97D14C6494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16785CB-D935-8A0B-E3B8-C70F8B7979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F8D854-7BEE-B45E-585B-82DE1976DBE4}"/>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5" name="Footer Placeholder 4">
            <a:extLst>
              <a:ext uri="{FF2B5EF4-FFF2-40B4-BE49-F238E27FC236}">
                <a16:creationId xmlns:a16="http://schemas.microsoft.com/office/drawing/2014/main" id="{3B563E15-7704-1D23-7208-68AC0287E2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161237-96BE-DD82-166F-52FCE784B87B}"/>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2672714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2F534-3718-368B-F368-BD60D9FAB2A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A74A90-FE96-8382-849B-86EB8034ED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373CF82-072D-DD6F-42D2-06C9398551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4FCC4FC-1C21-0C62-6974-5BC9367CBAD5}"/>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6" name="Footer Placeholder 5">
            <a:extLst>
              <a:ext uri="{FF2B5EF4-FFF2-40B4-BE49-F238E27FC236}">
                <a16:creationId xmlns:a16="http://schemas.microsoft.com/office/drawing/2014/main" id="{B64431A6-69C5-0204-662F-DB6A16C5095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DAD9BCB-A4A9-1159-6151-BA383D27F8D1}"/>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507225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B6F41-7E09-0476-B0EB-47199CE94B1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C617DC7-784A-133B-102A-B7CB4912A8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0C5217-EC37-3AD1-4ED2-786B95CCAB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72FCEC5-BD08-ADD3-8ECE-A485D4557C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99A63-4270-73F9-27F6-F8DB404938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6BEBE2A-6658-60C0-AE00-70552755846C}"/>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8" name="Footer Placeholder 7">
            <a:extLst>
              <a:ext uri="{FF2B5EF4-FFF2-40B4-BE49-F238E27FC236}">
                <a16:creationId xmlns:a16="http://schemas.microsoft.com/office/drawing/2014/main" id="{606A9464-EB45-A1AA-5386-33682739B69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82F9B7E-89A4-CA85-6DE0-9E863DD9AAFD}"/>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2438724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34523-C0DB-E0BA-FBC5-9135A45F72D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7870ABA-A144-B395-262B-378231CDF211}"/>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4" name="Footer Placeholder 3">
            <a:extLst>
              <a:ext uri="{FF2B5EF4-FFF2-40B4-BE49-F238E27FC236}">
                <a16:creationId xmlns:a16="http://schemas.microsoft.com/office/drawing/2014/main" id="{11D0202F-DD17-1171-6259-729A45E3604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9A812AC-0103-1B38-5DD2-1C9188BE7D77}"/>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1307269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C87C39-2FFE-8669-8F28-5DF20F0EA29E}"/>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3" name="Footer Placeholder 2">
            <a:extLst>
              <a:ext uri="{FF2B5EF4-FFF2-40B4-BE49-F238E27FC236}">
                <a16:creationId xmlns:a16="http://schemas.microsoft.com/office/drawing/2014/main" id="{4917633F-01B3-2691-D984-5CBF7CBD853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068292F-4126-593C-42EF-1C66C67BFDEE}"/>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2086117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C856A-4D5E-4C5F-901B-351670F932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537386B-CCF9-A368-8A12-CE47134F1E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F2EA29B-D85F-15C3-4348-F8C22A0045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B36DA0-156E-3B3A-9303-E3EA89D18331}"/>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6" name="Footer Placeholder 5">
            <a:extLst>
              <a:ext uri="{FF2B5EF4-FFF2-40B4-BE49-F238E27FC236}">
                <a16:creationId xmlns:a16="http://schemas.microsoft.com/office/drawing/2014/main" id="{EA399B39-C70A-0AF1-729F-3506FB4309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0742541-D8AC-2263-BBAB-9C5798C5EDCD}"/>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1365197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EFFB3-6989-DA3E-1361-7280C8229A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541D8C2-AC27-05E7-40EC-7E8B2D924B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5D200FA-145D-5CC4-4BAA-9D8EEE195E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D4B90D-665E-F8CA-2E46-1E4019788D46}"/>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6" name="Footer Placeholder 5">
            <a:extLst>
              <a:ext uri="{FF2B5EF4-FFF2-40B4-BE49-F238E27FC236}">
                <a16:creationId xmlns:a16="http://schemas.microsoft.com/office/drawing/2014/main" id="{A51E44D5-40EB-3F3C-DC9D-0F964733307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150D694-F75A-526B-3BF7-00ACF5710AC9}"/>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758783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9FBC-7527-EB1B-C616-4FA4B8C1047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C24591B-C931-88C0-4D6C-9D63E62993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07AE8B-B1FD-2072-655F-107283DB05CE}"/>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5" name="Footer Placeholder 4">
            <a:extLst>
              <a:ext uri="{FF2B5EF4-FFF2-40B4-BE49-F238E27FC236}">
                <a16:creationId xmlns:a16="http://schemas.microsoft.com/office/drawing/2014/main" id="{94034823-2740-8A5C-8832-0F6CC36811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F01CCF-F269-5DD5-682E-D3A8A5E6D8A2}"/>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3858180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E4AB01-96C2-3921-BBED-28BB80B047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ECEACFE-561A-9636-5E47-4683363FE4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5165860-F610-7199-E6E5-5FE8678AFC58}"/>
              </a:ext>
            </a:extLst>
          </p:cNvPr>
          <p:cNvSpPr>
            <a:spLocks noGrp="1"/>
          </p:cNvSpPr>
          <p:nvPr>
            <p:ph type="dt" sz="half" idx="10"/>
          </p:nvPr>
        </p:nvSpPr>
        <p:spPr/>
        <p:txBody>
          <a:bodyPr/>
          <a:lstStyle/>
          <a:p>
            <a:fld id="{D8B9FE0F-78EB-4969-90C1-F5529422FA99}" type="datetimeFigureOut">
              <a:rPr lang="en-GB" smtClean="0"/>
              <a:t>14/02/2026</a:t>
            </a:fld>
            <a:endParaRPr lang="en-GB"/>
          </a:p>
        </p:txBody>
      </p:sp>
      <p:sp>
        <p:nvSpPr>
          <p:cNvPr id="5" name="Footer Placeholder 4">
            <a:extLst>
              <a:ext uri="{FF2B5EF4-FFF2-40B4-BE49-F238E27FC236}">
                <a16:creationId xmlns:a16="http://schemas.microsoft.com/office/drawing/2014/main" id="{B7D2E3D4-1417-979D-F7FC-F24C4E1725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9058FF-F117-0507-3FEC-FE36358A35A0}"/>
              </a:ext>
            </a:extLst>
          </p:cNvPr>
          <p:cNvSpPr>
            <a:spLocks noGrp="1"/>
          </p:cNvSpPr>
          <p:nvPr>
            <p:ph type="sldNum" sz="quarter" idx="12"/>
          </p:nvPr>
        </p:nvSpPr>
        <p:spPr/>
        <p:txBody>
          <a:bodyPr/>
          <a:lstStyle/>
          <a:p>
            <a:fld id="{0034448B-675A-41A7-AE53-E61233453526}" type="slidenum">
              <a:rPr lang="en-GB" smtClean="0"/>
              <a:t>‹#›</a:t>
            </a:fld>
            <a:endParaRPr lang="en-GB"/>
          </a:p>
        </p:txBody>
      </p:sp>
    </p:spTree>
    <p:extLst>
      <p:ext uri="{BB962C8B-B14F-4D97-AF65-F5344CB8AC3E}">
        <p14:creationId xmlns:p14="http://schemas.microsoft.com/office/powerpoint/2010/main" val="923267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5F2F1-A3B0-2EDB-68D5-9D0345283D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0164E92-C39E-C59B-A5CC-C084117109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B97013C-0117-D23F-C6A0-DB574B2BA7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B9FE0F-78EB-4969-90C1-F5529422FA99}" type="datetimeFigureOut">
              <a:rPr lang="en-GB" smtClean="0"/>
              <a:t>14/02/2026</a:t>
            </a:fld>
            <a:endParaRPr lang="en-GB"/>
          </a:p>
        </p:txBody>
      </p:sp>
      <p:sp>
        <p:nvSpPr>
          <p:cNvPr id="5" name="Footer Placeholder 4">
            <a:extLst>
              <a:ext uri="{FF2B5EF4-FFF2-40B4-BE49-F238E27FC236}">
                <a16:creationId xmlns:a16="http://schemas.microsoft.com/office/drawing/2014/main" id="{85F1E54D-AC9D-C8D7-D898-F77C40763F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58C3936-E8A8-7F66-F0C9-06F547E0DC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34448B-675A-41A7-AE53-E61233453526}" type="slidenum">
              <a:rPr lang="en-GB" smtClean="0"/>
              <a:t>‹#›</a:t>
            </a:fld>
            <a:endParaRPr lang="en-GB"/>
          </a:p>
        </p:txBody>
      </p:sp>
    </p:spTree>
    <p:extLst>
      <p:ext uri="{BB962C8B-B14F-4D97-AF65-F5344CB8AC3E}">
        <p14:creationId xmlns:p14="http://schemas.microsoft.com/office/powerpoint/2010/main" val="1691296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13175-3FA4-6B79-0ECB-ADAB009E1DD4}"/>
              </a:ext>
            </a:extLst>
          </p:cNvPr>
          <p:cNvSpPr>
            <a:spLocks noGrp="1"/>
          </p:cNvSpPr>
          <p:nvPr>
            <p:ph type="ctrTitle"/>
          </p:nvPr>
        </p:nvSpPr>
        <p:spPr/>
        <p:txBody>
          <a:bodyPr/>
          <a:lstStyle/>
          <a:p>
            <a:r>
              <a:rPr lang="en-GB" dirty="0"/>
              <a:t>Storage Management and indexing</a:t>
            </a:r>
          </a:p>
        </p:txBody>
      </p:sp>
      <p:sp>
        <p:nvSpPr>
          <p:cNvPr id="3" name="Subtitle 2">
            <a:extLst>
              <a:ext uri="{FF2B5EF4-FFF2-40B4-BE49-F238E27FC236}">
                <a16:creationId xmlns:a16="http://schemas.microsoft.com/office/drawing/2014/main" id="{18660AEA-9D51-3672-AAD2-29AE18741072}"/>
              </a:ext>
            </a:extLst>
          </p:cNvPr>
          <p:cNvSpPr>
            <a:spLocks noGrp="1"/>
          </p:cNvSpPr>
          <p:nvPr>
            <p:ph type="subTitle" idx="1"/>
          </p:nvPr>
        </p:nvSpPr>
        <p:spPr/>
        <p:txBody>
          <a:bodyPr/>
          <a:lstStyle/>
          <a:p>
            <a:r>
              <a:rPr lang="en-US" dirty="0"/>
              <a:t>Unit-7</a:t>
            </a:r>
            <a:endParaRPr lang="en-GB" dirty="0"/>
          </a:p>
        </p:txBody>
      </p:sp>
    </p:spTree>
    <p:extLst>
      <p:ext uri="{BB962C8B-B14F-4D97-AF65-F5344CB8AC3E}">
        <p14:creationId xmlns:p14="http://schemas.microsoft.com/office/powerpoint/2010/main" val="2362010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8E3CD-161B-ACE3-07E2-DCB3706D408A}"/>
              </a:ext>
            </a:extLst>
          </p:cNvPr>
          <p:cNvSpPr>
            <a:spLocks noGrp="1"/>
          </p:cNvSpPr>
          <p:nvPr>
            <p:ph type="title"/>
          </p:nvPr>
        </p:nvSpPr>
        <p:spPr/>
        <p:txBody>
          <a:bodyPr/>
          <a:lstStyle/>
          <a:p>
            <a:r>
              <a:rPr lang="en-GB" dirty="0"/>
              <a:t>Disks and storage</a:t>
            </a:r>
          </a:p>
        </p:txBody>
      </p:sp>
      <p:sp>
        <p:nvSpPr>
          <p:cNvPr id="3" name="Content Placeholder 2">
            <a:extLst>
              <a:ext uri="{FF2B5EF4-FFF2-40B4-BE49-F238E27FC236}">
                <a16:creationId xmlns:a16="http://schemas.microsoft.com/office/drawing/2014/main" id="{45DE2236-3A8A-F641-1E1F-83EB6924BBEC}"/>
              </a:ext>
            </a:extLst>
          </p:cNvPr>
          <p:cNvSpPr>
            <a:spLocks noGrp="1"/>
          </p:cNvSpPr>
          <p:nvPr>
            <p:ph idx="1"/>
          </p:nvPr>
        </p:nvSpPr>
        <p:spPr/>
        <p:txBody>
          <a:bodyPr/>
          <a:lstStyle/>
          <a:p>
            <a:r>
              <a:rPr lang="en-GB" dirty="0"/>
              <a:t>The storage system in a DBMS refers to the hierarchical arrangement of storage devices and media to store, manage, and retrieve data efficiently.</a:t>
            </a:r>
          </a:p>
          <a:p>
            <a:r>
              <a:rPr lang="en-GB" dirty="0"/>
              <a:t>The system is designed to handle different storage capacities, access speeds, volatility, and costs.</a:t>
            </a:r>
          </a:p>
        </p:txBody>
      </p:sp>
    </p:spTree>
    <p:extLst>
      <p:ext uri="{BB962C8B-B14F-4D97-AF65-F5344CB8AC3E}">
        <p14:creationId xmlns:p14="http://schemas.microsoft.com/office/powerpoint/2010/main" val="362196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FCFE-4B04-BF9A-630F-1014EF2E0E0C}"/>
              </a:ext>
            </a:extLst>
          </p:cNvPr>
          <p:cNvSpPr>
            <a:spLocks noGrp="1"/>
          </p:cNvSpPr>
          <p:nvPr>
            <p:ph type="title"/>
          </p:nvPr>
        </p:nvSpPr>
        <p:spPr/>
        <p:txBody>
          <a:bodyPr/>
          <a:lstStyle/>
          <a:p>
            <a:r>
              <a:rPr lang="en-GB" dirty="0"/>
              <a:t>Storage System Hierarchy in DBMS</a:t>
            </a:r>
            <a:br>
              <a:rPr lang="en-GB" dirty="0"/>
            </a:br>
            <a:endParaRPr lang="en-GB" dirty="0"/>
          </a:p>
        </p:txBody>
      </p:sp>
      <p:sp>
        <p:nvSpPr>
          <p:cNvPr id="4" name="Text Placeholder 3">
            <a:extLst>
              <a:ext uri="{FF2B5EF4-FFF2-40B4-BE49-F238E27FC236}">
                <a16:creationId xmlns:a16="http://schemas.microsoft.com/office/drawing/2014/main" id="{8C8E82CD-394E-AC85-FAE9-8FAC1D72EB18}"/>
              </a:ext>
            </a:extLst>
          </p:cNvPr>
          <p:cNvSpPr>
            <a:spLocks noGrp="1"/>
          </p:cNvSpPr>
          <p:nvPr>
            <p:ph type="body" idx="1"/>
          </p:nvPr>
        </p:nvSpPr>
        <p:spPr>
          <a:xfrm>
            <a:off x="839788" y="1681163"/>
            <a:ext cx="10512424" cy="823912"/>
          </a:xfrm>
        </p:spPr>
        <p:txBody>
          <a:bodyPr>
            <a:normAutofit fontScale="92500" lnSpcReduction="20000"/>
          </a:bodyPr>
          <a:lstStyle/>
          <a:p>
            <a:r>
              <a:rPr lang="en-GB" b="0" i="0" dirty="0">
                <a:solidFill>
                  <a:srgbClr val="434A54"/>
                </a:solidFill>
                <a:effectLst/>
                <a:latin typeface="Gill Sans"/>
              </a:rPr>
              <a:t>The storage hierarchy typically has multiple levels, each with its specific characteristics. Here's a typical hierarchy from fastest (and usually most expensive per byte) to slowest (and usually least expensive per byte):</a:t>
            </a:r>
          </a:p>
          <a:p>
            <a:endParaRPr lang="en-GB" dirty="0"/>
          </a:p>
        </p:txBody>
      </p:sp>
      <p:sp>
        <p:nvSpPr>
          <p:cNvPr id="3" name="Content Placeholder 2">
            <a:extLst>
              <a:ext uri="{FF2B5EF4-FFF2-40B4-BE49-F238E27FC236}">
                <a16:creationId xmlns:a16="http://schemas.microsoft.com/office/drawing/2014/main" id="{0772CB42-7476-ADE8-0136-934A132F68A5}"/>
              </a:ext>
            </a:extLst>
          </p:cNvPr>
          <p:cNvSpPr>
            <a:spLocks noGrp="1"/>
          </p:cNvSpPr>
          <p:nvPr>
            <p:ph sz="half" idx="2"/>
          </p:nvPr>
        </p:nvSpPr>
        <p:spPr>
          <a:xfrm>
            <a:off x="839788" y="2338466"/>
            <a:ext cx="5157787" cy="3851197"/>
          </a:xfrm>
        </p:spPr>
        <p:txBody>
          <a:bodyPr>
            <a:normAutofit fontScale="55000" lnSpcReduction="20000"/>
          </a:bodyPr>
          <a:lstStyle/>
          <a:p>
            <a:pPr marL="0" indent="0" algn="l">
              <a:spcBef>
                <a:spcPts val="2250"/>
              </a:spcBef>
              <a:spcAft>
                <a:spcPts val="1125"/>
              </a:spcAft>
              <a:buNone/>
            </a:pPr>
            <a:r>
              <a:rPr lang="en-GB" b="1" i="0" dirty="0">
                <a:solidFill>
                  <a:srgbClr val="FF6600"/>
                </a:solidFill>
                <a:effectLst/>
                <a:latin typeface="Open Sans" panose="020B0606030504020204" pitchFamily="34" charset="0"/>
              </a:rPr>
              <a:t>1. Registers</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Located within the CPU.</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Smallest and fastest type of storage.</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Used to hold data currently being processed.</a:t>
            </a:r>
          </a:p>
          <a:p>
            <a:pPr marL="0" indent="0" algn="l">
              <a:spcBef>
                <a:spcPts val="2250"/>
              </a:spcBef>
              <a:spcAft>
                <a:spcPts val="1125"/>
              </a:spcAft>
              <a:buNone/>
            </a:pPr>
            <a:r>
              <a:rPr lang="en-GB" b="1" i="0" dirty="0">
                <a:solidFill>
                  <a:srgbClr val="FF6600"/>
                </a:solidFill>
                <a:effectLst/>
                <a:latin typeface="Open Sans" panose="020B0606030504020204" pitchFamily="34" charset="0"/>
              </a:rPr>
              <a:t>2. Cache Memory (L1, L2, L3 caches)</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On or very close to the CPU.</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Extremely fast but small in size.</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Acts as a buffer for frequently used data.</a:t>
            </a:r>
          </a:p>
          <a:p>
            <a:endParaRPr lang="en-GB" dirty="0"/>
          </a:p>
        </p:txBody>
      </p:sp>
      <p:sp>
        <p:nvSpPr>
          <p:cNvPr id="6" name="Content Placeholder 5">
            <a:extLst>
              <a:ext uri="{FF2B5EF4-FFF2-40B4-BE49-F238E27FC236}">
                <a16:creationId xmlns:a16="http://schemas.microsoft.com/office/drawing/2014/main" id="{B9582733-9B4A-611C-B652-4E5C55BC66D3}"/>
              </a:ext>
            </a:extLst>
          </p:cNvPr>
          <p:cNvSpPr>
            <a:spLocks noGrp="1"/>
          </p:cNvSpPr>
          <p:nvPr>
            <p:ph sz="quarter" idx="4"/>
          </p:nvPr>
        </p:nvSpPr>
        <p:spPr/>
        <p:txBody>
          <a:bodyPr>
            <a:normAutofit fontScale="55000" lnSpcReduction="20000"/>
          </a:bodyPr>
          <a:lstStyle/>
          <a:p>
            <a:pPr marL="0" indent="0" algn="l">
              <a:spcBef>
                <a:spcPts val="2250"/>
              </a:spcBef>
              <a:spcAft>
                <a:spcPts val="1125"/>
              </a:spcAft>
              <a:buNone/>
            </a:pPr>
            <a:r>
              <a:rPr lang="en-GB" b="1" i="0" dirty="0">
                <a:solidFill>
                  <a:srgbClr val="FF6600"/>
                </a:solidFill>
                <a:effectLst/>
                <a:latin typeface="Open Sans" panose="020B0606030504020204" pitchFamily="34" charset="0"/>
              </a:rPr>
              <a:t>3. Main Memory (RAM)</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Data that's actively being used or processed is loaded here.</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Faster than secondary storage.</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Volatile in nature (i.e., data is lost when power is turned off).</a:t>
            </a:r>
          </a:p>
          <a:p>
            <a:pPr marL="0" indent="0" algn="l">
              <a:spcBef>
                <a:spcPts val="2250"/>
              </a:spcBef>
              <a:spcAft>
                <a:spcPts val="1125"/>
              </a:spcAft>
              <a:buNone/>
            </a:pPr>
            <a:r>
              <a:rPr lang="en-GB" b="1" i="0" dirty="0">
                <a:solidFill>
                  <a:srgbClr val="FF6600"/>
                </a:solidFill>
                <a:effectLst/>
                <a:latin typeface="Open Sans" panose="020B0606030504020204" pitchFamily="34" charset="0"/>
              </a:rPr>
              <a:t>4. Flash Storage (Solid State Drives - SSD)</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No moving parts.</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Faster than traditional hard drives.</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More durable and reliable.</a:t>
            </a:r>
          </a:p>
          <a:p>
            <a:endParaRPr lang="en-GB" dirty="0"/>
          </a:p>
        </p:txBody>
      </p:sp>
    </p:spTree>
    <p:extLst>
      <p:ext uri="{BB962C8B-B14F-4D97-AF65-F5344CB8AC3E}">
        <p14:creationId xmlns:p14="http://schemas.microsoft.com/office/powerpoint/2010/main" val="1092117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B28A-4748-5CE7-80EF-764CC4DA04D5}"/>
              </a:ext>
            </a:extLst>
          </p:cNvPr>
          <p:cNvSpPr>
            <a:spLocks noGrp="1"/>
          </p:cNvSpPr>
          <p:nvPr>
            <p:ph type="title"/>
          </p:nvPr>
        </p:nvSpPr>
        <p:spPr/>
        <p:txBody>
          <a:bodyPr/>
          <a:lstStyle/>
          <a:p>
            <a:r>
              <a:rPr lang="en-GB" dirty="0"/>
              <a:t>Storage System Hierarchy in DBMS</a:t>
            </a:r>
          </a:p>
        </p:txBody>
      </p:sp>
      <p:sp>
        <p:nvSpPr>
          <p:cNvPr id="4" name="Content Placeholder 3">
            <a:extLst>
              <a:ext uri="{FF2B5EF4-FFF2-40B4-BE49-F238E27FC236}">
                <a16:creationId xmlns:a16="http://schemas.microsoft.com/office/drawing/2014/main" id="{9119B527-B9B1-B567-EA01-0E2BF7CFD39B}"/>
              </a:ext>
            </a:extLst>
          </p:cNvPr>
          <p:cNvSpPr>
            <a:spLocks noGrp="1"/>
          </p:cNvSpPr>
          <p:nvPr>
            <p:ph sz="half" idx="2"/>
          </p:nvPr>
        </p:nvSpPr>
        <p:spPr>
          <a:xfrm>
            <a:off x="839788" y="1690688"/>
            <a:ext cx="5157787" cy="4498975"/>
          </a:xfrm>
        </p:spPr>
        <p:txBody>
          <a:bodyPr>
            <a:normAutofit fontScale="55000" lnSpcReduction="20000"/>
          </a:bodyPr>
          <a:lstStyle/>
          <a:p>
            <a:pPr marL="0" indent="0" algn="l">
              <a:spcBef>
                <a:spcPts val="2250"/>
              </a:spcBef>
              <a:spcAft>
                <a:spcPts val="1125"/>
              </a:spcAft>
              <a:buNone/>
            </a:pPr>
            <a:r>
              <a:rPr lang="en-GB" b="1" i="0" dirty="0">
                <a:solidFill>
                  <a:srgbClr val="FF6600"/>
                </a:solidFill>
                <a:effectLst/>
                <a:latin typeface="Open Sans" panose="020B0606030504020204" pitchFamily="34" charset="0"/>
              </a:rPr>
              <a:t>5. Magnetic Disks (Hard Disk Drives - HDD)</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Primary secondary storage medium.</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Non-volatile, persistent storage.</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Data is stored in tracks, sectors, and cylinders.</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Slower than main memory but offers a large storage capacity at a lower cost.</a:t>
            </a:r>
          </a:p>
          <a:p>
            <a:pPr marL="0" indent="0" algn="l">
              <a:spcBef>
                <a:spcPts val="2250"/>
              </a:spcBef>
              <a:spcAft>
                <a:spcPts val="1125"/>
              </a:spcAft>
              <a:buNone/>
            </a:pPr>
            <a:r>
              <a:rPr lang="en-GB" b="1" i="0" dirty="0">
                <a:solidFill>
                  <a:srgbClr val="FF6600"/>
                </a:solidFill>
                <a:effectLst/>
                <a:latin typeface="Open Sans" panose="020B0606030504020204" pitchFamily="34" charset="0"/>
              </a:rPr>
              <a:t>6. Optical Disks (CD, DVD, Blu-Ray)</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Data is read using lasers.</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Slower than magnetic disks and usually have less storage capacity.</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Portable and commonly used for media and software distribution.</a:t>
            </a:r>
          </a:p>
          <a:p>
            <a:endParaRPr lang="en-GB" dirty="0"/>
          </a:p>
        </p:txBody>
      </p:sp>
      <p:sp>
        <p:nvSpPr>
          <p:cNvPr id="6" name="Content Placeholder 5">
            <a:extLst>
              <a:ext uri="{FF2B5EF4-FFF2-40B4-BE49-F238E27FC236}">
                <a16:creationId xmlns:a16="http://schemas.microsoft.com/office/drawing/2014/main" id="{54EE8991-BCF0-FC80-BDBA-60CC36AE3CDB}"/>
              </a:ext>
            </a:extLst>
          </p:cNvPr>
          <p:cNvSpPr>
            <a:spLocks noGrp="1"/>
          </p:cNvSpPr>
          <p:nvPr>
            <p:ph sz="quarter" idx="4"/>
          </p:nvPr>
        </p:nvSpPr>
        <p:spPr>
          <a:xfrm>
            <a:off x="6172200" y="1690688"/>
            <a:ext cx="5183188" cy="4498975"/>
          </a:xfrm>
        </p:spPr>
        <p:txBody>
          <a:bodyPr>
            <a:normAutofit fontScale="55000" lnSpcReduction="20000"/>
          </a:bodyPr>
          <a:lstStyle/>
          <a:p>
            <a:pPr marL="0" indent="0" algn="l">
              <a:spcBef>
                <a:spcPts val="2250"/>
              </a:spcBef>
              <a:spcAft>
                <a:spcPts val="1125"/>
              </a:spcAft>
              <a:buNone/>
            </a:pPr>
            <a:r>
              <a:rPr lang="en-GB" b="1" i="0" dirty="0">
                <a:solidFill>
                  <a:srgbClr val="FF6600"/>
                </a:solidFill>
                <a:effectLst/>
                <a:latin typeface="Open Sans" panose="020B0606030504020204" pitchFamily="34" charset="0"/>
              </a:rPr>
              <a:t>7. Magnetic Tapes</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Sequential access storage, unlike disks which are random access.</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Often used for backups and archiving due to their high capacity and low cost.</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Much slower access times compared to magnetic disks.</a:t>
            </a:r>
          </a:p>
          <a:p>
            <a:pPr marL="0" indent="0" algn="l">
              <a:spcBef>
                <a:spcPts val="2250"/>
              </a:spcBef>
              <a:spcAft>
                <a:spcPts val="1125"/>
              </a:spcAft>
              <a:buNone/>
            </a:pPr>
            <a:r>
              <a:rPr lang="en-GB" b="1" i="0" dirty="0">
                <a:solidFill>
                  <a:srgbClr val="FF6600"/>
                </a:solidFill>
                <a:effectLst/>
                <a:latin typeface="Open Sans" panose="020B0606030504020204" pitchFamily="34" charset="0"/>
              </a:rPr>
              <a:t>8. Remote Storage/Cloud Storage</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Data stored in remote servers and accessed over the internet.</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Provides scalability, availability, and fault-tolerance.</a:t>
            </a:r>
          </a:p>
          <a:p>
            <a:pPr algn="just">
              <a:spcAft>
                <a:spcPts val="750"/>
              </a:spcAft>
              <a:buFont typeface="Arial" panose="020B0604020202020204" pitchFamily="34" charset="0"/>
              <a:buChar char="•"/>
            </a:pPr>
            <a:r>
              <a:rPr lang="en-GB" b="0" i="0" dirty="0">
                <a:solidFill>
                  <a:srgbClr val="434A54"/>
                </a:solidFill>
                <a:effectLst/>
                <a:latin typeface="Open Sans" panose="020B0606030504020204" pitchFamily="34" charset="0"/>
              </a:rPr>
              <a:t>Latency depends on network speed and distance to servers.</a:t>
            </a:r>
          </a:p>
          <a:p>
            <a:endParaRPr lang="en-GB" dirty="0"/>
          </a:p>
        </p:txBody>
      </p:sp>
    </p:spTree>
    <p:extLst>
      <p:ext uri="{BB962C8B-B14F-4D97-AF65-F5344CB8AC3E}">
        <p14:creationId xmlns:p14="http://schemas.microsoft.com/office/powerpoint/2010/main" val="2306886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0B1AB86-A965-3380-1A14-86F09D3D4B95}"/>
              </a:ext>
            </a:extLst>
          </p:cNvPr>
          <p:cNvPicPr>
            <a:picLocks noChangeAspect="1"/>
          </p:cNvPicPr>
          <p:nvPr/>
        </p:nvPicPr>
        <p:blipFill>
          <a:blip r:embed="rId2"/>
          <a:stretch>
            <a:fillRect/>
          </a:stretch>
        </p:blipFill>
        <p:spPr>
          <a:xfrm>
            <a:off x="2728211" y="506012"/>
            <a:ext cx="6415790" cy="5568421"/>
          </a:xfrm>
          <a:prstGeom prst="rect">
            <a:avLst/>
          </a:prstGeom>
        </p:spPr>
      </p:pic>
    </p:spTree>
    <p:extLst>
      <p:ext uri="{BB962C8B-B14F-4D97-AF65-F5344CB8AC3E}">
        <p14:creationId xmlns:p14="http://schemas.microsoft.com/office/powerpoint/2010/main" val="60688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7AA170E-3E33-7B38-B5EC-EE721D85C3A2}"/>
              </a:ext>
            </a:extLst>
          </p:cNvPr>
          <p:cNvSpPr>
            <a:spLocks noGrp="1"/>
          </p:cNvSpPr>
          <p:nvPr>
            <p:ph type="title"/>
          </p:nvPr>
        </p:nvSpPr>
        <p:spPr/>
        <p:txBody>
          <a:bodyPr/>
          <a:lstStyle/>
          <a:p>
            <a:r>
              <a:rPr lang="en-GB" b="1" i="0" dirty="0">
                <a:solidFill>
                  <a:srgbClr val="3D236E"/>
                </a:solidFill>
                <a:effectLst/>
                <a:latin typeface="Open Sans" panose="020B0606030504020204" pitchFamily="34" charset="0"/>
              </a:rPr>
              <a:t>Types of Storage</a:t>
            </a:r>
            <a:endParaRPr lang="en-GB" dirty="0"/>
          </a:p>
        </p:txBody>
      </p:sp>
      <p:sp>
        <p:nvSpPr>
          <p:cNvPr id="8" name="Content Placeholder 7">
            <a:extLst>
              <a:ext uri="{FF2B5EF4-FFF2-40B4-BE49-F238E27FC236}">
                <a16:creationId xmlns:a16="http://schemas.microsoft.com/office/drawing/2014/main" id="{A44E3935-8644-51DF-D5CF-12C12DDA19A7}"/>
              </a:ext>
            </a:extLst>
          </p:cNvPr>
          <p:cNvSpPr>
            <a:spLocks noGrp="1"/>
          </p:cNvSpPr>
          <p:nvPr>
            <p:ph idx="1"/>
          </p:nvPr>
        </p:nvSpPr>
        <p:spPr/>
        <p:txBody>
          <a:bodyPr>
            <a:normAutofit fontScale="85000" lnSpcReduction="20000"/>
          </a:bodyPr>
          <a:lstStyle/>
          <a:p>
            <a:pPr algn="just">
              <a:spcAft>
                <a:spcPts val="750"/>
              </a:spcAft>
              <a:buFont typeface="+mj-lt"/>
              <a:buAutoNum type="arabicPeriod"/>
            </a:pPr>
            <a:r>
              <a:rPr lang="en-GB" b="1" i="0" dirty="0">
                <a:solidFill>
                  <a:srgbClr val="434A54"/>
                </a:solidFill>
                <a:effectLst/>
                <a:latin typeface="Open Sans" panose="020B0606030504020204" pitchFamily="34" charset="0"/>
              </a:rPr>
              <a:t>Primary Storage: </a:t>
            </a:r>
            <a:r>
              <a:rPr lang="en-GB" b="0" i="0" dirty="0">
                <a:solidFill>
                  <a:srgbClr val="434A54"/>
                </a:solidFill>
                <a:effectLst/>
                <a:latin typeface="Open Sans" panose="020B0606030504020204" pitchFamily="34" charset="0"/>
              </a:rPr>
              <a:t>Includes registers, cache memory, and main memory (RAM). It's the main memory where the operating system, application programs, and data in current use are kept for quick access by the computer's processor.</a:t>
            </a:r>
          </a:p>
          <a:p>
            <a:pPr algn="just">
              <a:spcAft>
                <a:spcPts val="750"/>
              </a:spcAft>
              <a:buFont typeface="+mj-lt"/>
              <a:buAutoNum type="arabicPeriod"/>
            </a:pPr>
            <a:r>
              <a:rPr lang="en-GB" b="1" i="0" dirty="0">
                <a:solidFill>
                  <a:srgbClr val="434A54"/>
                </a:solidFill>
                <a:effectLst/>
                <a:latin typeface="Open Sans" panose="020B0606030504020204" pitchFamily="34" charset="0"/>
              </a:rPr>
              <a:t>Secondary Storage:</a:t>
            </a:r>
            <a:r>
              <a:rPr lang="en-GB" b="0" i="0" dirty="0">
                <a:solidFill>
                  <a:srgbClr val="434A54"/>
                </a:solidFill>
                <a:effectLst/>
                <a:latin typeface="Open Sans" panose="020B0606030504020204" pitchFamily="34" charset="0"/>
              </a:rPr>
              <a:t> Encompasses data storage devices like HDDs, SSDs, CDs, and USB drives. It is non-volatile and retains data even when the computer is turned off.</a:t>
            </a:r>
          </a:p>
          <a:p>
            <a:pPr algn="just">
              <a:spcAft>
                <a:spcPts val="750"/>
              </a:spcAft>
              <a:buFont typeface="+mj-lt"/>
              <a:buAutoNum type="arabicPeriod"/>
            </a:pPr>
            <a:r>
              <a:rPr lang="en-GB" b="1" i="0" dirty="0">
                <a:solidFill>
                  <a:srgbClr val="434A54"/>
                </a:solidFill>
                <a:effectLst/>
                <a:latin typeface="Open Sans" panose="020B0606030504020204" pitchFamily="34" charset="0"/>
              </a:rPr>
              <a:t>Tertiary Storage or Off-line Storage:</a:t>
            </a:r>
            <a:r>
              <a:rPr lang="en-GB" b="0" i="0" dirty="0">
                <a:solidFill>
                  <a:srgbClr val="434A54"/>
                </a:solidFill>
                <a:effectLst/>
                <a:latin typeface="Open Sans" panose="020B0606030504020204" pitchFamily="34" charset="0"/>
              </a:rPr>
              <a:t> Often involves magnetic tape systems or optical disk archives. This is slower than secondary storage and is used for data archiving and backup.</a:t>
            </a:r>
          </a:p>
          <a:p>
            <a:pPr algn="just">
              <a:spcAft>
                <a:spcPts val="750"/>
              </a:spcAft>
              <a:buFont typeface="+mj-lt"/>
              <a:buAutoNum type="arabicPeriod"/>
            </a:pPr>
            <a:r>
              <a:rPr lang="en-GB" b="1" i="0" dirty="0">
                <a:solidFill>
                  <a:srgbClr val="434A54"/>
                </a:solidFill>
                <a:effectLst/>
                <a:latin typeface="Open Sans" panose="020B0606030504020204" pitchFamily="34" charset="0"/>
              </a:rPr>
              <a:t>Quaternary Storage:</a:t>
            </a:r>
            <a:r>
              <a:rPr lang="en-GB" b="0" i="0" dirty="0">
                <a:solidFill>
                  <a:srgbClr val="434A54"/>
                </a:solidFill>
                <a:effectLst/>
                <a:latin typeface="Open Sans" panose="020B0606030504020204" pitchFamily="34" charset="0"/>
              </a:rPr>
              <a:t> Refers to methods like cloud storage or other remote storage techniques where data is stored in remote servers and is fetched over the internet or other networks.</a:t>
            </a:r>
          </a:p>
          <a:p>
            <a:endParaRPr lang="en-GB" dirty="0"/>
          </a:p>
        </p:txBody>
      </p:sp>
    </p:spTree>
    <p:extLst>
      <p:ext uri="{BB962C8B-B14F-4D97-AF65-F5344CB8AC3E}">
        <p14:creationId xmlns:p14="http://schemas.microsoft.com/office/powerpoint/2010/main" val="2822025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FF56D-ADDA-DE96-3CA6-9063385A9B6C}"/>
              </a:ext>
            </a:extLst>
          </p:cNvPr>
          <p:cNvSpPr>
            <a:spLocks noGrp="1"/>
          </p:cNvSpPr>
          <p:nvPr>
            <p:ph type="title"/>
          </p:nvPr>
        </p:nvSpPr>
        <p:spPr/>
        <p:txBody>
          <a:bodyPr/>
          <a:lstStyle/>
          <a:p>
            <a:r>
              <a:rPr lang="en-US" dirty="0"/>
              <a:t>File Organizations</a:t>
            </a:r>
            <a:endParaRPr lang="en-GB" dirty="0"/>
          </a:p>
        </p:txBody>
      </p:sp>
      <p:sp>
        <p:nvSpPr>
          <p:cNvPr id="3" name="Content Placeholder 2">
            <a:extLst>
              <a:ext uri="{FF2B5EF4-FFF2-40B4-BE49-F238E27FC236}">
                <a16:creationId xmlns:a16="http://schemas.microsoft.com/office/drawing/2014/main" id="{071456B4-A4C9-3751-608A-6449BCE18221}"/>
              </a:ext>
            </a:extLst>
          </p:cNvPr>
          <p:cNvSpPr>
            <a:spLocks noGrp="1"/>
          </p:cNvSpPr>
          <p:nvPr>
            <p:ph idx="1"/>
          </p:nvPr>
        </p:nvSpPr>
        <p:spPr/>
        <p:txBody>
          <a:bodyPr>
            <a:normAutofit fontScale="92500" lnSpcReduction="10000"/>
          </a:bodyPr>
          <a:lstStyle/>
          <a:p>
            <a:r>
              <a:rPr lang="en-GB" dirty="0"/>
              <a:t>A database is mapped into a number of different files that are maintained by the underlying operating system. </a:t>
            </a:r>
          </a:p>
          <a:p>
            <a:r>
              <a:rPr lang="en-GB" dirty="0"/>
              <a:t>These files reside permanently on disks.</a:t>
            </a:r>
          </a:p>
          <a:p>
            <a:r>
              <a:rPr lang="en-GB" dirty="0"/>
              <a:t> A file is organized logically as a sequence of records. </a:t>
            </a:r>
          </a:p>
          <a:p>
            <a:r>
              <a:rPr lang="en-GB" dirty="0"/>
              <a:t>These records are mapped onto disk blocks.</a:t>
            </a:r>
          </a:p>
          <a:p>
            <a:r>
              <a:rPr lang="en-GB" dirty="0"/>
              <a:t> Files are provided as a basic construct in operating systems.</a:t>
            </a:r>
          </a:p>
          <a:p>
            <a:r>
              <a:rPr lang="en-GB" dirty="0"/>
              <a:t>Each file is also logically partitioned into fixed-length storage units called blocks, which are the units of both storage allocation and data transfer.</a:t>
            </a:r>
          </a:p>
          <a:p>
            <a:r>
              <a:rPr lang="en-GB" dirty="0"/>
              <a:t>A block may contain several records; the exact set of records that a block contains is determined by the form of physical data organization being used.</a:t>
            </a:r>
          </a:p>
        </p:txBody>
      </p:sp>
    </p:spTree>
    <p:extLst>
      <p:ext uri="{BB962C8B-B14F-4D97-AF65-F5344CB8AC3E}">
        <p14:creationId xmlns:p14="http://schemas.microsoft.com/office/powerpoint/2010/main" val="805212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79656-91D8-94FB-4CB7-033073427F26}"/>
              </a:ext>
            </a:extLst>
          </p:cNvPr>
          <p:cNvSpPr>
            <a:spLocks noGrp="1"/>
          </p:cNvSpPr>
          <p:nvPr>
            <p:ph type="title"/>
          </p:nvPr>
        </p:nvSpPr>
        <p:spPr/>
        <p:txBody>
          <a:bodyPr/>
          <a:lstStyle/>
          <a:p>
            <a:r>
              <a:rPr lang="en-US" dirty="0"/>
              <a:t>File Organizations</a:t>
            </a:r>
            <a:endParaRPr lang="en-GB" dirty="0"/>
          </a:p>
        </p:txBody>
      </p:sp>
      <p:sp>
        <p:nvSpPr>
          <p:cNvPr id="3" name="Content Placeholder 2">
            <a:extLst>
              <a:ext uri="{FF2B5EF4-FFF2-40B4-BE49-F238E27FC236}">
                <a16:creationId xmlns:a16="http://schemas.microsoft.com/office/drawing/2014/main" id="{F5892DF3-8310-82D9-1709-442CC19D9FA6}"/>
              </a:ext>
            </a:extLst>
          </p:cNvPr>
          <p:cNvSpPr>
            <a:spLocks noGrp="1"/>
          </p:cNvSpPr>
          <p:nvPr>
            <p:ph idx="1"/>
          </p:nvPr>
        </p:nvSpPr>
        <p:spPr/>
        <p:txBody>
          <a:bodyPr/>
          <a:lstStyle/>
          <a:p>
            <a:r>
              <a:rPr lang="en-US" dirty="0"/>
              <a:t>1.Fixed Length Records</a:t>
            </a:r>
          </a:p>
          <a:p>
            <a:r>
              <a:rPr lang="en-US" dirty="0"/>
              <a:t>2. Variable Length Records</a:t>
            </a:r>
          </a:p>
          <a:p>
            <a:endParaRPr lang="en-US" dirty="0"/>
          </a:p>
          <a:p>
            <a:endParaRPr lang="en-US" dirty="0"/>
          </a:p>
          <a:p>
            <a:endParaRPr lang="en-US" dirty="0"/>
          </a:p>
          <a:p>
            <a:endParaRPr lang="en-US" dirty="0"/>
          </a:p>
          <a:p>
            <a:endParaRPr lang="en-US" dirty="0"/>
          </a:p>
          <a:p>
            <a:r>
              <a:rPr lang="en-GB" dirty="0"/>
              <a:t>https://cse.poriyaan.in/topic/file-organization-50897/</a:t>
            </a:r>
          </a:p>
        </p:txBody>
      </p:sp>
    </p:spTree>
    <p:extLst>
      <p:ext uri="{BB962C8B-B14F-4D97-AF65-F5344CB8AC3E}">
        <p14:creationId xmlns:p14="http://schemas.microsoft.com/office/powerpoint/2010/main" val="3802956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714C7-B94C-C3CC-A892-031636F1E2D5}"/>
              </a:ext>
            </a:extLst>
          </p:cNvPr>
          <p:cNvSpPr>
            <a:spLocks noGrp="1"/>
          </p:cNvSpPr>
          <p:nvPr>
            <p:ph type="title"/>
          </p:nvPr>
        </p:nvSpPr>
        <p:spPr/>
        <p:txBody>
          <a:bodyPr/>
          <a:lstStyle/>
          <a:p>
            <a:r>
              <a:rPr lang="en-GB" dirty="0"/>
              <a:t>Organization of Records in Files</a:t>
            </a:r>
          </a:p>
        </p:txBody>
      </p:sp>
      <p:sp>
        <p:nvSpPr>
          <p:cNvPr id="3" name="Content Placeholder 2">
            <a:extLst>
              <a:ext uri="{FF2B5EF4-FFF2-40B4-BE49-F238E27FC236}">
                <a16:creationId xmlns:a16="http://schemas.microsoft.com/office/drawing/2014/main" id="{E50147C6-7433-9893-17B7-7BDC0D0142C7}"/>
              </a:ext>
            </a:extLst>
          </p:cNvPr>
          <p:cNvSpPr>
            <a:spLocks noGrp="1"/>
          </p:cNvSpPr>
          <p:nvPr>
            <p:ph idx="1"/>
          </p:nvPr>
        </p:nvSpPr>
        <p:spPr/>
        <p:txBody>
          <a:bodyPr/>
          <a:lstStyle/>
          <a:p>
            <a:r>
              <a:rPr lang="en-US" dirty="0"/>
              <a:t>Heap file organization</a:t>
            </a:r>
          </a:p>
          <a:p>
            <a:r>
              <a:rPr lang="en-US" dirty="0"/>
              <a:t>Sequential file organization</a:t>
            </a:r>
          </a:p>
          <a:p>
            <a:r>
              <a:rPr lang="en-US" dirty="0"/>
              <a:t>Index sequential file organization</a:t>
            </a:r>
          </a:p>
          <a:p>
            <a:r>
              <a:rPr lang="en-US" dirty="0"/>
              <a:t>Hashing file organization</a:t>
            </a:r>
          </a:p>
          <a:p>
            <a:r>
              <a:rPr lang="en-GB" dirty="0"/>
              <a:t>B+ Tree File Organization</a:t>
            </a:r>
          </a:p>
          <a:p>
            <a:r>
              <a:rPr lang="en-GB" dirty="0"/>
              <a:t>Clustered File Organization</a:t>
            </a:r>
          </a:p>
        </p:txBody>
      </p:sp>
    </p:spTree>
    <p:extLst>
      <p:ext uri="{BB962C8B-B14F-4D97-AF65-F5344CB8AC3E}">
        <p14:creationId xmlns:p14="http://schemas.microsoft.com/office/powerpoint/2010/main" val="755924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57B4D-990B-B3F2-00D4-62DAD4528DE4}"/>
              </a:ext>
            </a:extLst>
          </p:cNvPr>
          <p:cNvSpPr>
            <a:spLocks noGrp="1"/>
          </p:cNvSpPr>
          <p:nvPr>
            <p:ph type="title"/>
          </p:nvPr>
        </p:nvSpPr>
        <p:spPr/>
        <p:txBody>
          <a:bodyPr/>
          <a:lstStyle/>
          <a:p>
            <a:r>
              <a:rPr lang="en-US" dirty="0"/>
              <a:t>Heap file organization</a:t>
            </a:r>
            <a:endParaRPr lang="en-GB" dirty="0"/>
          </a:p>
        </p:txBody>
      </p:sp>
      <p:sp>
        <p:nvSpPr>
          <p:cNvPr id="3" name="Content Placeholder 2">
            <a:extLst>
              <a:ext uri="{FF2B5EF4-FFF2-40B4-BE49-F238E27FC236}">
                <a16:creationId xmlns:a16="http://schemas.microsoft.com/office/drawing/2014/main" id="{FC79D29F-9304-94AC-9AEC-FB2BD8F66692}"/>
              </a:ext>
            </a:extLst>
          </p:cNvPr>
          <p:cNvSpPr>
            <a:spLocks noGrp="1"/>
          </p:cNvSpPr>
          <p:nvPr>
            <p:ph idx="1"/>
          </p:nvPr>
        </p:nvSpPr>
        <p:spPr/>
        <p:txBody>
          <a:bodyPr/>
          <a:lstStyle/>
          <a:p>
            <a:r>
              <a:rPr lang="en-GB" dirty="0"/>
              <a:t>It is the most fundamental and basic form of file organization. </a:t>
            </a:r>
          </a:p>
          <a:p>
            <a:r>
              <a:rPr lang="en-GB" dirty="0"/>
              <a:t>Any record can be placed anywhere in the file where there is space for the record. </a:t>
            </a:r>
          </a:p>
          <a:p>
            <a:r>
              <a:rPr lang="en-GB" dirty="0"/>
              <a:t>There is no ordering of records. Typically, there is a single file for each relation</a:t>
            </a:r>
          </a:p>
          <a:p>
            <a:r>
              <a:rPr lang="en-GB" dirty="0"/>
              <a:t>Pile File Method/Sorted Method</a:t>
            </a:r>
          </a:p>
        </p:txBody>
      </p:sp>
    </p:spTree>
    <p:extLst>
      <p:ext uri="{BB962C8B-B14F-4D97-AF65-F5344CB8AC3E}">
        <p14:creationId xmlns:p14="http://schemas.microsoft.com/office/powerpoint/2010/main" val="1121498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87EC9-B037-6F22-9624-A49430FF123D}"/>
              </a:ext>
            </a:extLst>
          </p:cNvPr>
          <p:cNvSpPr>
            <a:spLocks noGrp="1"/>
          </p:cNvSpPr>
          <p:nvPr>
            <p:ph type="title"/>
          </p:nvPr>
        </p:nvSpPr>
        <p:spPr/>
        <p:txBody>
          <a:bodyPr/>
          <a:lstStyle/>
          <a:p>
            <a:r>
              <a:rPr lang="en-US"/>
              <a:t>Sequential file organization</a:t>
            </a:r>
            <a:endParaRPr lang="en-US" dirty="0"/>
          </a:p>
        </p:txBody>
      </p:sp>
      <p:sp>
        <p:nvSpPr>
          <p:cNvPr id="3" name="Content Placeholder 2">
            <a:extLst>
              <a:ext uri="{FF2B5EF4-FFF2-40B4-BE49-F238E27FC236}">
                <a16:creationId xmlns:a16="http://schemas.microsoft.com/office/drawing/2014/main" id="{87289E5D-4F2A-FBE1-5BD1-9F1E1C5264AE}"/>
              </a:ext>
            </a:extLst>
          </p:cNvPr>
          <p:cNvSpPr>
            <a:spLocks noGrp="1"/>
          </p:cNvSpPr>
          <p:nvPr>
            <p:ph idx="1"/>
          </p:nvPr>
        </p:nvSpPr>
        <p:spPr/>
        <p:txBody>
          <a:bodyPr/>
          <a:lstStyle/>
          <a:p>
            <a:r>
              <a:rPr lang="en-GB" dirty="0"/>
              <a:t>A sequential file is designed for efficient processing of records in sorted order based on some search key. </a:t>
            </a:r>
          </a:p>
          <a:p>
            <a:r>
              <a:rPr lang="en-GB" dirty="0"/>
              <a:t>A search key is any attribute or set of attributes; it need not be the primary key, or even a </a:t>
            </a:r>
            <a:r>
              <a:rPr lang="en-GB" dirty="0" err="1"/>
              <a:t>superkey</a:t>
            </a:r>
            <a:r>
              <a:rPr lang="en-GB" dirty="0"/>
              <a:t>. </a:t>
            </a:r>
          </a:p>
          <a:p>
            <a:r>
              <a:rPr lang="en-GB" dirty="0"/>
              <a:t>To permit fast retrieval of records in search-key order, we chain together records by pointers. </a:t>
            </a:r>
          </a:p>
          <a:p>
            <a:r>
              <a:rPr lang="en-GB" dirty="0"/>
              <a:t>The pointer in each record points to the next record in search-key order.</a:t>
            </a:r>
          </a:p>
        </p:txBody>
      </p:sp>
    </p:spTree>
    <p:extLst>
      <p:ext uri="{BB962C8B-B14F-4D97-AF65-F5344CB8AC3E}">
        <p14:creationId xmlns:p14="http://schemas.microsoft.com/office/powerpoint/2010/main" val="1797319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FC6844C-9F5E-9C1C-F082-7324BE5D39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593" y="613245"/>
            <a:ext cx="7749915" cy="4784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5899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4250D-CE6F-A516-5572-65497FC84446}"/>
              </a:ext>
            </a:extLst>
          </p:cNvPr>
          <p:cNvSpPr>
            <a:spLocks noGrp="1"/>
          </p:cNvSpPr>
          <p:nvPr>
            <p:ph type="title"/>
          </p:nvPr>
        </p:nvSpPr>
        <p:spPr/>
        <p:txBody>
          <a:bodyPr/>
          <a:lstStyle/>
          <a:p>
            <a:r>
              <a:rPr lang="en-US" dirty="0"/>
              <a:t>Index sequential file organization</a:t>
            </a:r>
            <a:endParaRPr lang="en-GB" dirty="0"/>
          </a:p>
        </p:txBody>
      </p:sp>
      <p:sp>
        <p:nvSpPr>
          <p:cNvPr id="3" name="Content Placeholder 2">
            <a:extLst>
              <a:ext uri="{FF2B5EF4-FFF2-40B4-BE49-F238E27FC236}">
                <a16:creationId xmlns:a16="http://schemas.microsoft.com/office/drawing/2014/main" id="{FBB55816-E428-6643-A9D7-BBF87AD51273}"/>
              </a:ext>
            </a:extLst>
          </p:cNvPr>
          <p:cNvSpPr>
            <a:spLocks noGrp="1"/>
          </p:cNvSpPr>
          <p:nvPr>
            <p:ph idx="1"/>
          </p:nvPr>
        </p:nvSpPr>
        <p:spPr/>
        <p:txBody>
          <a:bodyPr/>
          <a:lstStyle/>
          <a:p>
            <a:r>
              <a:rPr lang="en-GB" dirty="0"/>
              <a:t>ISAM (Indexed sequential access method) is an advanced sequential file organization method.</a:t>
            </a:r>
          </a:p>
          <a:p>
            <a:r>
              <a:rPr lang="en-GB" dirty="0"/>
              <a:t>Hybrid Access: Combines sequential and direct access to records.</a:t>
            </a:r>
          </a:p>
          <a:p>
            <a:r>
              <a:rPr lang="en-GB" dirty="0"/>
              <a:t> Primary File: Records stored in sorted order based on a search key.</a:t>
            </a:r>
          </a:p>
          <a:p>
            <a:r>
              <a:rPr lang="en-GB" dirty="0"/>
              <a:t> Index File: Stores pointers to records for quick direct access.</a:t>
            </a:r>
          </a:p>
        </p:txBody>
      </p:sp>
    </p:spTree>
    <p:extLst>
      <p:ext uri="{BB962C8B-B14F-4D97-AF65-F5344CB8AC3E}">
        <p14:creationId xmlns:p14="http://schemas.microsoft.com/office/powerpoint/2010/main" val="4234814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AE55DA-E82B-A173-EEA8-A8C3822B7521}"/>
              </a:ext>
            </a:extLst>
          </p:cNvPr>
          <p:cNvPicPr>
            <a:picLocks noChangeAspect="1"/>
          </p:cNvPicPr>
          <p:nvPr/>
        </p:nvPicPr>
        <p:blipFill>
          <a:blip r:embed="rId2"/>
          <a:stretch>
            <a:fillRect/>
          </a:stretch>
        </p:blipFill>
        <p:spPr>
          <a:xfrm>
            <a:off x="6096000" y="3185332"/>
            <a:ext cx="5400675" cy="3095625"/>
          </a:xfrm>
          <a:prstGeom prst="rect">
            <a:avLst/>
          </a:prstGeom>
        </p:spPr>
      </p:pic>
      <p:pic>
        <p:nvPicPr>
          <p:cNvPr id="4098" name="Picture 2" descr="DBMS Indexed sequential access method">
            <a:extLst>
              <a:ext uri="{FF2B5EF4-FFF2-40B4-BE49-F238E27FC236}">
                <a16:creationId xmlns:a16="http://schemas.microsoft.com/office/drawing/2014/main" id="{D81EEAB2-E489-8EC8-2674-3C95B3B9F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325" y="210723"/>
            <a:ext cx="4853530" cy="3095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4581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E1900-E6D7-9C60-2B36-24C7C130F5DC}"/>
              </a:ext>
            </a:extLst>
          </p:cNvPr>
          <p:cNvSpPr>
            <a:spLocks noGrp="1"/>
          </p:cNvSpPr>
          <p:nvPr>
            <p:ph type="title"/>
          </p:nvPr>
        </p:nvSpPr>
        <p:spPr/>
        <p:txBody>
          <a:bodyPr/>
          <a:lstStyle/>
          <a:p>
            <a:r>
              <a:rPr lang="en-US" dirty="0"/>
              <a:t>Hashing file organization</a:t>
            </a:r>
            <a:endParaRPr lang="en-GB" dirty="0"/>
          </a:p>
        </p:txBody>
      </p:sp>
      <p:sp>
        <p:nvSpPr>
          <p:cNvPr id="3" name="Content Placeholder 2">
            <a:extLst>
              <a:ext uri="{FF2B5EF4-FFF2-40B4-BE49-F238E27FC236}">
                <a16:creationId xmlns:a16="http://schemas.microsoft.com/office/drawing/2014/main" id="{61BDE978-3461-AD42-9E59-AA091A14AA4A}"/>
              </a:ext>
            </a:extLst>
          </p:cNvPr>
          <p:cNvSpPr>
            <a:spLocks noGrp="1"/>
          </p:cNvSpPr>
          <p:nvPr>
            <p:ph idx="1"/>
          </p:nvPr>
        </p:nvSpPr>
        <p:spPr/>
        <p:txBody>
          <a:bodyPr/>
          <a:lstStyle/>
          <a:p>
            <a:r>
              <a:rPr lang="en-GB" dirty="0"/>
              <a:t>Hash File Organization in a Database Management System (DBMS) is a method of storing and retrieving records based on a hash function that maps a search key to a specific location (or bucket) in a file.</a:t>
            </a:r>
          </a:p>
          <a:p>
            <a:endParaRPr lang="en-GB" dirty="0"/>
          </a:p>
        </p:txBody>
      </p:sp>
      <p:pic>
        <p:nvPicPr>
          <p:cNvPr id="5122" name="Picture 2">
            <a:extLst>
              <a:ext uri="{FF2B5EF4-FFF2-40B4-BE49-F238E27FC236}">
                <a16:creationId xmlns:a16="http://schemas.microsoft.com/office/drawing/2014/main" id="{33E6BD68-A3C3-6C66-7C94-8B354275B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322637"/>
            <a:ext cx="5481533" cy="298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026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4F35A-6F66-B827-5ADA-87186227B516}"/>
              </a:ext>
            </a:extLst>
          </p:cNvPr>
          <p:cNvSpPr>
            <a:spLocks noGrp="1"/>
          </p:cNvSpPr>
          <p:nvPr>
            <p:ph type="title"/>
          </p:nvPr>
        </p:nvSpPr>
        <p:spPr/>
        <p:txBody>
          <a:bodyPr/>
          <a:lstStyle/>
          <a:p>
            <a:r>
              <a:rPr lang="en-GB" dirty="0"/>
              <a:t>Clustered File Organization</a:t>
            </a:r>
          </a:p>
        </p:txBody>
      </p:sp>
      <p:sp>
        <p:nvSpPr>
          <p:cNvPr id="3" name="Content Placeholder 2">
            <a:extLst>
              <a:ext uri="{FF2B5EF4-FFF2-40B4-BE49-F238E27FC236}">
                <a16:creationId xmlns:a16="http://schemas.microsoft.com/office/drawing/2014/main" id="{BDDBAD53-86D7-90A5-3A26-A1D8A01A6CBF}"/>
              </a:ext>
            </a:extLst>
          </p:cNvPr>
          <p:cNvSpPr>
            <a:spLocks noGrp="1"/>
          </p:cNvSpPr>
          <p:nvPr>
            <p:ph idx="1"/>
          </p:nvPr>
        </p:nvSpPr>
        <p:spPr/>
        <p:txBody>
          <a:bodyPr/>
          <a:lstStyle/>
          <a:p>
            <a:r>
              <a:rPr lang="en-GB" dirty="0"/>
              <a:t>A clustered file organization keeps two or more related tables/records in a single file known as a cluster. </a:t>
            </a:r>
          </a:p>
          <a:p>
            <a:r>
              <a:rPr lang="en-GB" dirty="0"/>
              <a:t>These files consist of two or more tables within a single data block, and the mapping attributes, defining the relationships between the tables, are stored only once. </a:t>
            </a:r>
          </a:p>
          <a:p>
            <a:r>
              <a:rPr lang="en-GB" dirty="0"/>
              <a:t>These contain two or more tables in one data block and the key attributes that are related between the tables are stored only once.</a:t>
            </a:r>
          </a:p>
        </p:txBody>
      </p:sp>
    </p:spTree>
    <p:extLst>
      <p:ext uri="{BB962C8B-B14F-4D97-AF65-F5344CB8AC3E}">
        <p14:creationId xmlns:p14="http://schemas.microsoft.com/office/powerpoint/2010/main" val="3495745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340A-4BE0-5CE6-F937-5B1BBBD697C8}"/>
              </a:ext>
            </a:extLst>
          </p:cNvPr>
          <p:cNvSpPr>
            <a:spLocks noGrp="1"/>
          </p:cNvSpPr>
          <p:nvPr>
            <p:ph type="title"/>
          </p:nvPr>
        </p:nvSpPr>
        <p:spPr/>
        <p:txBody>
          <a:bodyPr/>
          <a:lstStyle/>
          <a:p>
            <a:r>
              <a:rPr lang="en-US" dirty="0"/>
              <a:t>B+ tree Index</a:t>
            </a:r>
            <a:endParaRPr lang="en-GB" dirty="0"/>
          </a:p>
        </p:txBody>
      </p:sp>
      <p:sp>
        <p:nvSpPr>
          <p:cNvPr id="3" name="Content Placeholder 2">
            <a:extLst>
              <a:ext uri="{FF2B5EF4-FFF2-40B4-BE49-F238E27FC236}">
                <a16:creationId xmlns:a16="http://schemas.microsoft.com/office/drawing/2014/main" id="{7F4F426D-0AF3-60AA-BB93-E5E15F215B08}"/>
              </a:ext>
            </a:extLst>
          </p:cNvPr>
          <p:cNvSpPr>
            <a:spLocks noGrp="1"/>
          </p:cNvSpPr>
          <p:nvPr>
            <p:ph idx="1"/>
          </p:nvPr>
        </p:nvSpPr>
        <p:spPr/>
        <p:txBody>
          <a:bodyPr/>
          <a:lstStyle/>
          <a:p>
            <a:r>
              <a:rPr lang="en-GB" dirty="0"/>
              <a:t>Only leaf nodes contain data pointers along with keys, internal nodes contain keys only. </a:t>
            </a:r>
          </a:p>
          <a:p>
            <a:r>
              <a:rPr lang="en-GB" dirty="0"/>
              <a:t>Duplicate keys are present in this, all internal nodes are also present at leaves. </a:t>
            </a:r>
          </a:p>
          <a:p>
            <a:r>
              <a:rPr lang="en-GB" dirty="0"/>
              <a:t>Leaf nodes are linked to each other. </a:t>
            </a:r>
          </a:p>
          <a:p>
            <a:r>
              <a:rPr lang="en-GB" dirty="0"/>
              <a:t>All nodes are present at leaves, so sequential access is possible just like a linked list.</a:t>
            </a:r>
          </a:p>
        </p:txBody>
      </p:sp>
    </p:spTree>
    <p:extLst>
      <p:ext uri="{BB962C8B-B14F-4D97-AF65-F5344CB8AC3E}">
        <p14:creationId xmlns:p14="http://schemas.microsoft.com/office/powerpoint/2010/main" val="2534219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0D7E04F8-D073-3A53-23B5-7E45DE7E3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6415" y="1618938"/>
            <a:ext cx="7173625" cy="3537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068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CCE58-1DE7-42D8-BA77-395FA58E99BC}"/>
              </a:ext>
            </a:extLst>
          </p:cNvPr>
          <p:cNvSpPr>
            <a:spLocks noGrp="1"/>
          </p:cNvSpPr>
          <p:nvPr>
            <p:ph type="title"/>
          </p:nvPr>
        </p:nvSpPr>
        <p:spPr/>
        <p:txBody>
          <a:bodyPr/>
          <a:lstStyle/>
          <a:p>
            <a:r>
              <a:rPr lang="en-US" dirty="0"/>
              <a:t>B+ tree</a:t>
            </a:r>
            <a:endParaRPr lang="en-GB" dirty="0"/>
          </a:p>
        </p:txBody>
      </p:sp>
      <p:sp>
        <p:nvSpPr>
          <p:cNvPr id="3" name="Content Placeholder 2">
            <a:extLst>
              <a:ext uri="{FF2B5EF4-FFF2-40B4-BE49-F238E27FC236}">
                <a16:creationId xmlns:a16="http://schemas.microsoft.com/office/drawing/2014/main" id="{3097A0D2-B67C-3532-B52A-36F101DDDAA0}"/>
              </a:ext>
            </a:extLst>
          </p:cNvPr>
          <p:cNvSpPr>
            <a:spLocks noGrp="1"/>
          </p:cNvSpPr>
          <p:nvPr>
            <p:ph idx="1"/>
          </p:nvPr>
        </p:nvSpPr>
        <p:spPr/>
        <p:txBody>
          <a:bodyPr/>
          <a:lstStyle/>
          <a:p>
            <a:r>
              <a:rPr lang="en-US" dirty="0"/>
              <a:t>B-tree vs B+ tree</a:t>
            </a:r>
          </a:p>
          <a:p>
            <a:r>
              <a:rPr lang="en-GB" b="0" i="0" dirty="0">
                <a:effectLst/>
                <a:latin typeface="euclid_circular_a"/>
              </a:rPr>
              <a:t>5,15, 25, 35, 45.</a:t>
            </a:r>
            <a:r>
              <a:rPr lang="en-US" b="0" i="0" dirty="0">
                <a:effectLst/>
                <a:latin typeface="euclid_circular_a"/>
              </a:rPr>
              <a:t> order 3</a:t>
            </a:r>
          </a:p>
          <a:p>
            <a:r>
              <a:rPr lang="en-GB" dirty="0"/>
              <a:t>1, 3, 5, 7, 9, 2, 4, 6, 8, 10 order 4</a:t>
            </a:r>
          </a:p>
          <a:p>
            <a:endParaRPr lang="en-GB" dirty="0"/>
          </a:p>
          <a:p>
            <a:endParaRPr lang="en-GB" dirty="0"/>
          </a:p>
          <a:p>
            <a:r>
              <a:rPr lang="en-GB" dirty="0"/>
              <a:t>delete</a:t>
            </a:r>
          </a:p>
        </p:txBody>
      </p:sp>
    </p:spTree>
    <p:extLst>
      <p:ext uri="{BB962C8B-B14F-4D97-AF65-F5344CB8AC3E}">
        <p14:creationId xmlns:p14="http://schemas.microsoft.com/office/powerpoint/2010/main" val="3974036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4DABF8-69D8-8569-7BB7-B4D30C449125}"/>
              </a:ext>
            </a:extLst>
          </p:cNvPr>
          <p:cNvPicPr>
            <a:picLocks noChangeAspect="1"/>
          </p:cNvPicPr>
          <p:nvPr/>
        </p:nvPicPr>
        <p:blipFill>
          <a:blip r:embed="rId2"/>
          <a:stretch>
            <a:fillRect/>
          </a:stretch>
        </p:blipFill>
        <p:spPr>
          <a:xfrm>
            <a:off x="901674" y="863729"/>
            <a:ext cx="4392244" cy="2565271"/>
          </a:xfrm>
          <a:prstGeom prst="rect">
            <a:avLst/>
          </a:prstGeom>
        </p:spPr>
      </p:pic>
      <p:pic>
        <p:nvPicPr>
          <p:cNvPr id="7" name="Picture 6">
            <a:extLst>
              <a:ext uri="{FF2B5EF4-FFF2-40B4-BE49-F238E27FC236}">
                <a16:creationId xmlns:a16="http://schemas.microsoft.com/office/drawing/2014/main" id="{A58D148B-529A-3479-2CBC-C0804C244808}"/>
              </a:ext>
            </a:extLst>
          </p:cNvPr>
          <p:cNvPicPr>
            <a:picLocks noChangeAspect="1"/>
          </p:cNvPicPr>
          <p:nvPr/>
        </p:nvPicPr>
        <p:blipFill>
          <a:blip r:embed="rId3"/>
          <a:stretch>
            <a:fillRect/>
          </a:stretch>
        </p:blipFill>
        <p:spPr>
          <a:xfrm>
            <a:off x="4586990" y="3862620"/>
            <a:ext cx="6719574" cy="2558141"/>
          </a:xfrm>
          <a:prstGeom prst="rect">
            <a:avLst/>
          </a:prstGeom>
        </p:spPr>
      </p:pic>
    </p:spTree>
    <p:extLst>
      <p:ext uri="{BB962C8B-B14F-4D97-AF65-F5344CB8AC3E}">
        <p14:creationId xmlns:p14="http://schemas.microsoft.com/office/powerpoint/2010/main" val="1203616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1104</Words>
  <Application>Microsoft Office PowerPoint</Application>
  <PresentationFormat>Widescreen</PresentationFormat>
  <Paragraphs>103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Storage Management and indexing</vt:lpstr>
      <vt:lpstr>Disks and storage</vt:lpstr>
      <vt:lpstr>Storage System Hierarchy in DBMS </vt:lpstr>
      <vt:lpstr>Storage System Hierarchy in DBMS</vt:lpstr>
      <vt:lpstr>PowerPoint Presentation</vt:lpstr>
      <vt:lpstr>Types of Storage</vt:lpstr>
      <vt:lpstr>File Organizations</vt:lpstr>
      <vt:lpstr>File Organizations</vt:lpstr>
      <vt:lpstr>Organization of Records in Files</vt:lpstr>
      <vt:lpstr>Heap file organization</vt:lpstr>
      <vt:lpstr>Sequential file organization</vt:lpstr>
      <vt:lpstr>PowerPoint Presentation</vt:lpstr>
      <vt:lpstr>Index sequential file organization</vt:lpstr>
      <vt:lpstr>PowerPoint Presentation</vt:lpstr>
      <vt:lpstr>Hashing file organization</vt:lpstr>
      <vt:lpstr>Clustered File Organization</vt:lpstr>
      <vt:lpstr>B+ tree Index</vt:lpstr>
      <vt:lpstr>PowerPoint Presentation</vt:lpstr>
      <vt:lpstr>B+ tree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pathak</dc:creator>
  <cp:lastModifiedBy>shiva pathak</cp:lastModifiedBy>
  <cp:revision>23</cp:revision>
  <dcterms:created xsi:type="dcterms:W3CDTF">2024-12-23T14:51:17Z</dcterms:created>
  <dcterms:modified xsi:type="dcterms:W3CDTF">2026-02-14T15:25:31Z</dcterms:modified>
</cp:coreProperties>
</file>
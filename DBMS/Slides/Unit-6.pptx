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63" r:id="rId3"/>
    <p:sldId id="287" r:id="rId4"/>
    <p:sldId id="264" r:id="rId5"/>
    <p:sldId id="268" r:id="rId6"/>
    <p:sldId id="265" r:id="rId7"/>
    <p:sldId id="283" r:id="rId8"/>
    <p:sldId id="266" r:id="rId9"/>
    <p:sldId id="284" r:id="rId10"/>
    <p:sldId id="267" r:id="rId11"/>
    <p:sldId id="286" r:id="rId12"/>
    <p:sldId id="285" r:id="rId13"/>
    <p:sldId id="288" r:id="rId14"/>
    <p:sldId id="289" r:id="rId15"/>
    <p:sldId id="290" r:id="rId16"/>
    <p:sldId id="291" r:id="rId17"/>
    <p:sldId id="296" r:id="rId18"/>
    <p:sldId id="294" r:id="rId19"/>
    <p:sldId id="295" r:id="rId20"/>
    <p:sldId id="292" r:id="rId21"/>
    <p:sldId id="269" r:id="rId22"/>
    <p:sldId id="270" r:id="rId23"/>
    <p:sldId id="271" r:id="rId24"/>
    <p:sldId id="272" r:id="rId25"/>
    <p:sldId id="273" r:id="rId26"/>
    <p:sldId id="275" r:id="rId27"/>
    <p:sldId id="274" r:id="rId28"/>
    <p:sldId id="276" r:id="rId29"/>
    <p:sldId id="277" r:id="rId30"/>
    <p:sldId id="278" r:id="rId31"/>
    <p:sldId id="279" r:id="rId32"/>
    <p:sldId id="280" r:id="rId33"/>
    <p:sldId id="281" r:id="rId34"/>
    <p:sldId id="282" r:id="rId35"/>
    <p:sldId id="297" r:id="rId36"/>
    <p:sldId id="298" r:id="rId37"/>
    <p:sldId id="299" r:id="rId38"/>
    <p:sldId id="300" r:id="rId39"/>
    <p:sldId id="301" r:id="rId40"/>
  </p:sldIdLst>
  <p:sldSz cx="12192000" cy="6858000"/>
  <p:notesSz cx="6858000" cy="9144000"/>
  <p:defaultText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2"/>
    <p:restoredTop sz="57310" autoAdjust="0"/>
  </p:normalViewPr>
  <p:slideViewPr>
    <p:cSldViewPr snapToGrid="0" snapToObjects="1">
      <p:cViewPr varScale="1">
        <p:scale>
          <a:sx n="39" d="100"/>
          <a:sy n="39" d="100"/>
        </p:scale>
        <p:origin x="191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08210E-46F4-4E4E-B4E3-8CF1DFB60952}" type="datetimeFigureOut">
              <a:rPr lang="en-GB" smtClean="0"/>
              <a:t>14/02/2026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6738B6-8D50-4E59-973A-682D29861B1A}" type="slidenum">
              <a:rPr lang="en-GB" smtClean="0"/>
              <a:t>‹#›</a:t>
            </a:fld>
            <a:endParaRPr lang="en-GB"/>
          </a:p>
        </p:txBody>
      </p:sp>
    </p:spTree>
    <p:extLst>
      <p:ext uri="{BB962C8B-B14F-4D97-AF65-F5344CB8AC3E}">
        <p14:creationId xmlns:p14="http://schemas.microsoft.com/office/powerpoint/2010/main" val="2591029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10-12 rules to convert :- R1==R2</a:t>
            </a:r>
            <a:endParaRPr lang="en-GB" dirty="0"/>
          </a:p>
        </p:txBody>
      </p:sp>
      <p:sp>
        <p:nvSpPr>
          <p:cNvPr id="4" name="Slide Number Placeholder 3"/>
          <p:cNvSpPr>
            <a:spLocks noGrp="1"/>
          </p:cNvSpPr>
          <p:nvPr>
            <p:ph type="sldNum" sz="quarter" idx="5"/>
          </p:nvPr>
        </p:nvSpPr>
        <p:spPr/>
        <p:txBody>
          <a:bodyPr/>
          <a:lstStyle/>
          <a:p>
            <a:fld id="{BB6738B6-8D50-4E59-973A-682D29861B1A}" type="slidenum">
              <a:rPr lang="en-GB" smtClean="0"/>
              <a:t>14</a:t>
            </a:fld>
            <a:endParaRPr lang="en-GB"/>
          </a:p>
        </p:txBody>
      </p:sp>
    </p:spTree>
    <p:extLst>
      <p:ext uri="{BB962C8B-B14F-4D97-AF65-F5344CB8AC3E}">
        <p14:creationId xmlns:p14="http://schemas.microsoft.com/office/powerpoint/2010/main" val="2029098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is crucial for determining the </a:t>
            </a:r>
            <a:r>
              <a:rPr lang="en-GB" b="1" dirty="0"/>
              <a:t>cost</a:t>
            </a:r>
            <a:r>
              <a:rPr lang="en-GB" dirty="0"/>
              <a:t> of different query execution plans.</a:t>
            </a:r>
          </a:p>
        </p:txBody>
      </p:sp>
      <p:sp>
        <p:nvSpPr>
          <p:cNvPr id="4" name="Slide Number Placeholder 3"/>
          <p:cNvSpPr>
            <a:spLocks noGrp="1"/>
          </p:cNvSpPr>
          <p:nvPr>
            <p:ph type="sldNum" sz="quarter" idx="5"/>
          </p:nvPr>
        </p:nvSpPr>
        <p:spPr/>
        <p:txBody>
          <a:bodyPr/>
          <a:lstStyle/>
          <a:p>
            <a:fld id="{BB6738B6-8D50-4E59-973A-682D29861B1A}" type="slidenum">
              <a:rPr lang="en-GB" smtClean="0"/>
              <a:t>15</a:t>
            </a:fld>
            <a:endParaRPr lang="en-GB"/>
          </a:p>
        </p:txBody>
      </p:sp>
    </p:spTree>
    <p:extLst>
      <p:ext uri="{BB962C8B-B14F-4D97-AF65-F5344CB8AC3E}">
        <p14:creationId xmlns:p14="http://schemas.microsoft.com/office/powerpoint/2010/main" val="14656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Rule </a:t>
            </a:r>
            <a:r>
              <a:rPr lang="en-GB" dirty="0"/>
              <a:t>(associativity of natural join)</a:t>
            </a:r>
          </a:p>
          <a:p>
            <a:r>
              <a:rPr lang="en-GB" dirty="0"/>
              <a:t>2. “perform selections early</a:t>
            </a:r>
          </a:p>
          <a:p>
            <a:endParaRPr lang="en-GB" dirty="0"/>
          </a:p>
          <a:p>
            <a:r>
              <a:rPr lang="en-GB" dirty="0"/>
              <a:t>Optimizations applied:</a:t>
            </a:r>
          </a:p>
          <a:p>
            <a:pPr>
              <a:buFont typeface="+mj-lt"/>
              <a:buAutoNum type="arabicPeriod"/>
            </a:pPr>
            <a:r>
              <a:rPr lang="en-GB" dirty="0"/>
              <a:t>Split compound SELECT into separate operations</a:t>
            </a:r>
          </a:p>
          <a:p>
            <a:pPr>
              <a:buFont typeface="+mj-lt"/>
              <a:buAutoNum type="arabicPeriod"/>
            </a:pPr>
            <a:r>
              <a:rPr lang="en-GB" dirty="0"/>
              <a:t>Pushed SELECTs closer to their respective relations</a:t>
            </a:r>
          </a:p>
          <a:p>
            <a:pPr>
              <a:buFont typeface="+mj-lt"/>
              <a:buAutoNum type="arabicPeriod"/>
            </a:pPr>
            <a:r>
              <a:rPr lang="en-GB" dirty="0"/>
              <a:t>Moved PROJECT to top level</a:t>
            </a:r>
          </a:p>
          <a:p>
            <a:r>
              <a:rPr lang="en-GB" dirty="0"/>
              <a:t>Reasons:</a:t>
            </a:r>
          </a:p>
          <a:p>
            <a:pPr>
              <a:buFont typeface="Arial" panose="020B0604020202020204" pitchFamily="34" charset="0"/>
              <a:buChar char="•"/>
            </a:pPr>
            <a:r>
              <a:rPr lang="en-GB" dirty="0"/>
              <a:t>Early filtering reduces tuple count before joins</a:t>
            </a:r>
          </a:p>
          <a:p>
            <a:pPr>
              <a:buFont typeface="Arial" panose="020B0604020202020204" pitchFamily="34" charset="0"/>
              <a:buChar char="•"/>
            </a:pPr>
            <a:r>
              <a:rPr lang="en-GB" dirty="0"/>
              <a:t>Separate selections allow independent optimization</a:t>
            </a:r>
          </a:p>
          <a:p>
            <a:pPr>
              <a:buFont typeface="Arial" panose="020B0604020202020204" pitchFamily="34" charset="0"/>
              <a:buChar char="•"/>
            </a:pPr>
            <a:r>
              <a:rPr lang="en-GB"/>
              <a:t>Natural joins preserved for proper attribute matching</a:t>
            </a:r>
          </a:p>
          <a:p>
            <a:endParaRPr lang="en-GB" dirty="0"/>
          </a:p>
        </p:txBody>
      </p:sp>
      <p:sp>
        <p:nvSpPr>
          <p:cNvPr id="4" name="Slide Number Placeholder 3"/>
          <p:cNvSpPr>
            <a:spLocks noGrp="1"/>
          </p:cNvSpPr>
          <p:nvPr>
            <p:ph type="sldNum" sz="quarter" idx="5"/>
          </p:nvPr>
        </p:nvSpPr>
        <p:spPr/>
        <p:txBody>
          <a:bodyPr/>
          <a:lstStyle/>
          <a:p>
            <a:fld id="{BB6738B6-8D50-4E59-973A-682D29861B1A}" type="slidenum">
              <a:rPr lang="en-GB" smtClean="0"/>
              <a:t>39</a:t>
            </a:fld>
            <a:endParaRPr lang="en-GB"/>
          </a:p>
        </p:txBody>
      </p:sp>
    </p:spTree>
    <p:extLst>
      <p:ext uri="{BB962C8B-B14F-4D97-AF65-F5344CB8AC3E}">
        <p14:creationId xmlns:p14="http://schemas.microsoft.com/office/powerpoint/2010/main" val="688428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FD0C4-E4D6-5F46-AF8D-09EA7FB19C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P"/>
          </a:p>
        </p:txBody>
      </p:sp>
      <p:sp>
        <p:nvSpPr>
          <p:cNvPr id="3" name="Subtitle 2">
            <a:extLst>
              <a:ext uri="{FF2B5EF4-FFF2-40B4-BE49-F238E27FC236}">
                <a16:creationId xmlns:a16="http://schemas.microsoft.com/office/drawing/2014/main" id="{C020A75A-79C1-4242-90AE-C57BDC8DC1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P"/>
          </a:p>
        </p:txBody>
      </p:sp>
      <p:sp>
        <p:nvSpPr>
          <p:cNvPr id="4" name="Date Placeholder 3">
            <a:extLst>
              <a:ext uri="{FF2B5EF4-FFF2-40B4-BE49-F238E27FC236}">
                <a16:creationId xmlns:a16="http://schemas.microsoft.com/office/drawing/2014/main" id="{4F9B00CF-A79F-2F4F-879B-574A1CA5EA1C}"/>
              </a:ext>
            </a:extLst>
          </p:cNvPr>
          <p:cNvSpPr>
            <a:spLocks noGrp="1"/>
          </p:cNvSpPr>
          <p:nvPr>
            <p:ph type="dt" sz="half" idx="10"/>
          </p:nvPr>
        </p:nvSpPr>
        <p:spPr/>
        <p:txBody>
          <a:bodyPr/>
          <a:lstStyle/>
          <a:p>
            <a:fld id="{2B4786C9-9059-D341-BB47-12DB06BE8880}" type="datetimeFigureOut">
              <a:rPr lang="en-NP" smtClean="0"/>
              <a:t>02/14/2026</a:t>
            </a:fld>
            <a:endParaRPr lang="en-NP"/>
          </a:p>
        </p:txBody>
      </p:sp>
      <p:sp>
        <p:nvSpPr>
          <p:cNvPr id="5" name="Footer Placeholder 4">
            <a:extLst>
              <a:ext uri="{FF2B5EF4-FFF2-40B4-BE49-F238E27FC236}">
                <a16:creationId xmlns:a16="http://schemas.microsoft.com/office/drawing/2014/main" id="{4BFC0CA5-45BA-C441-A9DE-24A938275430}"/>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6938BCC2-7F53-8742-8A59-31DFBE807A68}"/>
              </a:ext>
            </a:extLst>
          </p:cNvPr>
          <p:cNvSpPr>
            <a:spLocks noGrp="1"/>
          </p:cNvSpPr>
          <p:nvPr>
            <p:ph type="sldNum" sz="quarter" idx="12"/>
          </p:nvPr>
        </p:nvSpPr>
        <p:spPr/>
        <p:txBody>
          <a:bodyPr/>
          <a:lstStyle/>
          <a:p>
            <a:fld id="{792AA8EB-B05A-8A4E-9755-ACB142B931F3}" type="slidenum">
              <a:rPr lang="en-NP" smtClean="0"/>
              <a:t>‹#›</a:t>
            </a:fld>
            <a:endParaRPr lang="en-NP"/>
          </a:p>
        </p:txBody>
      </p:sp>
    </p:spTree>
    <p:extLst>
      <p:ext uri="{BB962C8B-B14F-4D97-AF65-F5344CB8AC3E}">
        <p14:creationId xmlns:p14="http://schemas.microsoft.com/office/powerpoint/2010/main" val="2856316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930E4-6EF7-444A-9ED0-F9A849473A37}"/>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8F87474B-7D3F-5D41-84C1-DBF2A581B4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2E69CA2C-300A-5140-85B9-9CC960027CA0}"/>
              </a:ext>
            </a:extLst>
          </p:cNvPr>
          <p:cNvSpPr>
            <a:spLocks noGrp="1"/>
          </p:cNvSpPr>
          <p:nvPr>
            <p:ph type="dt" sz="half" idx="10"/>
          </p:nvPr>
        </p:nvSpPr>
        <p:spPr/>
        <p:txBody>
          <a:bodyPr/>
          <a:lstStyle/>
          <a:p>
            <a:fld id="{2B4786C9-9059-D341-BB47-12DB06BE8880}" type="datetimeFigureOut">
              <a:rPr lang="en-NP" smtClean="0"/>
              <a:t>02/14/2026</a:t>
            </a:fld>
            <a:endParaRPr lang="en-NP"/>
          </a:p>
        </p:txBody>
      </p:sp>
      <p:sp>
        <p:nvSpPr>
          <p:cNvPr id="5" name="Footer Placeholder 4">
            <a:extLst>
              <a:ext uri="{FF2B5EF4-FFF2-40B4-BE49-F238E27FC236}">
                <a16:creationId xmlns:a16="http://schemas.microsoft.com/office/drawing/2014/main" id="{289E80ED-774E-D14F-9F4A-EA49A982436C}"/>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CC635E0C-660A-C745-A4E7-B13F4E19A16B}"/>
              </a:ext>
            </a:extLst>
          </p:cNvPr>
          <p:cNvSpPr>
            <a:spLocks noGrp="1"/>
          </p:cNvSpPr>
          <p:nvPr>
            <p:ph type="sldNum" sz="quarter" idx="12"/>
          </p:nvPr>
        </p:nvSpPr>
        <p:spPr/>
        <p:txBody>
          <a:bodyPr/>
          <a:lstStyle/>
          <a:p>
            <a:fld id="{792AA8EB-B05A-8A4E-9755-ACB142B931F3}" type="slidenum">
              <a:rPr lang="en-NP" smtClean="0"/>
              <a:t>‹#›</a:t>
            </a:fld>
            <a:endParaRPr lang="en-NP"/>
          </a:p>
        </p:txBody>
      </p:sp>
    </p:spTree>
    <p:extLst>
      <p:ext uri="{BB962C8B-B14F-4D97-AF65-F5344CB8AC3E}">
        <p14:creationId xmlns:p14="http://schemas.microsoft.com/office/powerpoint/2010/main" val="1918189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19EA8-73D7-5841-8BB5-5BA06839B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P"/>
          </a:p>
        </p:txBody>
      </p:sp>
      <p:sp>
        <p:nvSpPr>
          <p:cNvPr id="3" name="Text Placeholder 2">
            <a:extLst>
              <a:ext uri="{FF2B5EF4-FFF2-40B4-BE49-F238E27FC236}">
                <a16:creationId xmlns:a16="http://schemas.microsoft.com/office/drawing/2014/main" id="{D89F6AA2-F0BA-B24C-8488-DCD458239E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7BF481-C299-6B4C-9976-ED0A50CEF602}"/>
              </a:ext>
            </a:extLst>
          </p:cNvPr>
          <p:cNvSpPr>
            <a:spLocks noGrp="1"/>
          </p:cNvSpPr>
          <p:nvPr>
            <p:ph type="dt" sz="half" idx="10"/>
          </p:nvPr>
        </p:nvSpPr>
        <p:spPr/>
        <p:txBody>
          <a:bodyPr/>
          <a:lstStyle/>
          <a:p>
            <a:fld id="{2B4786C9-9059-D341-BB47-12DB06BE8880}" type="datetimeFigureOut">
              <a:rPr lang="en-NP" smtClean="0"/>
              <a:t>02/14/2026</a:t>
            </a:fld>
            <a:endParaRPr lang="en-NP"/>
          </a:p>
        </p:txBody>
      </p:sp>
      <p:sp>
        <p:nvSpPr>
          <p:cNvPr id="5" name="Footer Placeholder 4">
            <a:extLst>
              <a:ext uri="{FF2B5EF4-FFF2-40B4-BE49-F238E27FC236}">
                <a16:creationId xmlns:a16="http://schemas.microsoft.com/office/drawing/2014/main" id="{EC72DBF4-CAA7-BC46-B737-D7D0D7D093D6}"/>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7DDBD550-5ADC-3649-8DDA-CBF2C7153E84}"/>
              </a:ext>
            </a:extLst>
          </p:cNvPr>
          <p:cNvSpPr>
            <a:spLocks noGrp="1"/>
          </p:cNvSpPr>
          <p:nvPr>
            <p:ph type="sldNum" sz="quarter" idx="12"/>
          </p:nvPr>
        </p:nvSpPr>
        <p:spPr/>
        <p:txBody>
          <a:bodyPr/>
          <a:lstStyle/>
          <a:p>
            <a:fld id="{792AA8EB-B05A-8A4E-9755-ACB142B931F3}" type="slidenum">
              <a:rPr lang="en-NP" smtClean="0"/>
              <a:t>‹#›</a:t>
            </a:fld>
            <a:endParaRPr lang="en-NP"/>
          </a:p>
        </p:txBody>
      </p:sp>
    </p:spTree>
    <p:extLst>
      <p:ext uri="{BB962C8B-B14F-4D97-AF65-F5344CB8AC3E}">
        <p14:creationId xmlns:p14="http://schemas.microsoft.com/office/powerpoint/2010/main" val="2027158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E5663-B3E0-F348-801C-F9AEB2A94814}"/>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CF131F66-F41D-6645-BC51-604FFD273A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Content Placeholder 3">
            <a:extLst>
              <a:ext uri="{FF2B5EF4-FFF2-40B4-BE49-F238E27FC236}">
                <a16:creationId xmlns:a16="http://schemas.microsoft.com/office/drawing/2014/main" id="{DE8B36F9-51E5-0845-9B0D-58F6DED1C7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Date Placeholder 4">
            <a:extLst>
              <a:ext uri="{FF2B5EF4-FFF2-40B4-BE49-F238E27FC236}">
                <a16:creationId xmlns:a16="http://schemas.microsoft.com/office/drawing/2014/main" id="{58808212-4721-1B44-B7EB-3172D0C39D90}"/>
              </a:ext>
            </a:extLst>
          </p:cNvPr>
          <p:cNvSpPr>
            <a:spLocks noGrp="1"/>
          </p:cNvSpPr>
          <p:nvPr>
            <p:ph type="dt" sz="half" idx="10"/>
          </p:nvPr>
        </p:nvSpPr>
        <p:spPr/>
        <p:txBody>
          <a:bodyPr/>
          <a:lstStyle/>
          <a:p>
            <a:fld id="{2B4786C9-9059-D341-BB47-12DB06BE8880}" type="datetimeFigureOut">
              <a:rPr lang="en-NP" smtClean="0"/>
              <a:t>02/14/2026</a:t>
            </a:fld>
            <a:endParaRPr lang="en-NP"/>
          </a:p>
        </p:txBody>
      </p:sp>
      <p:sp>
        <p:nvSpPr>
          <p:cNvPr id="6" name="Footer Placeholder 5">
            <a:extLst>
              <a:ext uri="{FF2B5EF4-FFF2-40B4-BE49-F238E27FC236}">
                <a16:creationId xmlns:a16="http://schemas.microsoft.com/office/drawing/2014/main" id="{900FF724-1A33-D64F-AA3F-5967A3384B1C}"/>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6FB81D9C-3DC2-884A-ADEF-8B0685C1E744}"/>
              </a:ext>
            </a:extLst>
          </p:cNvPr>
          <p:cNvSpPr>
            <a:spLocks noGrp="1"/>
          </p:cNvSpPr>
          <p:nvPr>
            <p:ph type="sldNum" sz="quarter" idx="12"/>
          </p:nvPr>
        </p:nvSpPr>
        <p:spPr/>
        <p:txBody>
          <a:bodyPr/>
          <a:lstStyle/>
          <a:p>
            <a:fld id="{792AA8EB-B05A-8A4E-9755-ACB142B931F3}" type="slidenum">
              <a:rPr lang="en-NP" smtClean="0"/>
              <a:t>‹#›</a:t>
            </a:fld>
            <a:endParaRPr lang="en-NP"/>
          </a:p>
        </p:txBody>
      </p:sp>
    </p:spTree>
    <p:extLst>
      <p:ext uri="{BB962C8B-B14F-4D97-AF65-F5344CB8AC3E}">
        <p14:creationId xmlns:p14="http://schemas.microsoft.com/office/powerpoint/2010/main" val="3060153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31A91-696B-A84B-A663-F1D70CA3D6E5}"/>
              </a:ext>
            </a:extLst>
          </p:cNvPr>
          <p:cNvSpPr>
            <a:spLocks noGrp="1"/>
          </p:cNvSpPr>
          <p:nvPr>
            <p:ph type="title"/>
          </p:nvPr>
        </p:nvSpPr>
        <p:spPr>
          <a:xfrm>
            <a:off x="839788" y="365125"/>
            <a:ext cx="10515600" cy="1325563"/>
          </a:xfrm>
        </p:spPr>
        <p:txBody>
          <a:bodyPr/>
          <a:lstStyle/>
          <a:p>
            <a:r>
              <a:rPr lang="en-US"/>
              <a:t>Click to edit Master title style</a:t>
            </a:r>
            <a:endParaRPr lang="en-NP"/>
          </a:p>
        </p:txBody>
      </p:sp>
      <p:sp>
        <p:nvSpPr>
          <p:cNvPr id="3" name="Text Placeholder 2">
            <a:extLst>
              <a:ext uri="{FF2B5EF4-FFF2-40B4-BE49-F238E27FC236}">
                <a16:creationId xmlns:a16="http://schemas.microsoft.com/office/drawing/2014/main" id="{7B587CD1-02A1-8749-A28B-BEE92FB32A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AC0CC0-CF4C-C347-AA0F-89670D09A3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Text Placeholder 4">
            <a:extLst>
              <a:ext uri="{FF2B5EF4-FFF2-40B4-BE49-F238E27FC236}">
                <a16:creationId xmlns:a16="http://schemas.microsoft.com/office/drawing/2014/main" id="{723731D0-7A05-9C4C-AFB9-3EED9E44AF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62CC13-9B5A-D442-99ED-E49325048B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7" name="Date Placeholder 6">
            <a:extLst>
              <a:ext uri="{FF2B5EF4-FFF2-40B4-BE49-F238E27FC236}">
                <a16:creationId xmlns:a16="http://schemas.microsoft.com/office/drawing/2014/main" id="{32C7A4F2-98CB-EB40-989B-CECF55BED326}"/>
              </a:ext>
            </a:extLst>
          </p:cNvPr>
          <p:cNvSpPr>
            <a:spLocks noGrp="1"/>
          </p:cNvSpPr>
          <p:nvPr>
            <p:ph type="dt" sz="half" idx="10"/>
          </p:nvPr>
        </p:nvSpPr>
        <p:spPr/>
        <p:txBody>
          <a:bodyPr/>
          <a:lstStyle/>
          <a:p>
            <a:fld id="{2B4786C9-9059-D341-BB47-12DB06BE8880}" type="datetimeFigureOut">
              <a:rPr lang="en-NP" smtClean="0"/>
              <a:t>02/14/2026</a:t>
            </a:fld>
            <a:endParaRPr lang="en-NP"/>
          </a:p>
        </p:txBody>
      </p:sp>
      <p:sp>
        <p:nvSpPr>
          <p:cNvPr id="8" name="Footer Placeholder 7">
            <a:extLst>
              <a:ext uri="{FF2B5EF4-FFF2-40B4-BE49-F238E27FC236}">
                <a16:creationId xmlns:a16="http://schemas.microsoft.com/office/drawing/2014/main" id="{62D028F7-1CCC-5F47-8015-6F77A1A5EA23}"/>
              </a:ext>
            </a:extLst>
          </p:cNvPr>
          <p:cNvSpPr>
            <a:spLocks noGrp="1"/>
          </p:cNvSpPr>
          <p:nvPr>
            <p:ph type="ftr" sz="quarter" idx="11"/>
          </p:nvPr>
        </p:nvSpPr>
        <p:spPr/>
        <p:txBody>
          <a:bodyPr/>
          <a:lstStyle/>
          <a:p>
            <a:endParaRPr lang="en-NP"/>
          </a:p>
        </p:txBody>
      </p:sp>
      <p:sp>
        <p:nvSpPr>
          <p:cNvPr id="9" name="Slide Number Placeholder 8">
            <a:extLst>
              <a:ext uri="{FF2B5EF4-FFF2-40B4-BE49-F238E27FC236}">
                <a16:creationId xmlns:a16="http://schemas.microsoft.com/office/drawing/2014/main" id="{EB2F28FC-F90D-3848-AB63-45BB484A6E5A}"/>
              </a:ext>
            </a:extLst>
          </p:cNvPr>
          <p:cNvSpPr>
            <a:spLocks noGrp="1"/>
          </p:cNvSpPr>
          <p:nvPr>
            <p:ph type="sldNum" sz="quarter" idx="12"/>
          </p:nvPr>
        </p:nvSpPr>
        <p:spPr/>
        <p:txBody>
          <a:bodyPr/>
          <a:lstStyle/>
          <a:p>
            <a:fld id="{792AA8EB-B05A-8A4E-9755-ACB142B931F3}" type="slidenum">
              <a:rPr lang="en-NP" smtClean="0"/>
              <a:t>‹#›</a:t>
            </a:fld>
            <a:endParaRPr lang="en-NP"/>
          </a:p>
        </p:txBody>
      </p:sp>
    </p:spTree>
    <p:extLst>
      <p:ext uri="{BB962C8B-B14F-4D97-AF65-F5344CB8AC3E}">
        <p14:creationId xmlns:p14="http://schemas.microsoft.com/office/powerpoint/2010/main" val="2243978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F80CD-25B2-F943-991D-79AAA0EA9600}"/>
              </a:ext>
            </a:extLst>
          </p:cNvPr>
          <p:cNvSpPr>
            <a:spLocks noGrp="1"/>
          </p:cNvSpPr>
          <p:nvPr>
            <p:ph type="title"/>
          </p:nvPr>
        </p:nvSpPr>
        <p:spPr/>
        <p:txBody>
          <a:bodyPr/>
          <a:lstStyle/>
          <a:p>
            <a:r>
              <a:rPr lang="en-US"/>
              <a:t>Click to edit Master title style</a:t>
            </a:r>
            <a:endParaRPr lang="en-NP"/>
          </a:p>
        </p:txBody>
      </p:sp>
      <p:sp>
        <p:nvSpPr>
          <p:cNvPr id="3" name="Date Placeholder 2">
            <a:extLst>
              <a:ext uri="{FF2B5EF4-FFF2-40B4-BE49-F238E27FC236}">
                <a16:creationId xmlns:a16="http://schemas.microsoft.com/office/drawing/2014/main" id="{5331DBA3-89A3-EB42-8A44-AE6F386D2496}"/>
              </a:ext>
            </a:extLst>
          </p:cNvPr>
          <p:cNvSpPr>
            <a:spLocks noGrp="1"/>
          </p:cNvSpPr>
          <p:nvPr>
            <p:ph type="dt" sz="half" idx="10"/>
          </p:nvPr>
        </p:nvSpPr>
        <p:spPr/>
        <p:txBody>
          <a:bodyPr/>
          <a:lstStyle/>
          <a:p>
            <a:fld id="{2B4786C9-9059-D341-BB47-12DB06BE8880}" type="datetimeFigureOut">
              <a:rPr lang="en-NP" smtClean="0"/>
              <a:t>02/14/2026</a:t>
            </a:fld>
            <a:endParaRPr lang="en-NP"/>
          </a:p>
        </p:txBody>
      </p:sp>
      <p:sp>
        <p:nvSpPr>
          <p:cNvPr id="4" name="Footer Placeholder 3">
            <a:extLst>
              <a:ext uri="{FF2B5EF4-FFF2-40B4-BE49-F238E27FC236}">
                <a16:creationId xmlns:a16="http://schemas.microsoft.com/office/drawing/2014/main" id="{CC6D1794-D308-264F-8E06-22BD477787D3}"/>
              </a:ext>
            </a:extLst>
          </p:cNvPr>
          <p:cNvSpPr>
            <a:spLocks noGrp="1"/>
          </p:cNvSpPr>
          <p:nvPr>
            <p:ph type="ftr" sz="quarter" idx="11"/>
          </p:nvPr>
        </p:nvSpPr>
        <p:spPr/>
        <p:txBody>
          <a:bodyPr/>
          <a:lstStyle/>
          <a:p>
            <a:endParaRPr lang="en-NP"/>
          </a:p>
        </p:txBody>
      </p:sp>
      <p:sp>
        <p:nvSpPr>
          <p:cNvPr id="5" name="Slide Number Placeholder 4">
            <a:extLst>
              <a:ext uri="{FF2B5EF4-FFF2-40B4-BE49-F238E27FC236}">
                <a16:creationId xmlns:a16="http://schemas.microsoft.com/office/drawing/2014/main" id="{ABFA1BD9-9350-8A4D-8AB9-CDF1555A2EEF}"/>
              </a:ext>
            </a:extLst>
          </p:cNvPr>
          <p:cNvSpPr>
            <a:spLocks noGrp="1"/>
          </p:cNvSpPr>
          <p:nvPr>
            <p:ph type="sldNum" sz="quarter" idx="12"/>
          </p:nvPr>
        </p:nvSpPr>
        <p:spPr/>
        <p:txBody>
          <a:bodyPr/>
          <a:lstStyle/>
          <a:p>
            <a:fld id="{792AA8EB-B05A-8A4E-9755-ACB142B931F3}" type="slidenum">
              <a:rPr lang="en-NP" smtClean="0"/>
              <a:t>‹#›</a:t>
            </a:fld>
            <a:endParaRPr lang="en-NP"/>
          </a:p>
        </p:txBody>
      </p:sp>
    </p:spTree>
    <p:extLst>
      <p:ext uri="{BB962C8B-B14F-4D97-AF65-F5344CB8AC3E}">
        <p14:creationId xmlns:p14="http://schemas.microsoft.com/office/powerpoint/2010/main" val="2470982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AA88BE-1728-5F4A-959A-8FA76D7C302D}"/>
              </a:ext>
            </a:extLst>
          </p:cNvPr>
          <p:cNvSpPr>
            <a:spLocks noGrp="1"/>
          </p:cNvSpPr>
          <p:nvPr>
            <p:ph type="dt" sz="half" idx="10"/>
          </p:nvPr>
        </p:nvSpPr>
        <p:spPr/>
        <p:txBody>
          <a:bodyPr/>
          <a:lstStyle/>
          <a:p>
            <a:fld id="{2B4786C9-9059-D341-BB47-12DB06BE8880}" type="datetimeFigureOut">
              <a:rPr lang="en-NP" smtClean="0"/>
              <a:t>02/14/2026</a:t>
            </a:fld>
            <a:endParaRPr lang="en-NP"/>
          </a:p>
        </p:txBody>
      </p:sp>
      <p:sp>
        <p:nvSpPr>
          <p:cNvPr id="3" name="Footer Placeholder 2">
            <a:extLst>
              <a:ext uri="{FF2B5EF4-FFF2-40B4-BE49-F238E27FC236}">
                <a16:creationId xmlns:a16="http://schemas.microsoft.com/office/drawing/2014/main" id="{3A479762-5677-DC40-9F77-B20C633F5A13}"/>
              </a:ext>
            </a:extLst>
          </p:cNvPr>
          <p:cNvSpPr>
            <a:spLocks noGrp="1"/>
          </p:cNvSpPr>
          <p:nvPr>
            <p:ph type="ftr" sz="quarter" idx="11"/>
          </p:nvPr>
        </p:nvSpPr>
        <p:spPr/>
        <p:txBody>
          <a:bodyPr/>
          <a:lstStyle/>
          <a:p>
            <a:endParaRPr lang="en-NP"/>
          </a:p>
        </p:txBody>
      </p:sp>
      <p:sp>
        <p:nvSpPr>
          <p:cNvPr id="4" name="Slide Number Placeholder 3">
            <a:extLst>
              <a:ext uri="{FF2B5EF4-FFF2-40B4-BE49-F238E27FC236}">
                <a16:creationId xmlns:a16="http://schemas.microsoft.com/office/drawing/2014/main" id="{24300B6E-0E37-114A-A348-8F9D7DB8EBCD}"/>
              </a:ext>
            </a:extLst>
          </p:cNvPr>
          <p:cNvSpPr>
            <a:spLocks noGrp="1"/>
          </p:cNvSpPr>
          <p:nvPr>
            <p:ph type="sldNum" sz="quarter" idx="12"/>
          </p:nvPr>
        </p:nvSpPr>
        <p:spPr/>
        <p:txBody>
          <a:bodyPr/>
          <a:lstStyle/>
          <a:p>
            <a:fld id="{792AA8EB-B05A-8A4E-9755-ACB142B931F3}" type="slidenum">
              <a:rPr lang="en-NP" smtClean="0"/>
              <a:t>‹#›</a:t>
            </a:fld>
            <a:endParaRPr lang="en-NP"/>
          </a:p>
        </p:txBody>
      </p:sp>
    </p:spTree>
    <p:extLst>
      <p:ext uri="{BB962C8B-B14F-4D97-AF65-F5344CB8AC3E}">
        <p14:creationId xmlns:p14="http://schemas.microsoft.com/office/powerpoint/2010/main" val="1483103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05CF-0E24-414A-BD0C-7614026009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Content Placeholder 2">
            <a:extLst>
              <a:ext uri="{FF2B5EF4-FFF2-40B4-BE49-F238E27FC236}">
                <a16:creationId xmlns:a16="http://schemas.microsoft.com/office/drawing/2014/main" id="{613F832B-432B-A84C-813C-C781D6B89E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Text Placeholder 3">
            <a:extLst>
              <a:ext uri="{FF2B5EF4-FFF2-40B4-BE49-F238E27FC236}">
                <a16:creationId xmlns:a16="http://schemas.microsoft.com/office/drawing/2014/main" id="{5380143F-FBF4-DB4B-B41E-3A7396E376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791CA5-C635-FF41-BE1B-550CA636B6F1}"/>
              </a:ext>
            </a:extLst>
          </p:cNvPr>
          <p:cNvSpPr>
            <a:spLocks noGrp="1"/>
          </p:cNvSpPr>
          <p:nvPr>
            <p:ph type="dt" sz="half" idx="10"/>
          </p:nvPr>
        </p:nvSpPr>
        <p:spPr/>
        <p:txBody>
          <a:bodyPr/>
          <a:lstStyle/>
          <a:p>
            <a:fld id="{2B4786C9-9059-D341-BB47-12DB06BE8880}" type="datetimeFigureOut">
              <a:rPr lang="en-NP" smtClean="0"/>
              <a:t>02/14/2026</a:t>
            </a:fld>
            <a:endParaRPr lang="en-NP"/>
          </a:p>
        </p:txBody>
      </p:sp>
      <p:sp>
        <p:nvSpPr>
          <p:cNvPr id="6" name="Footer Placeholder 5">
            <a:extLst>
              <a:ext uri="{FF2B5EF4-FFF2-40B4-BE49-F238E27FC236}">
                <a16:creationId xmlns:a16="http://schemas.microsoft.com/office/drawing/2014/main" id="{459056E8-3D3A-3B47-8482-E5ED4CA605B9}"/>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0B123FAC-F79F-FD4F-8A6D-5EA04139875A}"/>
              </a:ext>
            </a:extLst>
          </p:cNvPr>
          <p:cNvSpPr>
            <a:spLocks noGrp="1"/>
          </p:cNvSpPr>
          <p:nvPr>
            <p:ph type="sldNum" sz="quarter" idx="12"/>
          </p:nvPr>
        </p:nvSpPr>
        <p:spPr/>
        <p:txBody>
          <a:bodyPr/>
          <a:lstStyle/>
          <a:p>
            <a:fld id="{792AA8EB-B05A-8A4E-9755-ACB142B931F3}" type="slidenum">
              <a:rPr lang="en-NP" smtClean="0"/>
              <a:t>‹#›</a:t>
            </a:fld>
            <a:endParaRPr lang="en-NP"/>
          </a:p>
        </p:txBody>
      </p:sp>
    </p:spTree>
    <p:extLst>
      <p:ext uri="{BB962C8B-B14F-4D97-AF65-F5344CB8AC3E}">
        <p14:creationId xmlns:p14="http://schemas.microsoft.com/office/powerpoint/2010/main" val="2186952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690F3-5985-2143-A0A7-4984F942E4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Picture Placeholder 2">
            <a:extLst>
              <a:ext uri="{FF2B5EF4-FFF2-40B4-BE49-F238E27FC236}">
                <a16:creationId xmlns:a16="http://schemas.microsoft.com/office/drawing/2014/main" id="{69F6EAA6-44C1-ED4E-9C21-FF45560A90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P"/>
          </a:p>
        </p:txBody>
      </p:sp>
      <p:sp>
        <p:nvSpPr>
          <p:cNvPr id="4" name="Text Placeholder 3">
            <a:extLst>
              <a:ext uri="{FF2B5EF4-FFF2-40B4-BE49-F238E27FC236}">
                <a16:creationId xmlns:a16="http://schemas.microsoft.com/office/drawing/2014/main" id="{068BD3AF-A3C4-0F42-BD9A-C2A85801A5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A882EE-CAD3-A448-B96D-B3801C72B9C8}"/>
              </a:ext>
            </a:extLst>
          </p:cNvPr>
          <p:cNvSpPr>
            <a:spLocks noGrp="1"/>
          </p:cNvSpPr>
          <p:nvPr>
            <p:ph type="dt" sz="half" idx="10"/>
          </p:nvPr>
        </p:nvSpPr>
        <p:spPr/>
        <p:txBody>
          <a:bodyPr/>
          <a:lstStyle/>
          <a:p>
            <a:fld id="{2B4786C9-9059-D341-BB47-12DB06BE8880}" type="datetimeFigureOut">
              <a:rPr lang="en-NP" smtClean="0"/>
              <a:t>02/14/2026</a:t>
            </a:fld>
            <a:endParaRPr lang="en-NP"/>
          </a:p>
        </p:txBody>
      </p:sp>
      <p:sp>
        <p:nvSpPr>
          <p:cNvPr id="6" name="Footer Placeholder 5">
            <a:extLst>
              <a:ext uri="{FF2B5EF4-FFF2-40B4-BE49-F238E27FC236}">
                <a16:creationId xmlns:a16="http://schemas.microsoft.com/office/drawing/2014/main" id="{547B1A93-7261-7344-A58A-83F439EC6267}"/>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8EAA820F-4027-C748-9D1A-93769B0449A8}"/>
              </a:ext>
            </a:extLst>
          </p:cNvPr>
          <p:cNvSpPr>
            <a:spLocks noGrp="1"/>
          </p:cNvSpPr>
          <p:nvPr>
            <p:ph type="sldNum" sz="quarter" idx="12"/>
          </p:nvPr>
        </p:nvSpPr>
        <p:spPr/>
        <p:txBody>
          <a:bodyPr/>
          <a:lstStyle/>
          <a:p>
            <a:fld id="{792AA8EB-B05A-8A4E-9755-ACB142B931F3}" type="slidenum">
              <a:rPr lang="en-NP" smtClean="0"/>
              <a:t>‹#›</a:t>
            </a:fld>
            <a:endParaRPr lang="en-NP"/>
          </a:p>
        </p:txBody>
      </p:sp>
    </p:spTree>
    <p:extLst>
      <p:ext uri="{BB962C8B-B14F-4D97-AF65-F5344CB8AC3E}">
        <p14:creationId xmlns:p14="http://schemas.microsoft.com/office/powerpoint/2010/main" val="549225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91813-41D8-CD4E-9EC7-A51CA4489643}"/>
              </a:ext>
            </a:extLst>
          </p:cNvPr>
          <p:cNvSpPr>
            <a:spLocks noGrp="1"/>
          </p:cNvSpPr>
          <p:nvPr>
            <p:ph type="title"/>
          </p:nvPr>
        </p:nvSpPr>
        <p:spPr/>
        <p:txBody>
          <a:bodyPr/>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2526DA30-AF9D-9C44-8BFC-72A685627C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3D396059-6748-3B48-AD95-0FE1D36588BC}"/>
              </a:ext>
            </a:extLst>
          </p:cNvPr>
          <p:cNvSpPr>
            <a:spLocks noGrp="1"/>
          </p:cNvSpPr>
          <p:nvPr>
            <p:ph type="dt" sz="half" idx="10"/>
          </p:nvPr>
        </p:nvSpPr>
        <p:spPr/>
        <p:txBody>
          <a:bodyPr/>
          <a:lstStyle/>
          <a:p>
            <a:fld id="{2B4786C9-9059-D341-BB47-12DB06BE8880}" type="datetimeFigureOut">
              <a:rPr lang="en-NP" smtClean="0"/>
              <a:t>02/14/2026</a:t>
            </a:fld>
            <a:endParaRPr lang="en-NP"/>
          </a:p>
        </p:txBody>
      </p:sp>
      <p:sp>
        <p:nvSpPr>
          <p:cNvPr id="5" name="Footer Placeholder 4">
            <a:extLst>
              <a:ext uri="{FF2B5EF4-FFF2-40B4-BE49-F238E27FC236}">
                <a16:creationId xmlns:a16="http://schemas.microsoft.com/office/drawing/2014/main" id="{31998F2A-29D1-704A-8290-E72FAA3E589B}"/>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D45F6A24-E319-5F41-9EB7-FA9455B9E60D}"/>
              </a:ext>
            </a:extLst>
          </p:cNvPr>
          <p:cNvSpPr>
            <a:spLocks noGrp="1"/>
          </p:cNvSpPr>
          <p:nvPr>
            <p:ph type="sldNum" sz="quarter" idx="12"/>
          </p:nvPr>
        </p:nvSpPr>
        <p:spPr/>
        <p:txBody>
          <a:bodyPr/>
          <a:lstStyle/>
          <a:p>
            <a:fld id="{792AA8EB-B05A-8A4E-9755-ACB142B931F3}" type="slidenum">
              <a:rPr lang="en-NP" smtClean="0"/>
              <a:t>‹#›</a:t>
            </a:fld>
            <a:endParaRPr lang="en-NP"/>
          </a:p>
        </p:txBody>
      </p:sp>
    </p:spTree>
    <p:extLst>
      <p:ext uri="{BB962C8B-B14F-4D97-AF65-F5344CB8AC3E}">
        <p14:creationId xmlns:p14="http://schemas.microsoft.com/office/powerpoint/2010/main" val="4098215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FD7F64-0993-5541-B907-0F68D814A4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07CCE511-2A73-AC41-8356-1867E8C746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BF12B443-629D-2448-883A-954B31E6CF42}"/>
              </a:ext>
            </a:extLst>
          </p:cNvPr>
          <p:cNvSpPr>
            <a:spLocks noGrp="1"/>
          </p:cNvSpPr>
          <p:nvPr>
            <p:ph type="dt" sz="half" idx="10"/>
          </p:nvPr>
        </p:nvSpPr>
        <p:spPr/>
        <p:txBody>
          <a:bodyPr/>
          <a:lstStyle/>
          <a:p>
            <a:fld id="{2B4786C9-9059-D341-BB47-12DB06BE8880}" type="datetimeFigureOut">
              <a:rPr lang="en-NP" smtClean="0"/>
              <a:t>02/14/2026</a:t>
            </a:fld>
            <a:endParaRPr lang="en-NP"/>
          </a:p>
        </p:txBody>
      </p:sp>
      <p:sp>
        <p:nvSpPr>
          <p:cNvPr id="5" name="Footer Placeholder 4">
            <a:extLst>
              <a:ext uri="{FF2B5EF4-FFF2-40B4-BE49-F238E27FC236}">
                <a16:creationId xmlns:a16="http://schemas.microsoft.com/office/drawing/2014/main" id="{088D644F-6D3D-914C-81DB-3786DC841F3A}"/>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1F78AE11-777A-5D41-8AA1-F9689A0B3013}"/>
              </a:ext>
            </a:extLst>
          </p:cNvPr>
          <p:cNvSpPr>
            <a:spLocks noGrp="1"/>
          </p:cNvSpPr>
          <p:nvPr>
            <p:ph type="sldNum" sz="quarter" idx="12"/>
          </p:nvPr>
        </p:nvSpPr>
        <p:spPr/>
        <p:txBody>
          <a:bodyPr/>
          <a:lstStyle/>
          <a:p>
            <a:fld id="{792AA8EB-B05A-8A4E-9755-ACB142B931F3}" type="slidenum">
              <a:rPr lang="en-NP" smtClean="0"/>
              <a:t>‹#›</a:t>
            </a:fld>
            <a:endParaRPr lang="en-NP"/>
          </a:p>
        </p:txBody>
      </p:sp>
    </p:spTree>
    <p:extLst>
      <p:ext uri="{BB962C8B-B14F-4D97-AF65-F5344CB8AC3E}">
        <p14:creationId xmlns:p14="http://schemas.microsoft.com/office/powerpoint/2010/main" val="1993514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BBF0FA-6CEA-D044-B6DC-D72ED5BD10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P"/>
          </a:p>
        </p:txBody>
      </p:sp>
      <p:sp>
        <p:nvSpPr>
          <p:cNvPr id="3" name="Text Placeholder 2">
            <a:extLst>
              <a:ext uri="{FF2B5EF4-FFF2-40B4-BE49-F238E27FC236}">
                <a16:creationId xmlns:a16="http://schemas.microsoft.com/office/drawing/2014/main" id="{4297F603-49EA-DB48-925F-3F17D1591B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30C07780-2281-2D48-9A77-607D85B4B8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4786C9-9059-D341-BB47-12DB06BE8880}" type="datetimeFigureOut">
              <a:rPr lang="en-NP" smtClean="0"/>
              <a:t>02/14/2026</a:t>
            </a:fld>
            <a:endParaRPr lang="en-NP"/>
          </a:p>
        </p:txBody>
      </p:sp>
      <p:sp>
        <p:nvSpPr>
          <p:cNvPr id="5" name="Footer Placeholder 4">
            <a:extLst>
              <a:ext uri="{FF2B5EF4-FFF2-40B4-BE49-F238E27FC236}">
                <a16:creationId xmlns:a16="http://schemas.microsoft.com/office/drawing/2014/main" id="{1DADB45D-FA0D-A841-AFAF-57122AAD2D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P"/>
          </a:p>
        </p:txBody>
      </p:sp>
      <p:sp>
        <p:nvSpPr>
          <p:cNvPr id="6" name="Slide Number Placeholder 5">
            <a:extLst>
              <a:ext uri="{FF2B5EF4-FFF2-40B4-BE49-F238E27FC236}">
                <a16:creationId xmlns:a16="http://schemas.microsoft.com/office/drawing/2014/main" id="{02907A2C-A990-9C44-A197-9FCC0E4005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2AA8EB-B05A-8A4E-9755-ACB142B931F3}" type="slidenum">
              <a:rPr lang="en-NP" smtClean="0"/>
              <a:t>‹#›</a:t>
            </a:fld>
            <a:endParaRPr lang="en-NP"/>
          </a:p>
        </p:txBody>
      </p:sp>
    </p:spTree>
    <p:extLst>
      <p:ext uri="{BB962C8B-B14F-4D97-AF65-F5344CB8AC3E}">
        <p14:creationId xmlns:p14="http://schemas.microsoft.com/office/powerpoint/2010/main" val="1901855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9D9D44-FBAF-8F48-87C2-301ADB7D2DD8}"/>
              </a:ext>
            </a:extLst>
          </p:cNvPr>
          <p:cNvSpPr>
            <a:spLocks noGrp="1"/>
          </p:cNvSpPr>
          <p:nvPr>
            <p:ph type="ctrTitle"/>
          </p:nvPr>
        </p:nvSpPr>
        <p:spPr>
          <a:xfrm>
            <a:off x="2408585" y="2038466"/>
            <a:ext cx="7374827" cy="1390534"/>
          </a:xfrm>
        </p:spPr>
        <p:txBody>
          <a:bodyPr>
            <a:normAutofit/>
          </a:bodyPr>
          <a:lstStyle/>
          <a:p>
            <a:r>
              <a:rPr lang="en-US" sz="7200" b="1" dirty="0">
                <a:solidFill>
                  <a:schemeClr val="tx1"/>
                </a:solidFill>
              </a:rPr>
              <a:t>Query Processing</a:t>
            </a:r>
          </a:p>
        </p:txBody>
      </p:sp>
      <p:sp>
        <p:nvSpPr>
          <p:cNvPr id="7" name="Subtitle 2">
            <a:extLst>
              <a:ext uri="{FF2B5EF4-FFF2-40B4-BE49-F238E27FC236}">
                <a16:creationId xmlns:a16="http://schemas.microsoft.com/office/drawing/2014/main" id="{CAF87DDD-F668-EE40-982D-DBA8C900A7E8}"/>
              </a:ext>
            </a:extLst>
          </p:cNvPr>
          <p:cNvSpPr>
            <a:spLocks noGrp="1"/>
          </p:cNvSpPr>
          <p:nvPr>
            <p:ph type="subTitle" idx="1"/>
          </p:nvPr>
        </p:nvSpPr>
        <p:spPr>
          <a:xfrm>
            <a:off x="3708462" y="3626893"/>
            <a:ext cx="4775075" cy="830808"/>
          </a:xfrm>
        </p:spPr>
        <p:txBody>
          <a:bodyPr>
            <a:normAutofit/>
          </a:bodyPr>
          <a:lstStyle/>
          <a:p>
            <a:pPr>
              <a:spcAft>
                <a:spcPts val="600"/>
              </a:spcAft>
            </a:pPr>
            <a:r>
              <a:rPr lang="en-US" altLang="en-US" sz="1800" dirty="0">
                <a:latin typeface="+mj-lt"/>
              </a:rPr>
              <a:t>Jan 23, 2024 – DBMS</a:t>
            </a:r>
          </a:p>
        </p:txBody>
      </p:sp>
    </p:spTree>
    <p:extLst>
      <p:ext uri="{BB962C8B-B14F-4D97-AF65-F5344CB8AC3E}">
        <p14:creationId xmlns:p14="http://schemas.microsoft.com/office/powerpoint/2010/main" val="2711971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Query Processing</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5029201" cy="3889381"/>
          </a:xfrm>
        </p:spPr>
        <p:txBody>
          <a:bodyPr>
            <a:normAutofit/>
          </a:bodyPr>
          <a:lstStyle/>
          <a:p>
            <a:r>
              <a:rPr lang="en-US" sz="2200" dirty="0">
                <a:solidFill>
                  <a:schemeClr val="tx1">
                    <a:lumMod val="75000"/>
                    <a:lumOff val="25000"/>
                  </a:schemeClr>
                </a:solidFill>
                <a:effectLst/>
              </a:rPr>
              <a:t>Query processing is a crucial component of database management systems (DBMS) </a:t>
            </a:r>
            <a:r>
              <a:rPr lang="en-US" sz="2200" b="1" dirty="0">
                <a:solidFill>
                  <a:schemeClr val="tx1">
                    <a:lumMod val="75000"/>
                    <a:lumOff val="25000"/>
                  </a:schemeClr>
                </a:solidFill>
                <a:effectLst/>
              </a:rPr>
              <a:t>responsible for translating high-level queries into efficient execution plans</a:t>
            </a:r>
            <a:r>
              <a:rPr lang="en-US" sz="2200" dirty="0">
                <a:solidFill>
                  <a:schemeClr val="tx1">
                    <a:lumMod val="75000"/>
                    <a:lumOff val="25000"/>
                  </a:schemeClr>
                </a:solidFill>
                <a:effectLst/>
              </a:rPr>
              <a:t>.</a:t>
            </a:r>
          </a:p>
          <a:p>
            <a:r>
              <a:rPr lang="en-US" sz="2200" dirty="0">
                <a:solidFill>
                  <a:schemeClr val="tx1">
                    <a:lumMod val="75000"/>
                    <a:lumOff val="25000"/>
                  </a:schemeClr>
                </a:solidFill>
                <a:effectLst/>
              </a:rPr>
              <a:t>This process involves several stages, including parsing, semantic analysis, query optimization, and execution.</a:t>
            </a:r>
          </a:p>
        </p:txBody>
      </p:sp>
      <p:pic>
        <p:nvPicPr>
          <p:cNvPr id="1026" name="Picture 2" descr="Query Optimization in DBMS - Scaler Topics">
            <a:extLst>
              <a:ext uri="{FF2B5EF4-FFF2-40B4-BE49-F238E27FC236}">
                <a16:creationId xmlns:a16="http://schemas.microsoft.com/office/drawing/2014/main" id="{10246871-0F9F-A841-A517-C18E38646E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79" r="17448" b="15417"/>
          <a:stretch/>
        </p:blipFill>
        <p:spPr bwMode="auto">
          <a:xfrm>
            <a:off x="6748463" y="528637"/>
            <a:ext cx="5086350" cy="580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7627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C259982-A1B4-49CC-A398-3D32FD010DAB}"/>
              </a:ext>
            </a:extLst>
          </p:cNvPr>
          <p:cNvPicPr>
            <a:picLocks noChangeAspect="1"/>
          </p:cNvPicPr>
          <p:nvPr/>
        </p:nvPicPr>
        <p:blipFill>
          <a:blip r:embed="rId2"/>
          <a:stretch>
            <a:fillRect/>
          </a:stretch>
        </p:blipFill>
        <p:spPr>
          <a:xfrm>
            <a:off x="1696278" y="596727"/>
            <a:ext cx="7474226" cy="4811451"/>
          </a:xfrm>
          <a:prstGeom prst="rect">
            <a:avLst/>
          </a:prstGeom>
        </p:spPr>
      </p:pic>
    </p:spTree>
    <p:extLst>
      <p:ext uri="{BB962C8B-B14F-4D97-AF65-F5344CB8AC3E}">
        <p14:creationId xmlns:p14="http://schemas.microsoft.com/office/powerpoint/2010/main" val="2723072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Query Processing</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rmAutofit/>
          </a:bodyPr>
          <a:lstStyle/>
          <a:p>
            <a:pPr marL="0" indent="0">
              <a:buNone/>
            </a:pPr>
            <a:r>
              <a:rPr lang="en-US" sz="2200" b="1" dirty="0">
                <a:solidFill>
                  <a:schemeClr val="tx1">
                    <a:lumMod val="75000"/>
                    <a:lumOff val="25000"/>
                  </a:schemeClr>
                </a:solidFill>
                <a:effectLst/>
              </a:rPr>
              <a:t>Parsing and Lexical Analysis:</a:t>
            </a:r>
          </a:p>
          <a:p>
            <a:r>
              <a:rPr lang="en-US" sz="2200" dirty="0">
                <a:solidFill>
                  <a:schemeClr val="tx1">
                    <a:lumMod val="75000"/>
                    <a:lumOff val="25000"/>
                  </a:schemeClr>
                </a:solidFill>
                <a:effectLst/>
              </a:rPr>
              <a:t>Breaking down the query into its individual components (tokens) like keywords, table names, and operators.</a:t>
            </a:r>
          </a:p>
          <a:p>
            <a:r>
              <a:rPr lang="en-US" sz="2200" dirty="0">
                <a:solidFill>
                  <a:schemeClr val="tx1">
                    <a:lumMod val="75000"/>
                    <a:lumOff val="25000"/>
                  </a:schemeClr>
                </a:solidFill>
                <a:effectLst/>
              </a:rPr>
              <a:t>Checking for syntactic correctness and resolving ambiguities.</a:t>
            </a:r>
          </a:p>
          <a:p>
            <a:pPr marL="0" indent="0">
              <a:buNone/>
            </a:pPr>
            <a:r>
              <a:rPr lang="en-US" sz="2200" dirty="0">
                <a:solidFill>
                  <a:schemeClr val="tx1">
                    <a:lumMod val="75000"/>
                    <a:lumOff val="25000"/>
                  </a:schemeClr>
                </a:solidFill>
                <a:effectLst/>
              </a:rPr>
              <a:t>	</a:t>
            </a:r>
            <a:r>
              <a:rPr lang="en-US" sz="2200" i="1" dirty="0">
                <a:solidFill>
                  <a:schemeClr val="tx1">
                    <a:lumMod val="75000"/>
                    <a:lumOff val="25000"/>
                  </a:schemeClr>
                </a:solidFill>
                <a:effectLst/>
              </a:rPr>
              <a:t>SELECT FirstName, </a:t>
            </a:r>
            <a:r>
              <a:rPr lang="en-US" sz="2200" i="1" dirty="0" err="1">
                <a:solidFill>
                  <a:schemeClr val="tx1">
                    <a:lumMod val="75000"/>
                    <a:lumOff val="25000"/>
                  </a:schemeClr>
                </a:solidFill>
                <a:effectLst/>
              </a:rPr>
              <a:t>LastName</a:t>
            </a:r>
            <a:r>
              <a:rPr lang="en-US" sz="2200" i="1" dirty="0">
                <a:solidFill>
                  <a:schemeClr val="tx1">
                    <a:lumMod val="75000"/>
                    <a:lumOff val="25000"/>
                  </a:schemeClr>
                </a:solidFill>
                <a:effectLst/>
              </a:rPr>
              <a:t> FROM Employees WHERE Department = 'IT’;</a:t>
            </a:r>
          </a:p>
          <a:p>
            <a:pPr marL="0" indent="0">
              <a:buNone/>
            </a:pPr>
            <a:endParaRPr lang="en-US" sz="2200" dirty="0">
              <a:solidFill>
                <a:schemeClr val="tx1">
                  <a:lumMod val="75000"/>
                  <a:lumOff val="25000"/>
                </a:schemeClr>
              </a:solidFill>
              <a:effectLst/>
            </a:endParaRPr>
          </a:p>
          <a:p>
            <a:pPr marL="457200" lvl="1" indent="0">
              <a:buNone/>
            </a:pPr>
            <a:r>
              <a:rPr lang="en-US" sz="2000" dirty="0">
                <a:solidFill>
                  <a:schemeClr val="tx1">
                    <a:lumMod val="75000"/>
                    <a:lumOff val="25000"/>
                  </a:schemeClr>
                </a:solidFill>
                <a:effectLst/>
              </a:rPr>
              <a:t>In this query, parsing involves identifying:</a:t>
            </a:r>
          </a:p>
          <a:p>
            <a:pPr lvl="1">
              <a:buFont typeface="Courier New" panose="02070309020205020404" pitchFamily="49" charset="0"/>
              <a:buChar char="o"/>
            </a:pPr>
            <a:r>
              <a:rPr lang="en-US" sz="2000" i="1" dirty="0">
                <a:solidFill>
                  <a:schemeClr val="tx1">
                    <a:lumMod val="75000"/>
                    <a:lumOff val="25000"/>
                  </a:schemeClr>
                </a:solidFill>
                <a:effectLst/>
              </a:rPr>
              <a:t>keywords</a:t>
            </a:r>
            <a:r>
              <a:rPr lang="en-US" sz="2000" dirty="0">
                <a:solidFill>
                  <a:schemeClr val="tx1">
                    <a:lumMod val="75000"/>
                    <a:lumOff val="25000"/>
                  </a:schemeClr>
                </a:solidFill>
                <a:effectLst/>
              </a:rPr>
              <a:t> </a:t>
            </a:r>
            <a:r>
              <a:rPr lang="en-US" sz="2000" b="1" dirty="0">
                <a:solidFill>
                  <a:schemeClr val="tx1">
                    <a:lumMod val="75000"/>
                    <a:lumOff val="25000"/>
                  </a:schemeClr>
                </a:solidFill>
                <a:effectLst/>
              </a:rPr>
              <a:t>(SELECT, FROM, WHERE)</a:t>
            </a:r>
            <a:r>
              <a:rPr lang="en-US" sz="2000" dirty="0">
                <a:solidFill>
                  <a:schemeClr val="tx1">
                    <a:lumMod val="75000"/>
                    <a:lumOff val="25000"/>
                  </a:schemeClr>
                </a:solidFill>
                <a:effectLst/>
              </a:rPr>
              <a:t>, </a:t>
            </a:r>
          </a:p>
          <a:p>
            <a:pPr lvl="1">
              <a:buFont typeface="Courier New" panose="02070309020205020404" pitchFamily="49" charset="0"/>
              <a:buChar char="o"/>
            </a:pPr>
            <a:r>
              <a:rPr lang="en-US" sz="2000" i="1" dirty="0">
                <a:solidFill>
                  <a:schemeClr val="tx1">
                    <a:lumMod val="75000"/>
                    <a:lumOff val="25000"/>
                  </a:schemeClr>
                </a:solidFill>
                <a:effectLst/>
              </a:rPr>
              <a:t>table and column names </a:t>
            </a:r>
            <a:r>
              <a:rPr lang="en-US" sz="2000" b="1" dirty="0">
                <a:solidFill>
                  <a:schemeClr val="tx1">
                    <a:lumMod val="75000"/>
                    <a:lumOff val="25000"/>
                  </a:schemeClr>
                </a:solidFill>
                <a:effectLst/>
              </a:rPr>
              <a:t>(Employees, FirstName, </a:t>
            </a:r>
            <a:r>
              <a:rPr lang="en-US" sz="2000" b="1" dirty="0" err="1">
                <a:solidFill>
                  <a:schemeClr val="tx1">
                    <a:lumMod val="75000"/>
                    <a:lumOff val="25000"/>
                  </a:schemeClr>
                </a:solidFill>
                <a:effectLst/>
              </a:rPr>
              <a:t>LastName</a:t>
            </a:r>
            <a:r>
              <a:rPr lang="en-US" sz="2000" b="1" dirty="0">
                <a:solidFill>
                  <a:schemeClr val="tx1">
                    <a:lumMod val="75000"/>
                    <a:lumOff val="25000"/>
                  </a:schemeClr>
                </a:solidFill>
                <a:effectLst/>
              </a:rPr>
              <a:t>, Department)</a:t>
            </a:r>
            <a:endParaRPr lang="en-US" sz="2000" b="1" dirty="0">
              <a:solidFill>
                <a:schemeClr val="tx1">
                  <a:lumMod val="75000"/>
                  <a:lumOff val="25000"/>
                </a:schemeClr>
              </a:solidFill>
            </a:endParaRPr>
          </a:p>
          <a:p>
            <a:pPr lvl="1">
              <a:buFont typeface="Courier New" panose="02070309020205020404" pitchFamily="49" charset="0"/>
              <a:buChar char="o"/>
            </a:pPr>
            <a:r>
              <a:rPr lang="en-US" sz="2000" i="1" dirty="0">
                <a:solidFill>
                  <a:schemeClr val="tx1">
                    <a:lumMod val="75000"/>
                    <a:lumOff val="25000"/>
                  </a:schemeClr>
                </a:solidFill>
                <a:effectLst/>
              </a:rPr>
              <a:t>filtering condition </a:t>
            </a:r>
            <a:r>
              <a:rPr lang="en-US" sz="2000" b="1" dirty="0">
                <a:solidFill>
                  <a:schemeClr val="tx1">
                    <a:lumMod val="75000"/>
                    <a:lumOff val="25000"/>
                  </a:schemeClr>
                </a:solidFill>
                <a:effectLst/>
              </a:rPr>
              <a:t>(Department = 'IT'). </a:t>
            </a:r>
            <a:endParaRPr lang="en-US" sz="2000" dirty="0">
              <a:solidFill>
                <a:schemeClr val="tx1">
                  <a:lumMod val="75000"/>
                  <a:lumOff val="25000"/>
                </a:schemeClr>
              </a:solidFill>
              <a:effectLst/>
            </a:endParaRPr>
          </a:p>
        </p:txBody>
      </p:sp>
    </p:spTree>
    <p:extLst>
      <p:ext uri="{BB962C8B-B14F-4D97-AF65-F5344CB8AC3E}">
        <p14:creationId xmlns:p14="http://schemas.microsoft.com/office/powerpoint/2010/main" val="4181720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Query Processing</a:t>
            </a:r>
          </a:p>
        </p:txBody>
      </p:sp>
      <p:pic>
        <p:nvPicPr>
          <p:cNvPr id="1026" name="Picture 2" descr="parser and parse tree">
            <a:extLst>
              <a:ext uri="{FF2B5EF4-FFF2-40B4-BE49-F238E27FC236}">
                <a16:creationId xmlns:a16="http://schemas.microsoft.com/office/drawing/2014/main" id="{23D19B3C-032F-084B-B984-5FDB45DD3B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1986" y="1906867"/>
            <a:ext cx="5908027" cy="4452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5268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Query Processing</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rmAutofit/>
          </a:bodyPr>
          <a:lstStyle/>
          <a:p>
            <a:pPr marL="0" indent="0">
              <a:buNone/>
            </a:pPr>
            <a:r>
              <a:rPr lang="en-US" sz="2200" b="1" dirty="0">
                <a:solidFill>
                  <a:schemeClr val="tx1">
                    <a:lumMod val="75000"/>
                    <a:lumOff val="25000"/>
                  </a:schemeClr>
                </a:solidFill>
              </a:rPr>
              <a:t>Semantic Analysis:</a:t>
            </a:r>
          </a:p>
          <a:p>
            <a:r>
              <a:rPr lang="en-US" sz="2200" dirty="0">
                <a:solidFill>
                  <a:schemeClr val="tx1">
                    <a:lumMod val="75000"/>
                    <a:lumOff val="25000"/>
                  </a:schemeClr>
                </a:solidFill>
              </a:rPr>
              <a:t>Validating the existence of tables, columns, and relations mentioned in the query.</a:t>
            </a:r>
          </a:p>
          <a:p>
            <a:r>
              <a:rPr lang="en-US" sz="2200" dirty="0">
                <a:solidFill>
                  <a:schemeClr val="tx1">
                    <a:lumMod val="75000"/>
                    <a:lumOff val="25000"/>
                  </a:schemeClr>
                </a:solidFill>
              </a:rPr>
              <a:t>Identifying joins, aggregations, and other operations to be performed.</a:t>
            </a:r>
          </a:p>
          <a:p>
            <a:endParaRPr lang="en-US" sz="2200" dirty="0">
              <a:solidFill>
                <a:schemeClr val="tx1">
                  <a:lumMod val="75000"/>
                  <a:lumOff val="25000"/>
                </a:schemeClr>
              </a:solidFill>
            </a:endParaRPr>
          </a:p>
          <a:p>
            <a:pPr marL="0" indent="0">
              <a:buNone/>
            </a:pPr>
            <a:r>
              <a:rPr lang="en-US" sz="2200" dirty="0">
                <a:solidFill>
                  <a:schemeClr val="tx1">
                    <a:lumMod val="75000"/>
                    <a:lumOff val="25000"/>
                  </a:schemeClr>
                </a:solidFill>
              </a:rPr>
              <a:t>	</a:t>
            </a:r>
            <a:r>
              <a:rPr lang="en-US" sz="2200" i="1" dirty="0">
                <a:solidFill>
                  <a:schemeClr val="tx1">
                    <a:lumMod val="75000"/>
                    <a:lumOff val="25000"/>
                  </a:schemeClr>
                </a:solidFill>
              </a:rPr>
              <a:t>SELECT FirstName, </a:t>
            </a:r>
            <a:r>
              <a:rPr lang="en-US" sz="2200" i="1" dirty="0" err="1">
                <a:solidFill>
                  <a:schemeClr val="tx1">
                    <a:lumMod val="75000"/>
                    <a:lumOff val="25000"/>
                  </a:schemeClr>
                </a:solidFill>
              </a:rPr>
              <a:t>LastName</a:t>
            </a:r>
            <a:r>
              <a:rPr lang="en-US" sz="2200" i="1" dirty="0">
                <a:solidFill>
                  <a:schemeClr val="tx1">
                    <a:lumMod val="75000"/>
                    <a:lumOff val="25000"/>
                  </a:schemeClr>
                </a:solidFill>
              </a:rPr>
              <a:t> FROM Employees WHERE Department = 'IT’;</a:t>
            </a:r>
          </a:p>
          <a:p>
            <a:pPr marL="0" indent="0">
              <a:buNone/>
            </a:pPr>
            <a:endParaRPr lang="en-US" sz="2200" i="1" dirty="0">
              <a:solidFill>
                <a:schemeClr val="tx1">
                  <a:lumMod val="75000"/>
                  <a:lumOff val="25000"/>
                </a:schemeClr>
              </a:solidFill>
            </a:endParaRPr>
          </a:p>
          <a:p>
            <a:pPr marL="457200" lvl="1" indent="0">
              <a:buNone/>
            </a:pPr>
            <a:r>
              <a:rPr lang="en-US" sz="2000" dirty="0">
                <a:solidFill>
                  <a:schemeClr val="tx1">
                    <a:lumMod val="75000"/>
                    <a:lumOff val="25000"/>
                  </a:schemeClr>
                </a:solidFill>
              </a:rPr>
              <a:t>Semantic analysis checks that there is a table named "Employees" and that it contains columns named "FirstName," "</a:t>
            </a:r>
            <a:r>
              <a:rPr lang="en-US" sz="2000" dirty="0" err="1">
                <a:solidFill>
                  <a:schemeClr val="tx1">
                    <a:lumMod val="75000"/>
                    <a:lumOff val="25000"/>
                  </a:schemeClr>
                </a:solidFill>
              </a:rPr>
              <a:t>LastName</a:t>
            </a:r>
            <a:r>
              <a:rPr lang="en-US" sz="2000" dirty="0">
                <a:solidFill>
                  <a:schemeClr val="tx1">
                    <a:lumMod val="75000"/>
                    <a:lumOff val="25000"/>
                  </a:schemeClr>
                </a:solidFill>
              </a:rPr>
              <a:t>," and "Department."</a:t>
            </a:r>
          </a:p>
          <a:p>
            <a:endParaRPr lang="en-US" sz="2200" dirty="0">
              <a:solidFill>
                <a:schemeClr val="tx1">
                  <a:lumMod val="75000"/>
                  <a:lumOff val="25000"/>
                </a:schemeClr>
              </a:solidFill>
              <a:effectLst/>
            </a:endParaRPr>
          </a:p>
        </p:txBody>
      </p:sp>
    </p:spTree>
    <p:extLst>
      <p:ext uri="{BB962C8B-B14F-4D97-AF65-F5344CB8AC3E}">
        <p14:creationId xmlns:p14="http://schemas.microsoft.com/office/powerpoint/2010/main" val="1290210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DC0E2-0437-479A-90D5-35442696EE3D}"/>
              </a:ext>
            </a:extLst>
          </p:cNvPr>
          <p:cNvSpPr>
            <a:spLocks noGrp="1"/>
          </p:cNvSpPr>
          <p:nvPr>
            <p:ph type="title"/>
          </p:nvPr>
        </p:nvSpPr>
        <p:spPr/>
        <p:txBody>
          <a:bodyPr/>
          <a:lstStyle/>
          <a:p>
            <a:r>
              <a:rPr lang="en-US" b="1" dirty="0"/>
              <a:t>Query Processing</a:t>
            </a:r>
            <a:endParaRPr lang="en-GB" dirty="0"/>
          </a:p>
        </p:txBody>
      </p:sp>
      <p:sp>
        <p:nvSpPr>
          <p:cNvPr id="3" name="Content Placeholder 2">
            <a:extLst>
              <a:ext uri="{FF2B5EF4-FFF2-40B4-BE49-F238E27FC236}">
                <a16:creationId xmlns:a16="http://schemas.microsoft.com/office/drawing/2014/main" id="{9CB1E51D-0943-4D0F-A06D-55C5E6DF086D}"/>
              </a:ext>
            </a:extLst>
          </p:cNvPr>
          <p:cNvSpPr>
            <a:spLocks noGrp="1"/>
          </p:cNvSpPr>
          <p:nvPr>
            <p:ph idx="1"/>
          </p:nvPr>
        </p:nvSpPr>
        <p:spPr/>
        <p:txBody>
          <a:bodyPr>
            <a:normAutofit fontScale="92500" lnSpcReduction="10000"/>
          </a:bodyPr>
          <a:lstStyle/>
          <a:p>
            <a:pPr algn="l">
              <a:buFont typeface="Arial" panose="020B0604020202020204" pitchFamily="34" charset="0"/>
              <a:buChar char="•"/>
            </a:pPr>
            <a:r>
              <a:rPr lang="en-GB" b="1" i="0" dirty="0">
                <a:solidFill>
                  <a:srgbClr val="212529"/>
                </a:solidFill>
                <a:effectLst/>
                <a:latin typeface="aktiv-grotesk"/>
              </a:rPr>
              <a:t>Parsing:</a:t>
            </a:r>
            <a:endParaRPr lang="en-GB" b="0" i="0" dirty="0">
              <a:solidFill>
                <a:srgbClr val="212529"/>
              </a:solidFill>
              <a:effectLst/>
              <a:latin typeface="aktiv-grotesk"/>
            </a:endParaRPr>
          </a:p>
          <a:p>
            <a:pPr marL="742950" lvl="1" indent="-285750" algn="l">
              <a:buFont typeface="Arial" panose="020B0604020202020204" pitchFamily="34" charset="0"/>
              <a:buChar char="•"/>
            </a:pPr>
            <a:r>
              <a:rPr lang="en-GB" b="0" i="0" dirty="0">
                <a:solidFill>
                  <a:srgbClr val="212529"/>
                </a:solidFill>
                <a:effectLst/>
                <a:latin typeface="aktiv-grotesk"/>
              </a:rPr>
              <a:t>The query is broken down into smaller components (keywords, operators, operands).</a:t>
            </a:r>
          </a:p>
          <a:p>
            <a:pPr marL="742950" lvl="1" indent="-285750" algn="l">
              <a:buFont typeface="Arial" panose="020B0604020202020204" pitchFamily="34" charset="0"/>
              <a:buChar char="•"/>
            </a:pPr>
            <a:r>
              <a:rPr lang="en-GB" b="0" i="0" dirty="0">
                <a:solidFill>
                  <a:srgbClr val="212529"/>
                </a:solidFill>
                <a:effectLst/>
                <a:latin typeface="aktiv-grotesk"/>
              </a:rPr>
              <a:t>The DBMS checks for syntax errors and validates the query structure.</a:t>
            </a:r>
          </a:p>
          <a:p>
            <a:pPr algn="l">
              <a:buFont typeface="Arial" panose="020B0604020202020204" pitchFamily="34" charset="0"/>
              <a:buChar char="•"/>
            </a:pPr>
            <a:r>
              <a:rPr lang="en-GB" b="1" i="0" dirty="0">
                <a:solidFill>
                  <a:srgbClr val="212529"/>
                </a:solidFill>
                <a:effectLst/>
                <a:latin typeface="aktiv-grotesk"/>
              </a:rPr>
              <a:t>Translation:</a:t>
            </a:r>
            <a:endParaRPr lang="en-GB" b="0" i="0" dirty="0">
              <a:solidFill>
                <a:srgbClr val="212529"/>
              </a:solidFill>
              <a:effectLst/>
              <a:latin typeface="aktiv-grotesk"/>
            </a:endParaRPr>
          </a:p>
          <a:p>
            <a:pPr marL="742950" lvl="1" indent="-285750" algn="l">
              <a:buFont typeface="Arial" panose="020B0604020202020204" pitchFamily="34" charset="0"/>
              <a:buChar char="•"/>
            </a:pPr>
            <a:r>
              <a:rPr lang="en-GB" b="0" i="0" dirty="0">
                <a:solidFill>
                  <a:srgbClr val="212529"/>
                </a:solidFill>
                <a:effectLst/>
                <a:latin typeface="aktiv-grotesk"/>
              </a:rPr>
              <a:t>The query is converted into an internal representation, often an abstract syntax tree (AST).</a:t>
            </a:r>
          </a:p>
          <a:p>
            <a:pPr marL="742950" lvl="1" indent="-285750" algn="l">
              <a:buFont typeface="Arial" panose="020B0604020202020204" pitchFamily="34" charset="0"/>
              <a:buChar char="•"/>
            </a:pPr>
            <a:r>
              <a:rPr lang="en-GB" b="0" i="0" dirty="0">
                <a:solidFill>
                  <a:srgbClr val="212529"/>
                </a:solidFill>
                <a:effectLst/>
                <a:latin typeface="aktiv-grotesk"/>
              </a:rPr>
              <a:t>Semantic checks ensure the query references valid database objects (tables, columns) and consistent data types.</a:t>
            </a:r>
          </a:p>
          <a:p>
            <a:pPr marL="742950" lvl="1" indent="-285750" algn="l">
              <a:buFont typeface="Arial" panose="020B0604020202020204" pitchFamily="34" charset="0"/>
              <a:buChar char="•"/>
            </a:pPr>
            <a:endParaRPr lang="en-GB" dirty="0">
              <a:solidFill>
                <a:srgbClr val="212529"/>
              </a:solidFill>
              <a:latin typeface="aktiv-grotesk"/>
            </a:endParaRPr>
          </a:p>
          <a:p>
            <a:pPr marL="742950" lvl="1" indent="-285750" algn="l">
              <a:buFont typeface="Arial" panose="020B0604020202020204" pitchFamily="34" charset="0"/>
              <a:buChar char="•"/>
            </a:pPr>
            <a:r>
              <a:rPr lang="en-GB" b="0" i="0" dirty="0">
                <a:solidFill>
                  <a:srgbClr val="212529"/>
                </a:solidFill>
                <a:effectLst/>
                <a:latin typeface="aktiv-grotesk"/>
              </a:rPr>
              <a:t>SELECT </a:t>
            </a:r>
            <a:r>
              <a:rPr lang="en-GB" b="0" i="0" dirty="0" err="1">
                <a:solidFill>
                  <a:srgbClr val="212529"/>
                </a:solidFill>
                <a:effectLst/>
                <a:latin typeface="aktiv-grotesk"/>
              </a:rPr>
              <a:t>emp_name</a:t>
            </a:r>
            <a:r>
              <a:rPr lang="en-GB" b="0" i="0" dirty="0">
                <a:solidFill>
                  <a:srgbClr val="212529"/>
                </a:solidFill>
                <a:effectLst/>
                <a:latin typeface="aktiv-grotesk"/>
              </a:rPr>
              <a:t> FROM  employee WHERE salary&gt;10000;</a:t>
            </a:r>
          </a:p>
          <a:p>
            <a:pPr marL="742950" lvl="1" indent="-285750" algn="l">
              <a:buFont typeface="Arial" panose="020B0604020202020204" pitchFamily="34" charset="0"/>
              <a:buChar char="•"/>
            </a:pPr>
            <a:r>
              <a:rPr lang="en-GB" b="0" i="0" dirty="0">
                <a:solidFill>
                  <a:srgbClr val="212529"/>
                </a:solidFill>
                <a:effectLst/>
                <a:latin typeface="aktiv-grotesk"/>
              </a:rPr>
              <a:t>∏ </a:t>
            </a:r>
            <a:r>
              <a:rPr lang="en-GB" b="0" i="0" dirty="0" err="1">
                <a:solidFill>
                  <a:srgbClr val="212529"/>
                </a:solidFill>
                <a:effectLst/>
                <a:latin typeface="aktiv-grotesk"/>
              </a:rPr>
              <a:t>emp_name</a:t>
            </a:r>
            <a:r>
              <a:rPr lang="en-GB" b="0" i="0" dirty="0">
                <a:solidFill>
                  <a:srgbClr val="212529"/>
                </a:solidFill>
                <a:effectLst/>
                <a:latin typeface="aktiv-grotesk"/>
              </a:rPr>
              <a:t> (σ salary &gt; 10000(employee))</a:t>
            </a:r>
          </a:p>
          <a:p>
            <a:pPr marL="742950" lvl="1" indent="-285750"/>
            <a:r>
              <a:rPr lang="en-GB" b="0" i="0" dirty="0">
                <a:solidFill>
                  <a:srgbClr val="212529"/>
                </a:solidFill>
                <a:effectLst/>
                <a:latin typeface="aktiv-grotesk"/>
              </a:rPr>
              <a:t>σ salary &gt; 10000( ∏ </a:t>
            </a:r>
            <a:r>
              <a:rPr lang="en-GB" b="0" i="0" dirty="0" err="1">
                <a:solidFill>
                  <a:srgbClr val="212529"/>
                </a:solidFill>
                <a:effectLst/>
                <a:latin typeface="aktiv-grotesk"/>
              </a:rPr>
              <a:t>emp_name</a:t>
            </a:r>
            <a:r>
              <a:rPr lang="en-GB" b="0" i="0" dirty="0">
                <a:solidFill>
                  <a:srgbClr val="212529"/>
                </a:solidFill>
                <a:effectLst/>
                <a:latin typeface="aktiv-grotesk"/>
              </a:rPr>
              <a:t> (employee))s</a:t>
            </a:r>
          </a:p>
          <a:p>
            <a:pPr marL="742950" lvl="1" indent="-285750" algn="l">
              <a:buFont typeface="Arial" panose="020B0604020202020204" pitchFamily="34" charset="0"/>
              <a:buChar char="•"/>
            </a:pPr>
            <a:endParaRPr lang="en-GB" b="0" i="0" dirty="0">
              <a:solidFill>
                <a:srgbClr val="212529"/>
              </a:solidFill>
              <a:effectLst/>
              <a:latin typeface="aktiv-grotesk"/>
            </a:endParaRPr>
          </a:p>
          <a:p>
            <a:pPr marL="742950" lvl="1" indent="-285750" algn="l">
              <a:buFont typeface="Arial" panose="020B0604020202020204" pitchFamily="34" charset="0"/>
              <a:buChar char="•"/>
            </a:pPr>
            <a:endParaRPr lang="en-GB" b="0" i="0" dirty="0">
              <a:solidFill>
                <a:srgbClr val="212529"/>
              </a:solidFill>
              <a:effectLst/>
              <a:latin typeface="aktiv-grotesk"/>
            </a:endParaRPr>
          </a:p>
          <a:p>
            <a:pPr marL="742950" lvl="1" indent="-285750" algn="l">
              <a:buFont typeface="Arial" panose="020B0604020202020204" pitchFamily="34" charset="0"/>
              <a:buChar char="•"/>
            </a:pPr>
            <a:endParaRPr lang="en-GB" b="0" i="0" dirty="0">
              <a:solidFill>
                <a:srgbClr val="212529"/>
              </a:solidFill>
              <a:effectLst/>
              <a:latin typeface="aktiv-grotesk"/>
            </a:endParaRPr>
          </a:p>
          <a:p>
            <a:endParaRPr lang="en-GB" dirty="0"/>
          </a:p>
        </p:txBody>
      </p:sp>
    </p:spTree>
    <p:extLst>
      <p:ext uri="{BB962C8B-B14F-4D97-AF65-F5344CB8AC3E}">
        <p14:creationId xmlns:p14="http://schemas.microsoft.com/office/powerpoint/2010/main" val="309639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Query Processing</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rmAutofit/>
          </a:bodyPr>
          <a:lstStyle/>
          <a:p>
            <a:pPr marL="0" indent="0">
              <a:buNone/>
            </a:pPr>
            <a:r>
              <a:rPr lang="en-US" sz="2200" b="1" dirty="0">
                <a:solidFill>
                  <a:schemeClr val="tx1">
                    <a:lumMod val="75000"/>
                    <a:lumOff val="25000"/>
                  </a:schemeClr>
                </a:solidFill>
              </a:rPr>
              <a:t>Query Optimization:</a:t>
            </a:r>
          </a:p>
          <a:p>
            <a:r>
              <a:rPr lang="en-US" sz="2200" dirty="0">
                <a:solidFill>
                  <a:schemeClr val="tx1">
                    <a:lumMod val="75000"/>
                    <a:lumOff val="25000"/>
                  </a:schemeClr>
                </a:solidFill>
              </a:rPr>
              <a:t>Analyzing different possible execution plans for the query.</a:t>
            </a:r>
          </a:p>
          <a:p>
            <a:r>
              <a:rPr lang="en-US" sz="2200" dirty="0">
                <a:solidFill>
                  <a:schemeClr val="tx1">
                    <a:lumMod val="75000"/>
                    <a:lumOff val="25000"/>
                  </a:schemeClr>
                </a:solidFill>
              </a:rPr>
              <a:t>Choosing the most efficient plan based on factors like estimated cost, available indexes, and data distribution.</a:t>
            </a:r>
          </a:p>
          <a:p>
            <a:pPr marL="0" indent="0">
              <a:buNone/>
            </a:pPr>
            <a:r>
              <a:rPr lang="en-US" sz="2200" dirty="0">
                <a:solidFill>
                  <a:schemeClr val="tx1">
                    <a:lumMod val="75000"/>
                    <a:lumOff val="25000"/>
                  </a:schemeClr>
                </a:solidFill>
              </a:rPr>
              <a:t>	</a:t>
            </a:r>
            <a:r>
              <a:rPr lang="en-US" sz="2200" i="1" dirty="0">
                <a:solidFill>
                  <a:schemeClr val="tx1">
                    <a:lumMod val="75000"/>
                    <a:lumOff val="25000"/>
                  </a:schemeClr>
                </a:solidFill>
              </a:rPr>
              <a:t>SELECT </a:t>
            </a:r>
            <a:r>
              <a:rPr lang="en-US" sz="2200" i="1" dirty="0" err="1">
                <a:solidFill>
                  <a:schemeClr val="tx1">
                    <a:lumMod val="75000"/>
                    <a:lumOff val="25000"/>
                  </a:schemeClr>
                </a:solidFill>
              </a:rPr>
              <a:t>Orders.OrderID</a:t>
            </a:r>
            <a:r>
              <a:rPr lang="en-US" sz="2200" i="1" dirty="0">
                <a:solidFill>
                  <a:schemeClr val="tx1">
                    <a:lumMod val="75000"/>
                    <a:lumOff val="25000"/>
                  </a:schemeClr>
                </a:solidFill>
              </a:rPr>
              <a:t>, </a:t>
            </a:r>
            <a:r>
              <a:rPr lang="en-US" sz="2200" i="1" dirty="0" err="1">
                <a:solidFill>
                  <a:schemeClr val="tx1">
                    <a:lumMod val="75000"/>
                    <a:lumOff val="25000"/>
                  </a:schemeClr>
                </a:solidFill>
              </a:rPr>
              <a:t>Customers.CustomerName</a:t>
            </a:r>
            <a:r>
              <a:rPr lang="en-US" sz="2200" i="1" dirty="0">
                <a:solidFill>
                  <a:schemeClr val="tx1">
                    <a:lumMod val="75000"/>
                    <a:lumOff val="25000"/>
                  </a:schemeClr>
                </a:solidFill>
              </a:rPr>
              <a:t> FROM Orders</a:t>
            </a:r>
          </a:p>
          <a:p>
            <a:pPr marL="0" indent="0">
              <a:buNone/>
            </a:pPr>
            <a:r>
              <a:rPr lang="en-US" sz="2200" i="1" dirty="0">
                <a:solidFill>
                  <a:schemeClr val="tx1">
                    <a:lumMod val="75000"/>
                    <a:lumOff val="25000"/>
                  </a:schemeClr>
                </a:solidFill>
              </a:rPr>
              <a:t>	JOIN Customers ON </a:t>
            </a:r>
            <a:r>
              <a:rPr lang="en-US" sz="2200" i="1" dirty="0" err="1">
                <a:solidFill>
                  <a:schemeClr val="tx1">
                    <a:lumMod val="75000"/>
                    <a:lumOff val="25000"/>
                  </a:schemeClr>
                </a:solidFill>
              </a:rPr>
              <a:t>Orders.CustomerID</a:t>
            </a:r>
            <a:r>
              <a:rPr lang="en-US" sz="2200" i="1" dirty="0">
                <a:solidFill>
                  <a:schemeClr val="tx1">
                    <a:lumMod val="75000"/>
                    <a:lumOff val="25000"/>
                  </a:schemeClr>
                </a:solidFill>
              </a:rPr>
              <a:t> = </a:t>
            </a:r>
            <a:r>
              <a:rPr lang="en-US" sz="2200" i="1" dirty="0" err="1">
                <a:solidFill>
                  <a:schemeClr val="tx1">
                    <a:lumMod val="75000"/>
                    <a:lumOff val="25000"/>
                  </a:schemeClr>
                </a:solidFill>
              </a:rPr>
              <a:t>Customers.CustomerID</a:t>
            </a:r>
            <a:r>
              <a:rPr lang="en-US" sz="2200" i="1" dirty="0">
                <a:solidFill>
                  <a:schemeClr val="tx1">
                    <a:lumMod val="75000"/>
                    <a:lumOff val="25000"/>
                  </a:schemeClr>
                </a:solidFill>
              </a:rPr>
              <a:t>;</a:t>
            </a:r>
          </a:p>
          <a:p>
            <a:endParaRPr lang="en-US" sz="2200" dirty="0">
              <a:solidFill>
                <a:schemeClr val="tx1">
                  <a:lumMod val="75000"/>
                  <a:lumOff val="25000"/>
                </a:schemeClr>
              </a:solidFill>
            </a:endParaRPr>
          </a:p>
          <a:p>
            <a:pPr marL="457200" lvl="1" indent="0">
              <a:buNone/>
            </a:pPr>
            <a:r>
              <a:rPr lang="en-US" sz="2000" dirty="0">
                <a:solidFill>
                  <a:schemeClr val="tx1">
                    <a:lumMod val="75000"/>
                    <a:lumOff val="25000"/>
                  </a:schemeClr>
                </a:solidFill>
              </a:rPr>
              <a:t>The optimizer considers various join algorithms (e.g., nested loop, hash join) and access paths to the tables (e.g., indexes) to determine the most efficient plan for retrieving the requested data.</a:t>
            </a:r>
            <a:br>
              <a:rPr lang="en-US" sz="1800" dirty="0">
                <a:solidFill>
                  <a:schemeClr val="tx1">
                    <a:lumMod val="75000"/>
                    <a:lumOff val="25000"/>
                  </a:schemeClr>
                </a:solidFill>
              </a:rPr>
            </a:br>
            <a:endParaRPr lang="en-US" sz="1800" dirty="0">
              <a:solidFill>
                <a:schemeClr val="tx1">
                  <a:lumMod val="75000"/>
                  <a:lumOff val="25000"/>
                </a:schemeClr>
              </a:solidFill>
            </a:endParaRPr>
          </a:p>
        </p:txBody>
      </p:sp>
    </p:spTree>
    <p:extLst>
      <p:ext uri="{BB962C8B-B14F-4D97-AF65-F5344CB8AC3E}">
        <p14:creationId xmlns:p14="http://schemas.microsoft.com/office/powerpoint/2010/main" val="3282176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F45C0-11B9-4DDF-B558-78A974AA0CF7}"/>
              </a:ext>
            </a:extLst>
          </p:cNvPr>
          <p:cNvSpPr>
            <a:spLocks noGrp="1"/>
          </p:cNvSpPr>
          <p:nvPr>
            <p:ph type="title"/>
          </p:nvPr>
        </p:nvSpPr>
        <p:spPr/>
        <p:txBody>
          <a:bodyPr/>
          <a:lstStyle/>
          <a:p>
            <a:r>
              <a:rPr lang="en-US" b="1" dirty="0"/>
              <a:t>Query Optimization</a:t>
            </a:r>
            <a:endParaRPr lang="en-GB" dirty="0"/>
          </a:p>
        </p:txBody>
      </p:sp>
      <p:sp>
        <p:nvSpPr>
          <p:cNvPr id="3" name="Content Placeholder 2">
            <a:extLst>
              <a:ext uri="{FF2B5EF4-FFF2-40B4-BE49-F238E27FC236}">
                <a16:creationId xmlns:a16="http://schemas.microsoft.com/office/drawing/2014/main" id="{75EC2BB6-F62D-4A99-8AE7-A3471B94A396}"/>
              </a:ext>
            </a:extLst>
          </p:cNvPr>
          <p:cNvSpPr>
            <a:spLocks noGrp="1"/>
          </p:cNvSpPr>
          <p:nvPr>
            <p:ph idx="1"/>
          </p:nvPr>
        </p:nvSpPr>
        <p:spPr/>
        <p:txBody>
          <a:bodyPr>
            <a:normAutofit fontScale="92500" lnSpcReduction="10000"/>
          </a:bodyPr>
          <a:lstStyle/>
          <a:p>
            <a:pPr algn="l"/>
            <a:r>
              <a:rPr lang="en-GB" b="0" i="0" dirty="0">
                <a:effectLst/>
                <a:latin typeface="aktiv-grotesk"/>
              </a:rPr>
              <a:t>The optimization phase determines the most efficient way to execute the parsed query. This is crucial for performance, especially with large databases or complex queries.</a:t>
            </a:r>
          </a:p>
          <a:p>
            <a:pPr algn="l">
              <a:buFont typeface="Arial" panose="020B0604020202020204" pitchFamily="34" charset="0"/>
              <a:buChar char="•"/>
            </a:pPr>
            <a:r>
              <a:rPr lang="en-GB" b="1" i="0" dirty="0">
                <a:solidFill>
                  <a:srgbClr val="212529"/>
                </a:solidFill>
                <a:effectLst/>
                <a:latin typeface="aktiv-grotesk"/>
              </a:rPr>
              <a:t>Query Optimizer:</a:t>
            </a:r>
            <a:endParaRPr lang="en-GB" b="0" i="0" dirty="0">
              <a:solidFill>
                <a:srgbClr val="212529"/>
              </a:solidFill>
              <a:effectLst/>
              <a:latin typeface="aktiv-grotesk"/>
            </a:endParaRPr>
          </a:p>
          <a:p>
            <a:pPr marL="742950" lvl="1" indent="-285750" algn="l">
              <a:buFont typeface="Arial" panose="020B0604020202020204" pitchFamily="34" charset="0"/>
              <a:buChar char="•"/>
            </a:pPr>
            <a:r>
              <a:rPr lang="en-GB" b="0" i="0" dirty="0">
                <a:solidFill>
                  <a:srgbClr val="212529"/>
                </a:solidFill>
                <a:effectLst/>
                <a:latin typeface="aktiv-grotesk"/>
              </a:rPr>
              <a:t>Generates multiple execution plans.</a:t>
            </a:r>
          </a:p>
          <a:p>
            <a:pPr marL="742950" lvl="1" indent="-285750" algn="l">
              <a:buFont typeface="Arial" panose="020B0604020202020204" pitchFamily="34" charset="0"/>
              <a:buChar char="•"/>
            </a:pPr>
            <a:r>
              <a:rPr lang="en-GB" b="0" i="0" dirty="0">
                <a:solidFill>
                  <a:srgbClr val="212529"/>
                </a:solidFill>
                <a:effectLst/>
                <a:latin typeface="aktiv-grotesk"/>
              </a:rPr>
              <a:t>Evaluate each plan based on cost factors like CPU time, memory, and I/O operations.</a:t>
            </a:r>
          </a:p>
          <a:p>
            <a:pPr marL="742950" lvl="1" indent="-285750" algn="l">
              <a:buFont typeface="Arial" panose="020B0604020202020204" pitchFamily="34" charset="0"/>
              <a:buChar char="•"/>
            </a:pPr>
            <a:r>
              <a:rPr lang="en-GB" b="0" i="0" dirty="0">
                <a:solidFill>
                  <a:srgbClr val="212529"/>
                </a:solidFill>
                <a:effectLst/>
                <a:latin typeface="aktiv-grotesk"/>
              </a:rPr>
              <a:t>Selects the execution plan with the lowest estimated cost.</a:t>
            </a:r>
            <a:endParaRPr lang="en-GB" b="0" i="0" dirty="0">
              <a:effectLst/>
              <a:latin typeface="aktiv-grotesk"/>
            </a:endParaRPr>
          </a:p>
          <a:p>
            <a:pPr algn="l">
              <a:buFont typeface="Arial" panose="020B0604020202020204" pitchFamily="34" charset="0"/>
              <a:buChar char="•"/>
            </a:pPr>
            <a:r>
              <a:rPr lang="en-GB" b="1" i="0" dirty="0">
                <a:solidFill>
                  <a:srgbClr val="212529"/>
                </a:solidFill>
                <a:effectLst/>
                <a:latin typeface="aktiv-grotesk"/>
              </a:rPr>
              <a:t>Optimization Considerations:</a:t>
            </a:r>
            <a:endParaRPr lang="en-GB" b="0" i="0" dirty="0">
              <a:solidFill>
                <a:srgbClr val="212529"/>
              </a:solidFill>
              <a:effectLst/>
              <a:latin typeface="aktiv-grotesk"/>
            </a:endParaRPr>
          </a:p>
          <a:p>
            <a:pPr marL="742950" lvl="1" indent="-285750" algn="l">
              <a:buFont typeface="Arial" panose="020B0604020202020204" pitchFamily="34" charset="0"/>
              <a:buChar char="•"/>
            </a:pPr>
            <a:r>
              <a:rPr lang="en-GB" b="1" i="0" dirty="0">
                <a:solidFill>
                  <a:srgbClr val="212529"/>
                </a:solidFill>
                <a:effectLst/>
                <a:latin typeface="aktiv-grotesk"/>
              </a:rPr>
              <a:t>Indexes:</a:t>
            </a:r>
            <a:r>
              <a:rPr lang="en-GB" b="0" i="0" dirty="0">
                <a:solidFill>
                  <a:srgbClr val="212529"/>
                </a:solidFill>
                <a:effectLst/>
                <a:latin typeface="aktiv-grotesk"/>
              </a:rPr>
              <a:t> Decide whether to use indexes or perform full table scans.</a:t>
            </a:r>
          </a:p>
          <a:p>
            <a:pPr marL="742950" lvl="1" indent="-285750" algn="l">
              <a:buFont typeface="Arial" panose="020B0604020202020204" pitchFamily="34" charset="0"/>
              <a:buChar char="•"/>
            </a:pPr>
            <a:r>
              <a:rPr lang="en-GB" b="0" i="0" dirty="0">
                <a:solidFill>
                  <a:srgbClr val="212529"/>
                </a:solidFill>
                <a:effectLst/>
                <a:latin typeface="aktiv-grotesk"/>
              </a:rPr>
              <a:t>Data Size: Considers the volume of data involved.</a:t>
            </a:r>
          </a:p>
          <a:p>
            <a:pPr marL="742950" lvl="1" indent="-285750" algn="l">
              <a:buFont typeface="Arial" panose="020B0604020202020204" pitchFamily="34" charset="0"/>
              <a:buChar char="•"/>
            </a:pPr>
            <a:r>
              <a:rPr lang="en-GB" b="1" i="0" dirty="0">
                <a:solidFill>
                  <a:srgbClr val="212529"/>
                </a:solidFill>
                <a:effectLst/>
                <a:latin typeface="aktiv-grotesk"/>
              </a:rPr>
              <a:t>Joins and Conditions: </a:t>
            </a:r>
            <a:r>
              <a:rPr lang="en-GB" b="0" i="0" dirty="0">
                <a:solidFill>
                  <a:srgbClr val="212529"/>
                </a:solidFill>
                <a:effectLst/>
                <a:latin typeface="aktiv-grotesk"/>
              </a:rPr>
              <a:t>Analyses the complexity of joins and the selectivity of query conditions</a:t>
            </a:r>
          </a:p>
          <a:p>
            <a:endParaRPr lang="en-GB" dirty="0"/>
          </a:p>
        </p:txBody>
      </p:sp>
    </p:spTree>
    <p:extLst>
      <p:ext uri="{BB962C8B-B14F-4D97-AF65-F5344CB8AC3E}">
        <p14:creationId xmlns:p14="http://schemas.microsoft.com/office/powerpoint/2010/main" val="3323271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Query Processing</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rmAutofit/>
          </a:bodyPr>
          <a:lstStyle/>
          <a:p>
            <a:pPr marL="0" indent="0">
              <a:buNone/>
            </a:pPr>
            <a:r>
              <a:rPr lang="en-US" sz="2200" b="1" dirty="0">
                <a:solidFill>
                  <a:schemeClr val="tx1">
                    <a:lumMod val="75000"/>
                    <a:lumOff val="25000"/>
                  </a:schemeClr>
                </a:solidFill>
              </a:rPr>
              <a:t>Execution Plan:</a:t>
            </a:r>
          </a:p>
          <a:p>
            <a:r>
              <a:rPr lang="en-US" sz="2200" dirty="0">
                <a:solidFill>
                  <a:schemeClr val="tx1">
                    <a:lumMod val="75000"/>
                    <a:lumOff val="25000"/>
                  </a:schemeClr>
                </a:solidFill>
              </a:rPr>
              <a:t>Physically accessing the relevant data files and indexes.</a:t>
            </a:r>
          </a:p>
          <a:p>
            <a:r>
              <a:rPr lang="en-US" sz="2200" dirty="0">
                <a:solidFill>
                  <a:schemeClr val="tx1">
                    <a:lumMod val="75000"/>
                    <a:lumOff val="25000"/>
                  </a:schemeClr>
                </a:solidFill>
              </a:rPr>
              <a:t>Applying the chosen operations (filtering, sorting, joining, etc.) in the optimized order.</a:t>
            </a:r>
          </a:p>
          <a:p>
            <a:r>
              <a:rPr lang="en-US" sz="2200" dirty="0">
                <a:solidFill>
                  <a:schemeClr val="tx1">
                    <a:lumMod val="75000"/>
                    <a:lumOff val="25000"/>
                  </a:schemeClr>
                </a:solidFill>
              </a:rPr>
              <a:t>Returning the final result set to the user.</a:t>
            </a:r>
          </a:p>
          <a:p>
            <a:pPr marL="0" indent="0">
              <a:buNone/>
            </a:pPr>
            <a:r>
              <a:rPr lang="en-US" sz="2200" i="1" dirty="0">
                <a:solidFill>
                  <a:schemeClr val="tx1">
                    <a:lumMod val="75000"/>
                    <a:lumOff val="25000"/>
                  </a:schemeClr>
                </a:solidFill>
              </a:rPr>
              <a:t>	SELECT FirstName, </a:t>
            </a:r>
            <a:r>
              <a:rPr lang="en-US" sz="2200" i="1" dirty="0" err="1">
                <a:solidFill>
                  <a:schemeClr val="tx1">
                    <a:lumMod val="75000"/>
                    <a:lumOff val="25000"/>
                  </a:schemeClr>
                </a:solidFill>
              </a:rPr>
              <a:t>LastName</a:t>
            </a:r>
            <a:r>
              <a:rPr lang="en-US" sz="2200" i="1" dirty="0">
                <a:solidFill>
                  <a:schemeClr val="tx1">
                    <a:lumMod val="75000"/>
                    <a:lumOff val="25000"/>
                  </a:schemeClr>
                </a:solidFill>
              </a:rPr>
              <a:t> FROM Employees WHERE Department = 'IT’;</a:t>
            </a:r>
          </a:p>
          <a:p>
            <a:endParaRPr lang="en-US" sz="1800" dirty="0">
              <a:solidFill>
                <a:schemeClr val="tx1">
                  <a:lumMod val="75000"/>
                  <a:lumOff val="25000"/>
                </a:schemeClr>
              </a:solidFill>
            </a:endParaRPr>
          </a:p>
          <a:p>
            <a:pPr marL="457200" lvl="1" indent="0">
              <a:buNone/>
            </a:pPr>
            <a:r>
              <a:rPr lang="en-US" sz="2000" b="0" i="0" dirty="0">
                <a:solidFill>
                  <a:srgbClr val="374151"/>
                </a:solidFill>
                <a:effectLst/>
              </a:rPr>
              <a:t>The execution phase retrieves the first and last names of employees from the "Employees" table where the department is 'IT'.</a:t>
            </a:r>
            <a:br>
              <a:rPr lang="en-US" sz="1400" dirty="0">
                <a:solidFill>
                  <a:schemeClr val="tx1">
                    <a:lumMod val="75000"/>
                    <a:lumOff val="25000"/>
                  </a:schemeClr>
                </a:solidFill>
              </a:rPr>
            </a:br>
            <a:endParaRPr lang="en-US" sz="1400" dirty="0">
              <a:solidFill>
                <a:schemeClr val="tx1">
                  <a:lumMod val="75000"/>
                  <a:lumOff val="25000"/>
                </a:schemeClr>
              </a:solidFill>
            </a:endParaRPr>
          </a:p>
        </p:txBody>
      </p:sp>
    </p:spTree>
    <p:extLst>
      <p:ext uri="{BB962C8B-B14F-4D97-AF65-F5344CB8AC3E}">
        <p14:creationId xmlns:p14="http://schemas.microsoft.com/office/powerpoint/2010/main" val="4137167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F2044-195A-45DD-BEFB-A708C7D1AA9C}"/>
              </a:ext>
            </a:extLst>
          </p:cNvPr>
          <p:cNvSpPr>
            <a:spLocks noGrp="1"/>
          </p:cNvSpPr>
          <p:nvPr>
            <p:ph type="title"/>
          </p:nvPr>
        </p:nvSpPr>
        <p:spPr/>
        <p:txBody>
          <a:bodyPr/>
          <a:lstStyle/>
          <a:p>
            <a:r>
              <a:rPr lang="en-US" dirty="0"/>
              <a:t>Execution plan</a:t>
            </a:r>
            <a:endParaRPr lang="en-GB" dirty="0"/>
          </a:p>
        </p:txBody>
      </p:sp>
      <p:pic>
        <p:nvPicPr>
          <p:cNvPr id="5" name="Content Placeholder 4">
            <a:extLst>
              <a:ext uri="{FF2B5EF4-FFF2-40B4-BE49-F238E27FC236}">
                <a16:creationId xmlns:a16="http://schemas.microsoft.com/office/drawing/2014/main" id="{C4A655D2-CDAA-4CD1-8B44-7B991E76B242}"/>
              </a:ext>
            </a:extLst>
          </p:cNvPr>
          <p:cNvPicPr>
            <a:picLocks noGrp="1" noChangeAspect="1"/>
          </p:cNvPicPr>
          <p:nvPr>
            <p:ph idx="1"/>
          </p:nvPr>
        </p:nvPicPr>
        <p:blipFill>
          <a:blip r:embed="rId2"/>
          <a:stretch>
            <a:fillRect/>
          </a:stretch>
        </p:blipFill>
        <p:spPr>
          <a:xfrm>
            <a:off x="917713" y="1908313"/>
            <a:ext cx="8699958" cy="3178831"/>
          </a:xfrm>
        </p:spPr>
      </p:pic>
      <p:sp>
        <p:nvSpPr>
          <p:cNvPr id="6" name="TextBox 5">
            <a:extLst>
              <a:ext uri="{FF2B5EF4-FFF2-40B4-BE49-F238E27FC236}">
                <a16:creationId xmlns:a16="http://schemas.microsoft.com/office/drawing/2014/main" id="{6634FF2C-2328-4665-9CAC-9D245B6CA515}"/>
              </a:ext>
            </a:extLst>
          </p:cNvPr>
          <p:cNvSpPr txBox="1"/>
          <p:nvPr/>
        </p:nvSpPr>
        <p:spPr>
          <a:xfrm>
            <a:off x="9886122" y="2266122"/>
            <a:ext cx="1987826" cy="2862322"/>
          </a:xfrm>
          <a:prstGeom prst="rect">
            <a:avLst/>
          </a:prstGeom>
          <a:noFill/>
        </p:spPr>
        <p:txBody>
          <a:bodyPr wrap="square" rtlCol="0">
            <a:spAutoFit/>
          </a:bodyPr>
          <a:lstStyle/>
          <a:p>
            <a:r>
              <a:rPr lang="en-GB" dirty="0"/>
              <a:t>1.Internal nodes represent relational algebra operations (e.g., selection, projection, join). 2.Leaf nodes represent base relations (e.g., tables).</a:t>
            </a:r>
          </a:p>
        </p:txBody>
      </p:sp>
    </p:spTree>
    <p:extLst>
      <p:ext uri="{BB962C8B-B14F-4D97-AF65-F5344CB8AC3E}">
        <p14:creationId xmlns:p14="http://schemas.microsoft.com/office/powerpoint/2010/main" val="817305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A8EFE-D853-4B52-81F9-372F6409A5E6}"/>
              </a:ext>
            </a:extLst>
          </p:cNvPr>
          <p:cNvSpPr>
            <a:spLocks noGrp="1"/>
          </p:cNvSpPr>
          <p:nvPr>
            <p:ph type="title"/>
          </p:nvPr>
        </p:nvSpPr>
        <p:spPr/>
        <p:txBody>
          <a:bodyPr/>
          <a:lstStyle/>
          <a:p>
            <a:r>
              <a:rPr lang="en-US" sz="4400" b="1" dirty="0">
                <a:solidFill>
                  <a:schemeClr val="tx1">
                    <a:lumMod val="75000"/>
                    <a:lumOff val="25000"/>
                  </a:schemeClr>
                </a:solidFill>
              </a:rPr>
              <a:t>Execution Plan</a:t>
            </a:r>
            <a:endParaRPr lang="en-GB" dirty="0"/>
          </a:p>
        </p:txBody>
      </p:sp>
      <p:sp>
        <p:nvSpPr>
          <p:cNvPr id="3" name="Content Placeholder 2">
            <a:extLst>
              <a:ext uri="{FF2B5EF4-FFF2-40B4-BE49-F238E27FC236}">
                <a16:creationId xmlns:a16="http://schemas.microsoft.com/office/drawing/2014/main" id="{FFA16008-B092-4335-BDD7-E764EF73A80E}"/>
              </a:ext>
            </a:extLst>
          </p:cNvPr>
          <p:cNvSpPr>
            <a:spLocks noGrp="1"/>
          </p:cNvSpPr>
          <p:nvPr>
            <p:ph idx="1"/>
          </p:nvPr>
        </p:nvSpPr>
        <p:spPr/>
        <p:txBody>
          <a:bodyPr>
            <a:normAutofit fontScale="92500"/>
          </a:bodyPr>
          <a:lstStyle/>
          <a:p>
            <a:pPr algn="l"/>
            <a:r>
              <a:rPr lang="en-GB" b="0" i="0" dirty="0">
                <a:effectLst/>
                <a:latin typeface="aktiv-grotesk"/>
              </a:rPr>
              <a:t>The evaluation phase is where the DBMS executes the optimised query plan, interacting with the storage engine to retrieve or modify data.</a:t>
            </a:r>
          </a:p>
          <a:p>
            <a:pPr algn="l">
              <a:buFont typeface="Arial" panose="020B0604020202020204" pitchFamily="34" charset="0"/>
              <a:buChar char="•"/>
            </a:pPr>
            <a:r>
              <a:rPr lang="en-GB" b="1" i="0" dirty="0">
                <a:solidFill>
                  <a:srgbClr val="212529"/>
                </a:solidFill>
                <a:effectLst/>
                <a:latin typeface="aktiv-grotesk"/>
              </a:rPr>
              <a:t>Execution:</a:t>
            </a:r>
            <a:endParaRPr lang="en-GB" b="0" i="0" dirty="0">
              <a:solidFill>
                <a:srgbClr val="212529"/>
              </a:solidFill>
              <a:effectLst/>
              <a:latin typeface="aktiv-grotesk"/>
            </a:endParaRPr>
          </a:p>
          <a:p>
            <a:pPr marL="742950" lvl="1" indent="-285750" algn="l">
              <a:buFont typeface="Arial" panose="020B0604020202020204" pitchFamily="34" charset="0"/>
              <a:buChar char="•"/>
            </a:pPr>
            <a:r>
              <a:rPr lang="en-GB" b="0" i="0" dirty="0">
                <a:solidFill>
                  <a:srgbClr val="212529"/>
                </a:solidFill>
                <a:effectLst/>
                <a:latin typeface="aktiv-grotesk"/>
              </a:rPr>
              <a:t>Follow the steps outlined in the execution plan.</a:t>
            </a:r>
          </a:p>
          <a:p>
            <a:pPr marL="742950" lvl="1" indent="-285750" algn="l">
              <a:buFont typeface="Arial" panose="020B0604020202020204" pitchFamily="34" charset="0"/>
              <a:buChar char="•"/>
            </a:pPr>
            <a:r>
              <a:rPr lang="en-GB" b="0" i="0" dirty="0">
                <a:solidFill>
                  <a:srgbClr val="212529"/>
                </a:solidFill>
                <a:effectLst/>
                <a:latin typeface="aktiv-grotesk"/>
              </a:rPr>
              <a:t>Performs operations like reading data, applying filters, joining tables, sorting, and aggregating results.</a:t>
            </a:r>
          </a:p>
          <a:p>
            <a:pPr algn="l"/>
            <a:r>
              <a:rPr lang="en-GB" b="1" i="0" dirty="0">
                <a:effectLst/>
                <a:latin typeface="aktiv-grotesk"/>
              </a:rPr>
              <a:t> </a:t>
            </a:r>
            <a:endParaRPr lang="en-GB" b="0" i="0" dirty="0">
              <a:effectLst/>
              <a:latin typeface="aktiv-grotesk"/>
            </a:endParaRPr>
          </a:p>
          <a:p>
            <a:pPr algn="l">
              <a:buFont typeface="Arial" panose="020B0604020202020204" pitchFamily="34" charset="0"/>
              <a:buChar char="•"/>
            </a:pPr>
            <a:r>
              <a:rPr lang="en-GB" b="1" i="0" dirty="0">
                <a:solidFill>
                  <a:srgbClr val="212529"/>
                </a:solidFill>
                <a:effectLst/>
                <a:latin typeface="aktiv-grotesk"/>
              </a:rPr>
              <a:t>Data Interaction:</a:t>
            </a:r>
            <a:endParaRPr lang="en-GB" b="0" i="0" dirty="0">
              <a:solidFill>
                <a:srgbClr val="212529"/>
              </a:solidFill>
              <a:effectLst/>
              <a:latin typeface="aktiv-grotesk"/>
            </a:endParaRPr>
          </a:p>
          <a:p>
            <a:pPr marL="742950" lvl="1" indent="-285750" algn="l">
              <a:buFont typeface="Arial" panose="020B0604020202020204" pitchFamily="34" charset="0"/>
              <a:buChar char="•"/>
            </a:pPr>
            <a:r>
              <a:rPr lang="en-GB" b="0" i="0" dirty="0">
                <a:solidFill>
                  <a:srgbClr val="212529"/>
                </a:solidFill>
                <a:effectLst/>
                <a:latin typeface="aktiv-grotesk"/>
              </a:rPr>
              <a:t>Uses indexes or performs full table scans as per the execution plan.</a:t>
            </a:r>
          </a:p>
          <a:p>
            <a:pPr marL="742950" lvl="1" indent="-285750" algn="l">
              <a:buFont typeface="Arial" panose="020B0604020202020204" pitchFamily="34" charset="0"/>
              <a:buChar char="•"/>
            </a:pPr>
            <a:r>
              <a:rPr lang="en-GB" b="0" i="0" dirty="0">
                <a:solidFill>
                  <a:srgbClr val="212529"/>
                </a:solidFill>
                <a:effectLst/>
                <a:latin typeface="aktiv-grotesk"/>
              </a:rPr>
              <a:t>Handles intermediate results in memory or on disk, depending on the query’s complexity and available resources.</a:t>
            </a:r>
          </a:p>
          <a:p>
            <a:endParaRPr lang="en-GB" dirty="0"/>
          </a:p>
        </p:txBody>
      </p:sp>
    </p:spTree>
    <p:extLst>
      <p:ext uri="{BB962C8B-B14F-4D97-AF65-F5344CB8AC3E}">
        <p14:creationId xmlns:p14="http://schemas.microsoft.com/office/powerpoint/2010/main" val="2752428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D5A1B-764E-424B-3F9A-7A8058E2109C}"/>
              </a:ext>
            </a:extLst>
          </p:cNvPr>
          <p:cNvSpPr>
            <a:spLocks noGrp="1"/>
          </p:cNvSpPr>
          <p:nvPr>
            <p:ph type="title"/>
          </p:nvPr>
        </p:nvSpPr>
        <p:spPr/>
        <p:txBody>
          <a:bodyPr/>
          <a:lstStyle/>
          <a:p>
            <a:r>
              <a:rPr lang="en-US" dirty="0"/>
              <a:t>Query Optimization</a:t>
            </a:r>
            <a:endParaRPr lang="en-GB" dirty="0"/>
          </a:p>
        </p:txBody>
      </p:sp>
      <p:sp>
        <p:nvSpPr>
          <p:cNvPr id="3" name="Content Placeholder 2">
            <a:extLst>
              <a:ext uri="{FF2B5EF4-FFF2-40B4-BE49-F238E27FC236}">
                <a16:creationId xmlns:a16="http://schemas.microsoft.com/office/drawing/2014/main" id="{B0E37447-2C5A-D075-A282-DFB1A5C7A016}"/>
              </a:ext>
            </a:extLst>
          </p:cNvPr>
          <p:cNvSpPr>
            <a:spLocks noGrp="1"/>
          </p:cNvSpPr>
          <p:nvPr>
            <p:ph idx="1"/>
          </p:nvPr>
        </p:nvSpPr>
        <p:spPr/>
        <p:txBody>
          <a:bodyPr>
            <a:normAutofit/>
          </a:bodyPr>
          <a:lstStyle/>
          <a:p>
            <a:r>
              <a:rPr lang="en-GB" dirty="0"/>
              <a:t>Query optimization involves selecting the best execution strategy or plan from several possible ways the database could execute the query, ensuring that it runs as fast and efficiently as possible.</a:t>
            </a:r>
          </a:p>
          <a:p>
            <a:r>
              <a:rPr lang="en-GB" dirty="0"/>
              <a:t>1. Transformation of relational expressions</a:t>
            </a:r>
          </a:p>
          <a:p>
            <a:r>
              <a:rPr lang="en-GB" dirty="0"/>
              <a:t>2. Cost Estimation</a:t>
            </a:r>
          </a:p>
        </p:txBody>
      </p:sp>
    </p:spTree>
    <p:extLst>
      <p:ext uri="{BB962C8B-B14F-4D97-AF65-F5344CB8AC3E}">
        <p14:creationId xmlns:p14="http://schemas.microsoft.com/office/powerpoint/2010/main" val="3899629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F423B-B60A-7FCB-0AE4-540F103CC795}"/>
              </a:ext>
            </a:extLst>
          </p:cNvPr>
          <p:cNvSpPr>
            <a:spLocks noGrp="1"/>
          </p:cNvSpPr>
          <p:nvPr>
            <p:ph type="title"/>
          </p:nvPr>
        </p:nvSpPr>
        <p:spPr/>
        <p:txBody>
          <a:bodyPr/>
          <a:lstStyle/>
          <a:p>
            <a:r>
              <a:rPr lang="en-US" dirty="0"/>
              <a:t>Query Optimization</a:t>
            </a:r>
            <a:endParaRPr lang="en-GB" dirty="0"/>
          </a:p>
        </p:txBody>
      </p:sp>
      <p:sp>
        <p:nvSpPr>
          <p:cNvPr id="3" name="Content Placeholder 2">
            <a:extLst>
              <a:ext uri="{FF2B5EF4-FFF2-40B4-BE49-F238E27FC236}">
                <a16:creationId xmlns:a16="http://schemas.microsoft.com/office/drawing/2014/main" id="{3E6289E7-6A47-F810-8EE7-CA5961C6D309}"/>
              </a:ext>
            </a:extLst>
          </p:cNvPr>
          <p:cNvSpPr>
            <a:spLocks noGrp="1"/>
          </p:cNvSpPr>
          <p:nvPr>
            <p:ph idx="1"/>
          </p:nvPr>
        </p:nvSpPr>
        <p:spPr/>
        <p:txBody>
          <a:bodyPr>
            <a:normAutofit lnSpcReduction="10000"/>
          </a:bodyPr>
          <a:lstStyle/>
          <a:p>
            <a:r>
              <a:rPr lang="en-GB" dirty="0"/>
              <a:t>Transformation of relational expressions</a:t>
            </a:r>
          </a:p>
          <a:p>
            <a:pPr lvl="1"/>
            <a:r>
              <a:rPr lang="en-GB" dirty="0"/>
              <a:t>Two relational algebra expressions are said to be equivalent if, one or every legal database instance both expressions generate the same set of tuples.</a:t>
            </a:r>
          </a:p>
          <a:p>
            <a:pPr lvl="1"/>
            <a:r>
              <a:rPr lang="en-GB" dirty="0"/>
              <a:t>This is the first step of optimization,</a:t>
            </a:r>
          </a:p>
          <a:p>
            <a:pPr lvl="1"/>
            <a:r>
              <a:rPr lang="en-GB" dirty="0"/>
              <a:t>It generates logically equivalent expressions to the given expressions using equivalence rules.</a:t>
            </a:r>
          </a:p>
          <a:p>
            <a:pPr lvl="1"/>
            <a:r>
              <a:rPr lang="en-GB" b="1" i="1" dirty="0">
                <a:solidFill>
                  <a:srgbClr val="212529"/>
                </a:solidFill>
                <a:effectLst/>
                <a:latin typeface="-apple-system"/>
              </a:rPr>
              <a:t>Equivalence Rules</a:t>
            </a:r>
          </a:p>
          <a:p>
            <a:pPr lvl="2"/>
            <a:r>
              <a:rPr lang="en-GB" b="0" i="0" dirty="0">
                <a:solidFill>
                  <a:srgbClr val="212529"/>
                </a:solidFill>
                <a:effectLst/>
                <a:latin typeface="-apple-system"/>
              </a:rPr>
              <a:t>Conjunctive selection </a:t>
            </a:r>
            <a:endParaRPr lang="en-GB" b="1" i="1" dirty="0">
              <a:solidFill>
                <a:srgbClr val="212529"/>
              </a:solidFill>
              <a:latin typeface="-apple-system"/>
            </a:endParaRPr>
          </a:p>
          <a:p>
            <a:pPr lvl="2"/>
            <a:r>
              <a:rPr lang="en-GB" b="0" i="0" dirty="0">
                <a:solidFill>
                  <a:srgbClr val="212529"/>
                </a:solidFill>
                <a:effectLst/>
                <a:latin typeface="-apple-system"/>
              </a:rPr>
              <a:t>Selection operations</a:t>
            </a:r>
            <a:endParaRPr lang="en-GB" b="1" i="1" dirty="0">
              <a:solidFill>
                <a:srgbClr val="212529"/>
              </a:solidFill>
              <a:effectLst/>
              <a:latin typeface="-apple-system"/>
            </a:endParaRPr>
          </a:p>
          <a:p>
            <a:pPr lvl="2"/>
            <a:r>
              <a:rPr lang="en-GB" b="0" i="0" dirty="0">
                <a:solidFill>
                  <a:srgbClr val="212529"/>
                </a:solidFill>
                <a:effectLst/>
                <a:latin typeface="-apple-system"/>
              </a:rPr>
              <a:t>Theta-join operations (and natural joins) are commutative.</a:t>
            </a:r>
            <a:endParaRPr lang="en-GB" b="1" i="1" dirty="0">
              <a:solidFill>
                <a:srgbClr val="212529"/>
              </a:solidFill>
              <a:latin typeface="-apple-system"/>
            </a:endParaRPr>
          </a:p>
          <a:p>
            <a:pPr lvl="2"/>
            <a:r>
              <a:rPr lang="en-GB" b="0" i="0" dirty="0">
                <a:solidFill>
                  <a:srgbClr val="212529"/>
                </a:solidFill>
                <a:effectLst/>
                <a:latin typeface="-apple-system"/>
              </a:rPr>
              <a:t>Natural join operations are associative</a:t>
            </a:r>
          </a:p>
          <a:p>
            <a:pPr lvl="2"/>
            <a:r>
              <a:rPr lang="en-GB" dirty="0">
                <a:solidFill>
                  <a:srgbClr val="212529"/>
                </a:solidFill>
                <a:latin typeface="-apple-system"/>
              </a:rPr>
              <a:t>And so on.</a:t>
            </a:r>
            <a:endParaRPr lang="en-GB" dirty="0"/>
          </a:p>
        </p:txBody>
      </p:sp>
    </p:spTree>
    <p:extLst>
      <p:ext uri="{BB962C8B-B14F-4D97-AF65-F5344CB8AC3E}">
        <p14:creationId xmlns:p14="http://schemas.microsoft.com/office/powerpoint/2010/main" val="1030710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5BB8B-33B0-94E9-59BC-2972AFA9DD05}"/>
              </a:ext>
            </a:extLst>
          </p:cNvPr>
          <p:cNvSpPr>
            <a:spLocks noGrp="1"/>
          </p:cNvSpPr>
          <p:nvPr>
            <p:ph type="title"/>
          </p:nvPr>
        </p:nvSpPr>
        <p:spPr/>
        <p:txBody>
          <a:bodyPr/>
          <a:lstStyle/>
          <a:p>
            <a:r>
              <a:rPr lang="en-US" dirty="0"/>
              <a:t>Query Optimization</a:t>
            </a:r>
            <a:endParaRPr lang="en-GB" dirty="0"/>
          </a:p>
        </p:txBody>
      </p:sp>
      <p:sp>
        <p:nvSpPr>
          <p:cNvPr id="3" name="Content Placeholder 2">
            <a:extLst>
              <a:ext uri="{FF2B5EF4-FFF2-40B4-BE49-F238E27FC236}">
                <a16:creationId xmlns:a16="http://schemas.microsoft.com/office/drawing/2014/main" id="{BE55C4B2-45D3-EB07-6CAE-71BCA034FE55}"/>
              </a:ext>
            </a:extLst>
          </p:cNvPr>
          <p:cNvSpPr>
            <a:spLocks noGrp="1"/>
          </p:cNvSpPr>
          <p:nvPr>
            <p:ph idx="1"/>
          </p:nvPr>
        </p:nvSpPr>
        <p:spPr/>
        <p:txBody>
          <a:bodyPr/>
          <a:lstStyle/>
          <a:p>
            <a:r>
              <a:rPr lang="en-GB" dirty="0"/>
              <a:t>Estimating the </a:t>
            </a:r>
            <a:r>
              <a:rPr lang="en-GB" b="1" dirty="0"/>
              <a:t>statistics</a:t>
            </a:r>
            <a:r>
              <a:rPr lang="en-GB" dirty="0"/>
              <a:t> of expressions</a:t>
            </a:r>
          </a:p>
          <a:p>
            <a:pPr lvl="1"/>
            <a:r>
              <a:rPr lang="en-GB" b="1" dirty="0" err="1"/>
              <a:t>catalog</a:t>
            </a:r>
            <a:r>
              <a:rPr lang="en-GB" b="1" dirty="0"/>
              <a:t> information</a:t>
            </a:r>
            <a:r>
              <a:rPr lang="en-GB" dirty="0"/>
              <a:t>, </a:t>
            </a:r>
          </a:p>
          <a:p>
            <a:pPr lvl="2"/>
            <a:r>
              <a:rPr lang="en-GB" dirty="0"/>
              <a:t>Number of tuples (rows)</a:t>
            </a:r>
          </a:p>
          <a:p>
            <a:pPr lvl="2"/>
            <a:r>
              <a:rPr lang="en-GB" dirty="0"/>
              <a:t>Number of distinct values</a:t>
            </a:r>
          </a:p>
          <a:p>
            <a:pPr lvl="2"/>
            <a:r>
              <a:rPr lang="en-GB" dirty="0"/>
              <a:t>Index availability</a:t>
            </a:r>
          </a:p>
          <a:p>
            <a:pPr lvl="2"/>
            <a:endParaRPr lang="en-GB" dirty="0"/>
          </a:p>
          <a:p>
            <a:pPr lvl="1"/>
            <a:r>
              <a:rPr lang="en-GB" b="1" dirty="0"/>
              <a:t>selection size</a:t>
            </a:r>
          </a:p>
          <a:p>
            <a:pPr lvl="2"/>
            <a:r>
              <a:rPr lang="en-GB" b="1" dirty="0"/>
              <a:t>Condition</a:t>
            </a:r>
          </a:p>
          <a:p>
            <a:pPr lvl="1"/>
            <a:r>
              <a:rPr lang="en-GB" dirty="0"/>
              <a:t> </a:t>
            </a:r>
            <a:r>
              <a:rPr lang="en-GB" b="1" dirty="0"/>
              <a:t>join size</a:t>
            </a:r>
          </a:p>
          <a:p>
            <a:pPr lvl="2"/>
            <a:r>
              <a:rPr lang="en-GB" b="1" dirty="0"/>
              <a:t>Simple/complex/</a:t>
            </a:r>
            <a:r>
              <a:rPr lang="en-GB" b="1" dirty="0" err="1"/>
              <a:t>equi</a:t>
            </a:r>
            <a:r>
              <a:rPr lang="en-GB" b="1" dirty="0"/>
              <a:t> join</a:t>
            </a:r>
          </a:p>
          <a:p>
            <a:pPr lvl="1"/>
            <a:r>
              <a:rPr lang="en-GB" b="1" dirty="0"/>
              <a:t>Size estimation of operation</a:t>
            </a:r>
            <a:endParaRPr lang="en-GB" dirty="0"/>
          </a:p>
        </p:txBody>
      </p:sp>
    </p:spTree>
    <p:extLst>
      <p:ext uri="{BB962C8B-B14F-4D97-AF65-F5344CB8AC3E}">
        <p14:creationId xmlns:p14="http://schemas.microsoft.com/office/powerpoint/2010/main" val="3925452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E7C48-127A-7CF6-672B-6412A0F23C8C}"/>
              </a:ext>
            </a:extLst>
          </p:cNvPr>
          <p:cNvSpPr>
            <a:spLocks noGrp="1"/>
          </p:cNvSpPr>
          <p:nvPr>
            <p:ph type="title"/>
          </p:nvPr>
        </p:nvSpPr>
        <p:spPr/>
        <p:txBody>
          <a:bodyPr/>
          <a:lstStyle/>
          <a:p>
            <a:r>
              <a:rPr lang="en-US" dirty="0"/>
              <a:t>Query Optimization</a:t>
            </a:r>
            <a:endParaRPr lang="en-GB" dirty="0"/>
          </a:p>
        </p:txBody>
      </p:sp>
      <p:sp>
        <p:nvSpPr>
          <p:cNvPr id="3" name="Content Placeholder 2">
            <a:extLst>
              <a:ext uri="{FF2B5EF4-FFF2-40B4-BE49-F238E27FC236}">
                <a16:creationId xmlns:a16="http://schemas.microsoft.com/office/drawing/2014/main" id="{0CE7C786-B444-88D8-5851-EE98FCBF4E07}"/>
              </a:ext>
            </a:extLst>
          </p:cNvPr>
          <p:cNvSpPr>
            <a:spLocks noGrp="1"/>
          </p:cNvSpPr>
          <p:nvPr>
            <p:ph idx="1"/>
          </p:nvPr>
        </p:nvSpPr>
        <p:spPr/>
        <p:txBody>
          <a:bodyPr>
            <a:normAutofit lnSpcReduction="10000"/>
          </a:bodyPr>
          <a:lstStyle/>
          <a:p>
            <a:r>
              <a:rPr lang="en-GB" b="0" i="0" dirty="0">
                <a:solidFill>
                  <a:srgbClr val="333333"/>
                </a:solidFill>
                <a:effectLst/>
                <a:latin typeface="guardian-text-oreilly"/>
              </a:rPr>
              <a:t>An evaluation plan is used to define exactly what algorithm should be used for each operation and how the execution of the operations should be coordinated.</a:t>
            </a:r>
          </a:p>
          <a:p>
            <a:pPr lvl="1"/>
            <a:r>
              <a:rPr lang="en-GB" b="0" i="0" dirty="0">
                <a:solidFill>
                  <a:srgbClr val="333333"/>
                </a:solidFill>
                <a:effectLst/>
                <a:latin typeface="guardian-text-oreilly"/>
              </a:rPr>
              <a:t>(a) heuristic optimization </a:t>
            </a:r>
          </a:p>
          <a:p>
            <a:pPr lvl="2"/>
            <a:r>
              <a:rPr lang="en-GB" b="0" i="0" dirty="0">
                <a:solidFill>
                  <a:srgbClr val="212529"/>
                </a:solidFill>
                <a:effectLst/>
                <a:latin typeface="-apple-system"/>
              </a:rPr>
              <a:t>a. System uses heuristics to reduce number of choices to evaluate,</a:t>
            </a:r>
            <a:br>
              <a:rPr lang="en-GB" dirty="0"/>
            </a:br>
            <a:r>
              <a:rPr lang="en-GB" b="0" i="0" dirty="0">
                <a:solidFill>
                  <a:srgbClr val="212529"/>
                </a:solidFill>
                <a:effectLst/>
                <a:latin typeface="-apple-system"/>
              </a:rPr>
              <a:t>b. A query is transformed by using a set of rules as:</a:t>
            </a:r>
            <a:br>
              <a:rPr lang="en-GB" dirty="0"/>
            </a:br>
            <a:r>
              <a:rPr lang="en-GB" b="0" i="0" dirty="0" err="1">
                <a:solidFill>
                  <a:srgbClr val="212529"/>
                </a:solidFill>
                <a:effectLst/>
                <a:latin typeface="-apple-system"/>
              </a:rPr>
              <a:t>i</a:t>
            </a:r>
            <a:r>
              <a:rPr lang="en-GB" b="0" i="0" dirty="0">
                <a:solidFill>
                  <a:srgbClr val="212529"/>
                </a:solidFill>
                <a:effectLst/>
                <a:latin typeface="-apple-system"/>
              </a:rPr>
              <a:t>. Perform selection early</a:t>
            </a:r>
            <a:br>
              <a:rPr lang="en-GB" dirty="0"/>
            </a:br>
            <a:r>
              <a:rPr lang="en-GB" b="0" i="0" dirty="0">
                <a:solidFill>
                  <a:srgbClr val="212529"/>
                </a:solidFill>
                <a:effectLst/>
                <a:latin typeface="-apple-system"/>
              </a:rPr>
              <a:t>ii. Perform projection early</a:t>
            </a:r>
            <a:br>
              <a:rPr lang="en-GB" dirty="0"/>
            </a:br>
            <a:r>
              <a:rPr lang="en-GB" b="0" i="0" dirty="0">
                <a:solidFill>
                  <a:srgbClr val="212529"/>
                </a:solidFill>
                <a:effectLst/>
                <a:latin typeface="-apple-system"/>
              </a:rPr>
              <a:t>iii. Perform most restrictive selection and join operations before other similar operations.</a:t>
            </a:r>
            <a:endParaRPr lang="en-GB" b="0" i="0" dirty="0">
              <a:solidFill>
                <a:srgbClr val="333333"/>
              </a:solidFill>
              <a:effectLst/>
              <a:latin typeface="guardian-text-oreilly"/>
            </a:endParaRPr>
          </a:p>
          <a:p>
            <a:pPr lvl="1"/>
            <a:r>
              <a:rPr lang="en-GB" b="0" i="0" dirty="0">
                <a:solidFill>
                  <a:srgbClr val="333333"/>
                </a:solidFill>
                <a:effectLst/>
                <a:latin typeface="guardian-text-oreilly"/>
              </a:rPr>
              <a:t>(b) cost-based optimization. </a:t>
            </a:r>
          </a:p>
          <a:p>
            <a:pPr lvl="2"/>
            <a:r>
              <a:rPr lang="en-GB" b="0" i="0" dirty="0">
                <a:solidFill>
                  <a:srgbClr val="212529"/>
                </a:solidFill>
                <a:effectLst/>
                <a:latin typeface="-apple-system"/>
              </a:rPr>
              <a:t>a. It explores the space of all query evaluation plans that are equivalent to given query and chooses one with least estimated cost.</a:t>
            </a:r>
            <a:br>
              <a:rPr lang="en-GB" dirty="0"/>
            </a:br>
            <a:r>
              <a:rPr lang="en-GB" b="0" i="0" dirty="0">
                <a:solidFill>
                  <a:srgbClr val="212529"/>
                </a:solidFill>
                <a:effectLst/>
                <a:latin typeface="-apple-system"/>
              </a:rPr>
              <a:t>b. Exploring space of all possible plans may be expensive.</a:t>
            </a:r>
            <a:br>
              <a:rPr lang="en-GB" dirty="0"/>
            </a:br>
            <a:r>
              <a:rPr lang="en-GB" b="0" i="0" dirty="0">
                <a:solidFill>
                  <a:srgbClr val="212529"/>
                </a:solidFill>
                <a:effectLst/>
                <a:latin typeface="-apple-system"/>
              </a:rPr>
              <a:t>c. It guarantees finding of optimal plans.</a:t>
            </a:r>
            <a:endParaRPr lang="en-GB" b="0" i="0" dirty="0">
              <a:solidFill>
                <a:srgbClr val="333333"/>
              </a:solidFill>
              <a:effectLst/>
              <a:latin typeface="guardian-text-oreilly"/>
            </a:endParaRPr>
          </a:p>
          <a:p>
            <a:pPr lvl="1"/>
            <a:endParaRPr lang="en-GB" dirty="0"/>
          </a:p>
        </p:txBody>
      </p:sp>
    </p:spTree>
    <p:extLst>
      <p:ext uri="{BB962C8B-B14F-4D97-AF65-F5344CB8AC3E}">
        <p14:creationId xmlns:p14="http://schemas.microsoft.com/office/powerpoint/2010/main" val="4067743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15F3AE4-C5AD-1E9A-D909-C18ACE48A6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851" y="819669"/>
            <a:ext cx="6562942" cy="4824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4082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187E8-A935-258D-6010-7AD2239B8610}"/>
              </a:ext>
            </a:extLst>
          </p:cNvPr>
          <p:cNvSpPr>
            <a:spLocks noGrp="1"/>
          </p:cNvSpPr>
          <p:nvPr>
            <p:ph type="title"/>
          </p:nvPr>
        </p:nvSpPr>
        <p:spPr/>
        <p:txBody>
          <a:bodyPr/>
          <a:lstStyle/>
          <a:p>
            <a:r>
              <a:rPr lang="en-US" b="1" dirty="0"/>
              <a:t>Query Cost Estimation (</a:t>
            </a:r>
            <a:r>
              <a:rPr lang="en-GB" dirty="0"/>
              <a:t>Measures of Query Cost</a:t>
            </a:r>
            <a:r>
              <a:rPr lang="en-US" b="1" dirty="0"/>
              <a:t>)</a:t>
            </a:r>
            <a:endParaRPr lang="en-GB" dirty="0"/>
          </a:p>
        </p:txBody>
      </p:sp>
      <p:sp>
        <p:nvSpPr>
          <p:cNvPr id="3" name="Content Placeholder 2">
            <a:extLst>
              <a:ext uri="{FF2B5EF4-FFF2-40B4-BE49-F238E27FC236}">
                <a16:creationId xmlns:a16="http://schemas.microsoft.com/office/drawing/2014/main" id="{2B9C3E3C-AB3A-2CB0-4A41-3A633CFCA165}"/>
              </a:ext>
            </a:extLst>
          </p:cNvPr>
          <p:cNvSpPr>
            <a:spLocks noGrp="1"/>
          </p:cNvSpPr>
          <p:nvPr>
            <p:ph idx="1"/>
          </p:nvPr>
        </p:nvSpPr>
        <p:spPr/>
        <p:txBody>
          <a:bodyPr>
            <a:normAutofit fontScale="92500" lnSpcReduction="20000"/>
          </a:bodyPr>
          <a:lstStyle/>
          <a:p>
            <a:r>
              <a:rPr lang="en-GB" dirty="0"/>
              <a:t>If we consider the number of block transfers as the main component in calculating the cost of a query, it would include more sub-components. Those are; </a:t>
            </a:r>
          </a:p>
          <a:p>
            <a:r>
              <a:rPr lang="en-GB" dirty="0"/>
              <a:t>Rotational latency - time taken to bring and spin the required data under the read-write head of the disk. </a:t>
            </a:r>
          </a:p>
          <a:p>
            <a:r>
              <a:rPr lang="en-GB" dirty="0"/>
              <a:t>Seek time - time taken to position the read-write head over the required track or cylinder. </a:t>
            </a:r>
          </a:p>
          <a:p>
            <a:r>
              <a:rPr lang="en-GB" dirty="0"/>
              <a:t>Sequential I/O - reading data that are stored in contiguous blocks of the disk</a:t>
            </a:r>
          </a:p>
          <a:p>
            <a:r>
              <a:rPr lang="en-GB" dirty="0"/>
              <a:t> Random I/O - reading data that are stored in different blocks that are not contiguous. </a:t>
            </a:r>
          </a:p>
          <a:p>
            <a:r>
              <a:rPr lang="en-GB" dirty="0"/>
              <a:t>That is, the blocks might be stored in different tracks, or different cylinders, etc. Whether read/write? - read takes less time, write takes more.</a:t>
            </a:r>
          </a:p>
        </p:txBody>
      </p:sp>
    </p:spTree>
    <p:extLst>
      <p:ext uri="{BB962C8B-B14F-4D97-AF65-F5344CB8AC3E}">
        <p14:creationId xmlns:p14="http://schemas.microsoft.com/office/powerpoint/2010/main" val="1070314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E9F55-16C5-ED8E-E8BE-E07235ADC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6BC0C-B8B1-7F2F-E725-90DC35C3A39A}"/>
              </a:ext>
            </a:extLst>
          </p:cNvPr>
          <p:cNvSpPr>
            <a:spLocks noGrp="1"/>
          </p:cNvSpPr>
          <p:nvPr>
            <p:ph type="title"/>
          </p:nvPr>
        </p:nvSpPr>
        <p:spPr/>
        <p:txBody>
          <a:bodyPr/>
          <a:lstStyle/>
          <a:p>
            <a:r>
              <a:rPr lang="en-US" b="1" dirty="0"/>
              <a:t>Query Cost Estimation (</a:t>
            </a:r>
            <a:r>
              <a:rPr lang="en-GB" dirty="0"/>
              <a:t>Measures of Query Cost</a:t>
            </a:r>
            <a:r>
              <a:rPr lang="en-US" b="1" dirty="0"/>
              <a:t>)</a:t>
            </a:r>
            <a:endParaRPr lang="en-GB" dirty="0"/>
          </a:p>
        </p:txBody>
      </p:sp>
      <p:sp>
        <p:nvSpPr>
          <p:cNvPr id="3" name="Content Placeholder 2">
            <a:extLst>
              <a:ext uri="{FF2B5EF4-FFF2-40B4-BE49-F238E27FC236}">
                <a16:creationId xmlns:a16="http://schemas.microsoft.com/office/drawing/2014/main" id="{B7CEE58F-9CAE-FCD2-5407-9F675FF0D3AA}"/>
              </a:ext>
            </a:extLst>
          </p:cNvPr>
          <p:cNvSpPr>
            <a:spLocks noGrp="1"/>
          </p:cNvSpPr>
          <p:nvPr>
            <p:ph idx="1"/>
          </p:nvPr>
        </p:nvSpPr>
        <p:spPr/>
        <p:txBody>
          <a:bodyPr>
            <a:normAutofit/>
          </a:bodyPr>
          <a:lstStyle/>
          <a:p>
            <a:r>
              <a:rPr lang="en-GB" dirty="0"/>
              <a:t>From these sub-components, we would list the components of a more accurate measure as follows; </a:t>
            </a:r>
          </a:p>
          <a:p>
            <a:r>
              <a:rPr lang="en-GB" dirty="0"/>
              <a:t>The number of seek operations performed The number of block read The number of blocks written To get the final result, these numbers to be multiplied by the average time required to complete the task.</a:t>
            </a:r>
          </a:p>
          <a:p>
            <a:r>
              <a:rPr lang="en-GB" dirty="0"/>
              <a:t> Hence, it can be written as follows;</a:t>
            </a:r>
          </a:p>
          <a:p>
            <a:r>
              <a:rPr lang="en-GB" dirty="0">
                <a:solidFill>
                  <a:srgbClr val="FF0000"/>
                </a:solidFill>
              </a:rPr>
              <a:t> Most read Query cost = (number of seek operations X average seek time) + (number of blocks read X average transfer time for reading a block) + (number of blocks written X average transfer time for writing a block)</a:t>
            </a:r>
          </a:p>
        </p:txBody>
      </p:sp>
    </p:spTree>
    <p:extLst>
      <p:ext uri="{BB962C8B-B14F-4D97-AF65-F5344CB8AC3E}">
        <p14:creationId xmlns:p14="http://schemas.microsoft.com/office/powerpoint/2010/main" val="1010783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D00118-C775-8B22-B89A-7125D2763E33}"/>
              </a:ext>
            </a:extLst>
          </p:cNvPr>
          <p:cNvPicPr>
            <a:picLocks noChangeAspect="1"/>
          </p:cNvPicPr>
          <p:nvPr/>
        </p:nvPicPr>
        <p:blipFill>
          <a:blip r:embed="rId2"/>
          <a:stretch>
            <a:fillRect/>
          </a:stretch>
        </p:blipFill>
        <p:spPr>
          <a:xfrm>
            <a:off x="1439056" y="139619"/>
            <a:ext cx="8844195" cy="6171240"/>
          </a:xfrm>
          <a:prstGeom prst="rect">
            <a:avLst/>
          </a:prstGeom>
        </p:spPr>
      </p:pic>
    </p:spTree>
    <p:extLst>
      <p:ext uri="{BB962C8B-B14F-4D97-AF65-F5344CB8AC3E}">
        <p14:creationId xmlns:p14="http://schemas.microsoft.com/office/powerpoint/2010/main" val="3541608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Equivalence of Expressions</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rmAutofit/>
          </a:bodyPr>
          <a:lstStyle/>
          <a:p>
            <a:r>
              <a:rPr lang="en-US" sz="2200" dirty="0">
                <a:solidFill>
                  <a:schemeClr val="tx1">
                    <a:lumMod val="75000"/>
                    <a:lumOff val="25000"/>
                  </a:schemeClr>
                </a:solidFill>
              </a:rPr>
              <a:t>In the context of query processing, the equivalence of expressions refers to the ability to transform one query expression into another while preserving the semantic meaning and final result. </a:t>
            </a:r>
          </a:p>
          <a:p>
            <a:r>
              <a:rPr lang="en-US" sz="2200" dirty="0">
                <a:solidFill>
                  <a:schemeClr val="tx1">
                    <a:lumMod val="75000"/>
                    <a:lumOff val="25000"/>
                  </a:schemeClr>
                </a:solidFill>
              </a:rPr>
              <a:t>This is essential for query optimization, as the database management system (DBMS) can explore different but equivalent expressions to choose the one with the lowest execution cost.</a:t>
            </a:r>
          </a:p>
          <a:p>
            <a:r>
              <a:rPr lang="en-US" sz="2200" dirty="0">
                <a:solidFill>
                  <a:schemeClr val="tx1">
                    <a:lumMod val="75000"/>
                    <a:lumOff val="25000"/>
                  </a:schemeClr>
                </a:solidFill>
              </a:rPr>
              <a:t>This relies on principles of relational algebra and known equivalences between operations under certain conditions.</a:t>
            </a:r>
            <a:br>
              <a:rPr lang="en-US" sz="1400" dirty="0">
                <a:solidFill>
                  <a:schemeClr val="tx1">
                    <a:lumMod val="75000"/>
                    <a:lumOff val="25000"/>
                  </a:schemeClr>
                </a:solidFill>
              </a:rPr>
            </a:br>
            <a:endParaRPr lang="en-US" sz="1400" dirty="0">
              <a:solidFill>
                <a:schemeClr val="tx1">
                  <a:lumMod val="75000"/>
                  <a:lumOff val="25000"/>
                </a:schemeClr>
              </a:solidFill>
            </a:endParaRPr>
          </a:p>
        </p:txBody>
      </p:sp>
    </p:spTree>
    <p:extLst>
      <p:ext uri="{BB962C8B-B14F-4D97-AF65-F5344CB8AC3E}">
        <p14:creationId xmlns:p14="http://schemas.microsoft.com/office/powerpoint/2010/main" val="3490787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Equivalence of Expressions</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415161"/>
          </a:xfrm>
        </p:spPr>
        <p:txBody>
          <a:bodyPr>
            <a:normAutofit/>
          </a:bodyPr>
          <a:lstStyle/>
          <a:p>
            <a:pPr marL="0" indent="0">
              <a:buNone/>
            </a:pPr>
            <a:r>
              <a:rPr lang="en-US" sz="2200" b="1" dirty="0">
                <a:solidFill>
                  <a:schemeClr val="tx1">
                    <a:lumMod val="75000"/>
                    <a:lumOff val="25000"/>
                  </a:schemeClr>
                </a:solidFill>
              </a:rPr>
              <a:t>Algebraic Transformations:</a:t>
            </a:r>
          </a:p>
          <a:p>
            <a:r>
              <a:rPr lang="en-US" sz="2200" dirty="0">
                <a:solidFill>
                  <a:schemeClr val="tx1">
                    <a:lumMod val="75000"/>
                    <a:lumOff val="25000"/>
                  </a:schemeClr>
                </a:solidFill>
              </a:rPr>
              <a:t>Equivalence often involves algebraic transformations based on relational algebra rules. </a:t>
            </a:r>
          </a:p>
          <a:p>
            <a:r>
              <a:rPr lang="en-US" sz="2200" dirty="0">
                <a:solidFill>
                  <a:schemeClr val="tx1">
                    <a:lumMod val="75000"/>
                    <a:lumOff val="25000"/>
                  </a:schemeClr>
                </a:solidFill>
              </a:rPr>
              <a:t>For example, relational algebra has certain laws like commutativity, associativity, and distributivity. </a:t>
            </a:r>
          </a:p>
          <a:p>
            <a:r>
              <a:rPr lang="en-US" sz="2200" dirty="0">
                <a:solidFill>
                  <a:schemeClr val="tx1">
                    <a:lumMod val="75000"/>
                    <a:lumOff val="25000"/>
                  </a:schemeClr>
                </a:solidFill>
              </a:rPr>
              <a:t>These laws can be applied to transform one expression into an equivalent one.</a:t>
            </a:r>
            <a:br>
              <a:rPr lang="en-US" sz="2200" dirty="0">
                <a:solidFill>
                  <a:schemeClr val="tx1">
                    <a:lumMod val="75000"/>
                    <a:lumOff val="25000"/>
                  </a:schemeClr>
                </a:solidFill>
              </a:rPr>
            </a:br>
            <a:endParaRPr lang="en-US" sz="2200" dirty="0">
              <a:solidFill>
                <a:schemeClr val="tx1">
                  <a:lumMod val="75000"/>
                  <a:lumOff val="25000"/>
                </a:schemeClr>
              </a:solidFill>
            </a:endParaRPr>
          </a:p>
          <a:p>
            <a:r>
              <a:rPr lang="en-US" sz="2200" b="1" dirty="0">
                <a:solidFill>
                  <a:schemeClr val="tx1">
                    <a:lumMod val="75000"/>
                    <a:lumOff val="25000"/>
                  </a:schemeClr>
                </a:solidFill>
              </a:rPr>
              <a:t>Selection Pushdown:</a:t>
            </a:r>
          </a:p>
          <a:p>
            <a:pPr lvl="1">
              <a:buFont typeface="Courier New" panose="02070309020205020404" pitchFamily="49" charset="0"/>
              <a:buChar char="o"/>
            </a:pPr>
            <a:r>
              <a:rPr lang="en-US" sz="2000" dirty="0">
                <a:solidFill>
                  <a:schemeClr val="tx1">
                    <a:lumMod val="75000"/>
                    <a:lumOff val="25000"/>
                  </a:schemeClr>
                </a:solidFill>
              </a:rPr>
              <a:t>Original Expression: </a:t>
            </a:r>
            <a:r>
              <a:rPr lang="el-GR" sz="2000" b="1" dirty="0">
                <a:solidFill>
                  <a:schemeClr val="tx1">
                    <a:lumMod val="75000"/>
                    <a:lumOff val="25000"/>
                  </a:schemeClr>
                </a:solidFill>
              </a:rPr>
              <a:t>σ_{</a:t>
            </a:r>
            <a:r>
              <a:rPr lang="en-US" sz="2000" b="1" dirty="0">
                <a:solidFill>
                  <a:schemeClr val="tx1">
                    <a:lumMod val="75000"/>
                    <a:lumOff val="25000"/>
                  </a:schemeClr>
                </a:solidFill>
              </a:rPr>
              <a:t>A}(</a:t>
            </a:r>
            <a:r>
              <a:rPr lang="el-GR" sz="2000" b="1" dirty="0">
                <a:solidFill>
                  <a:schemeClr val="tx1">
                    <a:lumMod val="75000"/>
                    <a:lumOff val="25000"/>
                  </a:schemeClr>
                </a:solidFill>
              </a:rPr>
              <a:t>σ_{</a:t>
            </a:r>
            <a:r>
              <a:rPr lang="en-US" sz="2000" b="1" dirty="0">
                <a:solidFill>
                  <a:schemeClr val="tx1">
                    <a:lumMod val="75000"/>
                    <a:lumOff val="25000"/>
                  </a:schemeClr>
                </a:solidFill>
              </a:rPr>
              <a:t>B}(R))</a:t>
            </a:r>
          </a:p>
          <a:p>
            <a:pPr lvl="1">
              <a:buFont typeface="Courier New" panose="02070309020205020404" pitchFamily="49" charset="0"/>
              <a:buChar char="o"/>
            </a:pPr>
            <a:r>
              <a:rPr lang="en-US" sz="2000" dirty="0">
                <a:solidFill>
                  <a:schemeClr val="tx1">
                    <a:lumMod val="75000"/>
                    <a:lumOff val="25000"/>
                  </a:schemeClr>
                </a:solidFill>
              </a:rPr>
              <a:t>Transformation: </a:t>
            </a:r>
            <a:r>
              <a:rPr lang="el-GR" sz="2000" b="1" dirty="0">
                <a:solidFill>
                  <a:schemeClr val="tx1">
                    <a:lumMod val="75000"/>
                    <a:lumOff val="25000"/>
                  </a:schemeClr>
                </a:solidFill>
              </a:rPr>
              <a:t>σ_{</a:t>
            </a:r>
            <a:r>
              <a:rPr lang="en-US" sz="2000" b="1" dirty="0">
                <a:solidFill>
                  <a:schemeClr val="tx1">
                    <a:lumMod val="75000"/>
                    <a:lumOff val="25000"/>
                  </a:schemeClr>
                </a:solidFill>
              </a:rPr>
              <a:t>A ∩ B}(R)</a:t>
            </a:r>
          </a:p>
          <a:p>
            <a:pPr lvl="1">
              <a:buFont typeface="Courier New" panose="02070309020205020404" pitchFamily="49" charset="0"/>
              <a:buChar char="o"/>
            </a:pPr>
            <a:r>
              <a:rPr lang="en-US" sz="2000" dirty="0">
                <a:solidFill>
                  <a:schemeClr val="tx1">
                    <a:lumMod val="75000"/>
                    <a:lumOff val="25000"/>
                  </a:schemeClr>
                </a:solidFill>
              </a:rPr>
              <a:t>Pushing down two selection operations on a relation R with conditions A and B to a single selection with the combined condition A ∩ B.</a:t>
            </a:r>
          </a:p>
        </p:txBody>
      </p:sp>
    </p:spTree>
    <p:extLst>
      <p:ext uri="{BB962C8B-B14F-4D97-AF65-F5344CB8AC3E}">
        <p14:creationId xmlns:p14="http://schemas.microsoft.com/office/powerpoint/2010/main" val="2602471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Equivalence of Expressions</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rmAutofit/>
          </a:bodyPr>
          <a:lstStyle/>
          <a:p>
            <a:pPr marL="0" indent="0">
              <a:buNone/>
            </a:pPr>
            <a:r>
              <a:rPr lang="en-US" sz="2200" b="1" dirty="0">
                <a:solidFill>
                  <a:schemeClr val="tx1">
                    <a:lumMod val="75000"/>
                    <a:lumOff val="25000"/>
                  </a:schemeClr>
                </a:solidFill>
              </a:rPr>
              <a:t>Algebraic Transformations:</a:t>
            </a:r>
          </a:p>
          <a:p>
            <a:r>
              <a:rPr lang="en-US" sz="2200" b="1" dirty="0">
                <a:solidFill>
                  <a:schemeClr val="tx1">
                    <a:lumMod val="75000"/>
                    <a:lumOff val="25000"/>
                  </a:schemeClr>
                </a:solidFill>
              </a:rPr>
              <a:t>Projection Commutativity:</a:t>
            </a:r>
          </a:p>
          <a:p>
            <a:pPr lvl="1">
              <a:buFont typeface="Courier New" panose="02070309020205020404" pitchFamily="49" charset="0"/>
              <a:buChar char="o"/>
            </a:pPr>
            <a:r>
              <a:rPr lang="en-US" sz="2000" dirty="0">
                <a:solidFill>
                  <a:schemeClr val="tx1">
                    <a:lumMod val="75000"/>
                    <a:lumOff val="25000"/>
                  </a:schemeClr>
                </a:solidFill>
              </a:rPr>
              <a:t>Original Expression:</a:t>
            </a:r>
            <a:r>
              <a:rPr lang="en-US" sz="2000" b="1" dirty="0">
                <a:solidFill>
                  <a:schemeClr val="tx1">
                    <a:lumMod val="75000"/>
                    <a:lumOff val="25000"/>
                  </a:schemeClr>
                </a:solidFill>
              </a:rPr>
              <a:t> </a:t>
            </a:r>
            <a:r>
              <a:rPr lang="el-GR" sz="2000" b="1" dirty="0">
                <a:solidFill>
                  <a:schemeClr val="tx1">
                    <a:lumMod val="75000"/>
                    <a:lumOff val="25000"/>
                  </a:schemeClr>
                </a:solidFill>
              </a:rPr>
              <a:t>π_{</a:t>
            </a:r>
            <a:r>
              <a:rPr lang="en-US" sz="2000" b="1" dirty="0">
                <a:solidFill>
                  <a:schemeClr val="tx1">
                    <a:lumMod val="75000"/>
                    <a:lumOff val="25000"/>
                  </a:schemeClr>
                </a:solidFill>
              </a:rPr>
              <a:t>A, B}(R)</a:t>
            </a:r>
          </a:p>
          <a:p>
            <a:pPr lvl="1">
              <a:buFont typeface="Courier New" panose="02070309020205020404" pitchFamily="49" charset="0"/>
              <a:buChar char="o"/>
            </a:pPr>
            <a:r>
              <a:rPr lang="en-US" sz="2000" dirty="0">
                <a:solidFill>
                  <a:schemeClr val="tx1">
                    <a:lumMod val="75000"/>
                    <a:lumOff val="25000"/>
                  </a:schemeClr>
                </a:solidFill>
              </a:rPr>
              <a:t>Transformation: </a:t>
            </a:r>
            <a:r>
              <a:rPr lang="el-GR" sz="2000" b="1" dirty="0">
                <a:solidFill>
                  <a:schemeClr val="tx1">
                    <a:lumMod val="75000"/>
                    <a:lumOff val="25000"/>
                  </a:schemeClr>
                </a:solidFill>
              </a:rPr>
              <a:t>π_{</a:t>
            </a:r>
            <a:r>
              <a:rPr lang="en-US" sz="2000" b="1" dirty="0">
                <a:solidFill>
                  <a:schemeClr val="tx1">
                    <a:lumMod val="75000"/>
                    <a:lumOff val="25000"/>
                  </a:schemeClr>
                </a:solidFill>
              </a:rPr>
              <a:t>B, A}(R)</a:t>
            </a:r>
          </a:p>
          <a:p>
            <a:pPr lvl="1">
              <a:buFont typeface="Courier New" panose="02070309020205020404" pitchFamily="49" charset="0"/>
              <a:buChar char="o"/>
            </a:pPr>
            <a:r>
              <a:rPr lang="en-US" sz="2000" dirty="0">
                <a:solidFill>
                  <a:schemeClr val="tx1">
                    <a:lumMod val="75000"/>
                    <a:lumOff val="25000"/>
                  </a:schemeClr>
                </a:solidFill>
              </a:rPr>
              <a:t>The order of projecting attributes A and B from relation R does not affect the result, so the two expressions are equivalent.</a:t>
            </a:r>
          </a:p>
          <a:p>
            <a:r>
              <a:rPr lang="en-US" sz="2200" b="1" dirty="0">
                <a:solidFill>
                  <a:schemeClr val="tx1">
                    <a:lumMod val="75000"/>
                    <a:lumOff val="25000"/>
                  </a:schemeClr>
                </a:solidFill>
              </a:rPr>
              <a:t>Join Commutativity:</a:t>
            </a:r>
          </a:p>
          <a:p>
            <a:pPr lvl="1">
              <a:buFont typeface="Courier New" panose="02070309020205020404" pitchFamily="49" charset="0"/>
              <a:buChar char="o"/>
            </a:pPr>
            <a:r>
              <a:rPr lang="en-US" sz="2000" dirty="0">
                <a:solidFill>
                  <a:schemeClr val="tx1">
                    <a:lumMod val="75000"/>
                    <a:lumOff val="25000"/>
                  </a:schemeClr>
                </a:solidFill>
              </a:rPr>
              <a:t>Original Expression: </a:t>
            </a:r>
            <a:r>
              <a:rPr lang="en-US" sz="2000" b="1" dirty="0">
                <a:solidFill>
                  <a:schemeClr val="tx1">
                    <a:lumMod val="75000"/>
                    <a:lumOff val="25000"/>
                  </a:schemeClr>
                </a:solidFill>
              </a:rPr>
              <a:t>R ⨝_{A=B} S</a:t>
            </a:r>
          </a:p>
          <a:p>
            <a:pPr lvl="1">
              <a:buFont typeface="Courier New" panose="02070309020205020404" pitchFamily="49" charset="0"/>
              <a:buChar char="o"/>
            </a:pPr>
            <a:r>
              <a:rPr lang="en-US" sz="2000" dirty="0">
                <a:solidFill>
                  <a:schemeClr val="tx1">
                    <a:lumMod val="75000"/>
                    <a:lumOff val="25000"/>
                  </a:schemeClr>
                </a:solidFill>
              </a:rPr>
              <a:t>Transformation: </a:t>
            </a:r>
            <a:r>
              <a:rPr lang="en-US" sz="2000" b="1" dirty="0">
                <a:solidFill>
                  <a:schemeClr val="tx1">
                    <a:lumMod val="75000"/>
                    <a:lumOff val="25000"/>
                  </a:schemeClr>
                </a:solidFill>
              </a:rPr>
              <a:t>S ⨝_{B=A} R</a:t>
            </a:r>
          </a:p>
          <a:p>
            <a:pPr lvl="1">
              <a:buFont typeface="Courier New" panose="02070309020205020404" pitchFamily="49" charset="0"/>
              <a:buChar char="o"/>
            </a:pPr>
            <a:r>
              <a:rPr lang="en-US" sz="2000" dirty="0">
                <a:solidFill>
                  <a:schemeClr val="tx1">
                    <a:lumMod val="75000"/>
                    <a:lumOff val="25000"/>
                  </a:schemeClr>
                </a:solidFill>
              </a:rPr>
              <a:t>The order of joining relations R and S on attributes A and B is interchangeable, resulting in an equivalent expression.</a:t>
            </a:r>
          </a:p>
          <a:p>
            <a:endParaRPr lang="en-US" sz="2200" dirty="0">
              <a:solidFill>
                <a:schemeClr val="tx1">
                  <a:lumMod val="75000"/>
                  <a:lumOff val="25000"/>
                </a:schemeClr>
              </a:solidFill>
            </a:endParaRPr>
          </a:p>
        </p:txBody>
      </p:sp>
    </p:spTree>
    <p:extLst>
      <p:ext uri="{BB962C8B-B14F-4D97-AF65-F5344CB8AC3E}">
        <p14:creationId xmlns:p14="http://schemas.microsoft.com/office/powerpoint/2010/main" val="2051189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Equivalence of Expressions</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609471"/>
          </a:xfrm>
        </p:spPr>
        <p:txBody>
          <a:bodyPr>
            <a:normAutofit/>
          </a:bodyPr>
          <a:lstStyle/>
          <a:p>
            <a:pPr marL="0" indent="0">
              <a:buNone/>
            </a:pPr>
            <a:r>
              <a:rPr lang="en-US" sz="2200" b="1" dirty="0">
                <a:solidFill>
                  <a:schemeClr val="tx1">
                    <a:lumMod val="75000"/>
                    <a:lumOff val="25000"/>
                  </a:schemeClr>
                </a:solidFill>
              </a:rPr>
              <a:t>Predicate Pushdown:</a:t>
            </a:r>
          </a:p>
          <a:p>
            <a:r>
              <a:rPr lang="en-US" sz="2200" dirty="0">
                <a:solidFill>
                  <a:schemeClr val="tx1">
                    <a:lumMod val="75000"/>
                    <a:lumOff val="25000"/>
                  </a:schemeClr>
                </a:solidFill>
              </a:rPr>
              <a:t>Equivalence can also be achieved through predicate pushdown. For instance, consider the following query:</a:t>
            </a:r>
          </a:p>
          <a:p>
            <a:pPr marL="457200" lvl="1" indent="0">
              <a:buNone/>
            </a:pPr>
            <a:endParaRPr lang="en-US" sz="2000" i="1" dirty="0">
              <a:solidFill>
                <a:schemeClr val="tx1">
                  <a:lumMod val="75000"/>
                  <a:lumOff val="25000"/>
                </a:schemeClr>
              </a:solidFill>
            </a:endParaRPr>
          </a:p>
          <a:p>
            <a:pPr marL="457200" lvl="1" indent="0">
              <a:buNone/>
            </a:pPr>
            <a:r>
              <a:rPr lang="en-US" sz="2000" i="1" dirty="0">
                <a:solidFill>
                  <a:schemeClr val="tx1">
                    <a:lumMod val="75000"/>
                    <a:lumOff val="25000"/>
                  </a:schemeClr>
                </a:solidFill>
              </a:rPr>
              <a:t>SELECT FirstName, </a:t>
            </a:r>
            <a:r>
              <a:rPr lang="en-US" sz="2000" i="1" dirty="0" err="1">
                <a:solidFill>
                  <a:schemeClr val="tx1">
                    <a:lumMod val="75000"/>
                    <a:lumOff val="25000"/>
                  </a:schemeClr>
                </a:solidFill>
              </a:rPr>
              <a:t>LastName</a:t>
            </a:r>
            <a:r>
              <a:rPr lang="en-US" sz="2000" i="1" dirty="0">
                <a:solidFill>
                  <a:schemeClr val="tx1">
                    <a:lumMod val="75000"/>
                    <a:lumOff val="25000"/>
                  </a:schemeClr>
                </a:solidFill>
              </a:rPr>
              <a:t> FROM Employees WHERE Department = 'IT' AND Salary &gt; 50000;</a:t>
            </a:r>
          </a:p>
          <a:p>
            <a:pPr marL="457200" lvl="1" indent="0">
              <a:buNone/>
            </a:pPr>
            <a:endParaRPr lang="en-US" sz="2200" dirty="0">
              <a:solidFill>
                <a:schemeClr val="tx1">
                  <a:lumMod val="75000"/>
                  <a:lumOff val="25000"/>
                </a:schemeClr>
              </a:solidFill>
            </a:endParaRPr>
          </a:p>
          <a:p>
            <a:pPr marL="457200" lvl="1" indent="0">
              <a:buNone/>
            </a:pPr>
            <a:r>
              <a:rPr lang="en-US" sz="2000" i="1" dirty="0">
                <a:solidFill>
                  <a:schemeClr val="tx1">
                    <a:lumMod val="75000"/>
                    <a:lumOff val="25000"/>
                  </a:schemeClr>
                </a:solidFill>
              </a:rPr>
              <a:t>SELECT FirstName, </a:t>
            </a:r>
            <a:r>
              <a:rPr lang="en-US" sz="2000" i="1" dirty="0" err="1">
                <a:solidFill>
                  <a:schemeClr val="tx1">
                    <a:lumMod val="75000"/>
                    <a:lumOff val="25000"/>
                  </a:schemeClr>
                </a:solidFill>
              </a:rPr>
              <a:t>LastName</a:t>
            </a:r>
            <a:r>
              <a:rPr lang="en-US" sz="2000" i="1" dirty="0">
                <a:solidFill>
                  <a:schemeClr val="tx1">
                    <a:lumMod val="75000"/>
                    <a:lumOff val="25000"/>
                  </a:schemeClr>
                </a:solidFill>
              </a:rPr>
              <a:t> FROM (SELECT * FROM Employees WHERE Salary &gt; 50000) AS </a:t>
            </a:r>
            <a:r>
              <a:rPr lang="en-US" sz="2000" i="1" dirty="0" err="1">
                <a:solidFill>
                  <a:schemeClr val="tx1">
                    <a:lumMod val="75000"/>
                    <a:lumOff val="25000"/>
                  </a:schemeClr>
                </a:solidFill>
              </a:rPr>
              <a:t>EmpSubset</a:t>
            </a:r>
            <a:r>
              <a:rPr lang="en-US" sz="2000" i="1" dirty="0">
                <a:solidFill>
                  <a:schemeClr val="tx1">
                    <a:lumMod val="75000"/>
                    <a:lumOff val="25000"/>
                  </a:schemeClr>
                </a:solidFill>
              </a:rPr>
              <a:t> WHERE Department = 'IT';</a:t>
            </a:r>
          </a:p>
          <a:p>
            <a:endParaRPr lang="en-US" sz="2200" dirty="0">
              <a:solidFill>
                <a:schemeClr val="tx1">
                  <a:lumMod val="75000"/>
                  <a:lumOff val="25000"/>
                </a:schemeClr>
              </a:solidFill>
            </a:endParaRPr>
          </a:p>
          <a:p>
            <a:pPr marL="0" indent="0">
              <a:buNone/>
            </a:pPr>
            <a:r>
              <a:rPr lang="en-US" sz="2000" dirty="0">
                <a:solidFill>
                  <a:schemeClr val="tx1">
                    <a:lumMod val="75000"/>
                    <a:lumOff val="25000"/>
                  </a:schemeClr>
                </a:solidFill>
              </a:rPr>
              <a:t>Here, the DBMS can push down the predicate Salary &gt; 50000 to create an equivalent expression. The internal query retrieves the subset of employees with a salary greater than 50000, and the outer query then filters those by department.</a:t>
            </a:r>
          </a:p>
        </p:txBody>
      </p:sp>
    </p:spTree>
    <p:extLst>
      <p:ext uri="{BB962C8B-B14F-4D97-AF65-F5344CB8AC3E}">
        <p14:creationId xmlns:p14="http://schemas.microsoft.com/office/powerpoint/2010/main" val="1017181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Query Cost Estimation</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rmAutofit/>
          </a:bodyPr>
          <a:lstStyle/>
          <a:p>
            <a:r>
              <a:rPr lang="en-US" sz="2200" dirty="0">
                <a:solidFill>
                  <a:schemeClr val="tx1">
                    <a:lumMod val="75000"/>
                    <a:lumOff val="25000"/>
                  </a:schemeClr>
                </a:solidFill>
              </a:rPr>
              <a:t>Query cost estimation is a critical aspect of query optimization within a database management system (DBMS). </a:t>
            </a:r>
          </a:p>
          <a:p>
            <a:r>
              <a:rPr lang="en-US" sz="2200" dirty="0">
                <a:solidFill>
                  <a:schemeClr val="tx1">
                    <a:lumMod val="75000"/>
                    <a:lumOff val="25000"/>
                  </a:schemeClr>
                </a:solidFill>
              </a:rPr>
              <a:t>The goal is to predict the resource requirements and execution time for different query execution plans, allowing the optimizer to choose the most efficient plan. </a:t>
            </a:r>
          </a:p>
          <a:p>
            <a:r>
              <a:rPr lang="en-US" sz="2200" dirty="0">
                <a:solidFill>
                  <a:schemeClr val="tx1">
                    <a:lumMod val="75000"/>
                    <a:lumOff val="25000"/>
                  </a:schemeClr>
                </a:solidFill>
              </a:rPr>
              <a:t>Various factors contribute to the cost of executing a query, and these are considered during the estimation process.</a:t>
            </a:r>
          </a:p>
        </p:txBody>
      </p:sp>
    </p:spTree>
    <p:extLst>
      <p:ext uri="{BB962C8B-B14F-4D97-AF65-F5344CB8AC3E}">
        <p14:creationId xmlns:p14="http://schemas.microsoft.com/office/powerpoint/2010/main" val="2792307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Component of Query Cost Estimation</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Autofit/>
          </a:bodyPr>
          <a:lstStyle/>
          <a:p>
            <a:pPr marL="457200" indent="-457200" algn="l">
              <a:buFont typeface="+mj-lt"/>
              <a:buAutoNum type="arabicPeriod"/>
            </a:pPr>
            <a:r>
              <a:rPr lang="en-US" sz="2200" b="1" i="0" dirty="0">
                <a:solidFill>
                  <a:srgbClr val="374151"/>
                </a:solidFill>
                <a:effectLst/>
              </a:rPr>
              <a:t>Access Methods:</a:t>
            </a:r>
            <a:endParaRPr lang="en-US" sz="2200" b="0" i="0" dirty="0">
              <a:solidFill>
                <a:srgbClr val="374151"/>
              </a:solidFill>
              <a:effectLst/>
            </a:endParaRPr>
          </a:p>
          <a:p>
            <a:pPr lvl="1">
              <a:buFont typeface="Courier New" panose="02070309020205020404" pitchFamily="49" charset="0"/>
              <a:buChar char="o"/>
            </a:pPr>
            <a:r>
              <a:rPr lang="en-US" sz="2200" b="0" i="0" dirty="0">
                <a:solidFill>
                  <a:srgbClr val="374151"/>
                </a:solidFill>
                <a:effectLst/>
              </a:rPr>
              <a:t>Cost associated with accessing data, considering factors such as table scans, index scans, and the presence of appropriate indexes.</a:t>
            </a:r>
          </a:p>
          <a:p>
            <a:pPr lvl="1">
              <a:buFont typeface="Courier New" panose="02070309020205020404" pitchFamily="49" charset="0"/>
              <a:buChar char="o"/>
            </a:pPr>
            <a:r>
              <a:rPr lang="en-US" sz="2200" b="0" i="0" dirty="0">
                <a:solidFill>
                  <a:srgbClr val="374151"/>
                </a:solidFill>
                <a:effectLst/>
              </a:rPr>
              <a:t>For example, if an index is available on a column used in a WHERE clause, using that index for selective data retrieval might have a lower cost than a full table scan.</a:t>
            </a:r>
          </a:p>
          <a:p>
            <a:pPr marL="457200" indent="-457200" algn="l">
              <a:buFont typeface="+mj-lt"/>
              <a:buAutoNum type="arabicPeriod"/>
            </a:pPr>
            <a:r>
              <a:rPr lang="en-US" sz="2200" b="1" i="0" dirty="0">
                <a:solidFill>
                  <a:srgbClr val="374151"/>
                </a:solidFill>
                <a:effectLst/>
              </a:rPr>
              <a:t>Join Operations:</a:t>
            </a:r>
            <a:endParaRPr lang="en-US" sz="2200" b="0" i="0" dirty="0">
              <a:solidFill>
                <a:srgbClr val="374151"/>
              </a:solidFill>
              <a:effectLst/>
            </a:endParaRPr>
          </a:p>
          <a:p>
            <a:pPr lvl="1">
              <a:buFont typeface="Courier New" panose="02070309020205020404" pitchFamily="49" charset="0"/>
              <a:buChar char="o"/>
            </a:pPr>
            <a:r>
              <a:rPr lang="en-US" sz="2200" b="0" i="0" dirty="0">
                <a:solidFill>
                  <a:srgbClr val="374151"/>
                </a:solidFill>
                <a:effectLst/>
              </a:rPr>
              <a:t>Cost of joining tables, which depends on the join method chosen (e.g., nested loops, hash join, merge join) and the size of the intermediate result set.</a:t>
            </a:r>
          </a:p>
          <a:p>
            <a:pPr lvl="1">
              <a:buFont typeface="Courier New" panose="02070309020205020404" pitchFamily="49" charset="0"/>
              <a:buChar char="o"/>
            </a:pPr>
            <a:r>
              <a:rPr lang="en-US" sz="2200" b="0" i="0" dirty="0">
                <a:solidFill>
                  <a:srgbClr val="374151"/>
                </a:solidFill>
                <a:effectLst/>
              </a:rPr>
              <a:t>For instance, the cost of joining large tables may be higher, and the optimizer needs to estimate these costs accurately.</a:t>
            </a:r>
          </a:p>
        </p:txBody>
      </p:sp>
    </p:spTree>
    <p:extLst>
      <p:ext uri="{BB962C8B-B14F-4D97-AF65-F5344CB8AC3E}">
        <p14:creationId xmlns:p14="http://schemas.microsoft.com/office/powerpoint/2010/main" val="2559871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Component of Query Cost Estimation</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Autofit/>
          </a:bodyPr>
          <a:lstStyle/>
          <a:p>
            <a:pPr marL="457200" indent="-457200" algn="l">
              <a:buFont typeface="+mj-lt"/>
              <a:buAutoNum type="arabicPeriod" startAt="3"/>
            </a:pPr>
            <a:r>
              <a:rPr lang="en-US" sz="2200" b="1" i="0" dirty="0">
                <a:solidFill>
                  <a:srgbClr val="374151"/>
                </a:solidFill>
                <a:effectLst/>
              </a:rPr>
              <a:t>Filtering Conditions:</a:t>
            </a:r>
            <a:endParaRPr lang="en-US" sz="2200" b="0" i="0" dirty="0">
              <a:solidFill>
                <a:srgbClr val="374151"/>
              </a:solidFill>
              <a:effectLst/>
            </a:endParaRPr>
          </a:p>
          <a:p>
            <a:pPr lvl="1">
              <a:buFont typeface="Courier New" panose="02070309020205020404" pitchFamily="49" charset="0"/>
              <a:buChar char="o"/>
            </a:pPr>
            <a:r>
              <a:rPr lang="en-US" sz="2200" b="0" i="0" dirty="0">
                <a:solidFill>
                  <a:srgbClr val="374151"/>
                </a:solidFill>
                <a:effectLst/>
              </a:rPr>
              <a:t>Cost of applying filtering conditions, considering the selectivity of predicates (percentage of rows that satisfy a condition) and the availability of indexes.</a:t>
            </a:r>
          </a:p>
          <a:p>
            <a:pPr lvl="1">
              <a:buFont typeface="Courier New" panose="02070309020205020404" pitchFamily="49" charset="0"/>
              <a:buChar char="o"/>
            </a:pPr>
            <a:r>
              <a:rPr lang="en-US" sz="2200" b="0" i="0" dirty="0">
                <a:solidFill>
                  <a:srgbClr val="374151"/>
                </a:solidFill>
                <a:effectLst/>
              </a:rPr>
              <a:t>Evaluating the cost of filtering conditions helps in determining the most efficient way to narrow down the result set.</a:t>
            </a:r>
          </a:p>
          <a:p>
            <a:pPr marL="457200" indent="-457200" algn="l">
              <a:buFont typeface="+mj-lt"/>
              <a:buAutoNum type="arabicPeriod" startAt="4"/>
            </a:pPr>
            <a:r>
              <a:rPr lang="en-US" sz="2200" b="1" i="0" dirty="0">
                <a:solidFill>
                  <a:srgbClr val="374151"/>
                </a:solidFill>
                <a:effectLst/>
              </a:rPr>
              <a:t> Sorting and Grouping:</a:t>
            </a:r>
            <a:endParaRPr lang="en-US" sz="2200" b="0" i="0" dirty="0">
              <a:solidFill>
                <a:srgbClr val="374151"/>
              </a:solidFill>
              <a:effectLst/>
            </a:endParaRPr>
          </a:p>
          <a:p>
            <a:pPr lvl="1">
              <a:buFont typeface="Courier New" panose="02070309020205020404" pitchFamily="49" charset="0"/>
              <a:buChar char="o"/>
            </a:pPr>
            <a:r>
              <a:rPr lang="en-US" sz="2200" b="0" i="0" dirty="0">
                <a:solidFill>
                  <a:srgbClr val="374151"/>
                </a:solidFill>
                <a:effectLst/>
              </a:rPr>
              <a:t>Cost associated with sorting or grouping operations, which depends on the size of the dataset and the available indexes.</a:t>
            </a:r>
          </a:p>
          <a:p>
            <a:pPr lvl="1">
              <a:buFont typeface="Courier New" panose="02070309020205020404" pitchFamily="49" charset="0"/>
              <a:buChar char="o"/>
            </a:pPr>
            <a:r>
              <a:rPr lang="en-US" sz="2200" b="0" i="0" dirty="0">
                <a:solidFill>
                  <a:srgbClr val="374151"/>
                </a:solidFill>
                <a:effectLst/>
              </a:rPr>
              <a:t>Sorting and grouping can be resource-intensive, and the cost estimation considers the computational expense associated with these operations.</a:t>
            </a:r>
          </a:p>
        </p:txBody>
      </p:sp>
    </p:spTree>
    <p:extLst>
      <p:ext uri="{BB962C8B-B14F-4D97-AF65-F5344CB8AC3E}">
        <p14:creationId xmlns:p14="http://schemas.microsoft.com/office/powerpoint/2010/main" val="3615287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Component of Query Cost Estimation</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Autofit/>
          </a:bodyPr>
          <a:lstStyle/>
          <a:p>
            <a:pPr marL="457200" indent="-457200" algn="l">
              <a:buFont typeface="+mj-lt"/>
              <a:buAutoNum type="arabicPeriod" startAt="5"/>
            </a:pPr>
            <a:r>
              <a:rPr lang="en-US" sz="2200" b="1" i="0" dirty="0">
                <a:solidFill>
                  <a:srgbClr val="374151"/>
                </a:solidFill>
                <a:effectLst/>
              </a:rPr>
              <a:t>Data Distribution Statistics:</a:t>
            </a:r>
            <a:endParaRPr lang="en-US" sz="2200" b="0" i="0" dirty="0">
              <a:solidFill>
                <a:srgbClr val="374151"/>
              </a:solidFill>
              <a:effectLst/>
            </a:endParaRPr>
          </a:p>
          <a:p>
            <a:pPr lvl="1">
              <a:buFont typeface="Courier New" panose="02070309020205020404" pitchFamily="49" charset="0"/>
              <a:buChar char="o"/>
            </a:pPr>
            <a:r>
              <a:rPr lang="en-US" sz="2200" b="0" i="0" dirty="0">
                <a:solidFill>
                  <a:srgbClr val="374151"/>
                </a:solidFill>
                <a:effectLst/>
              </a:rPr>
              <a:t>Utilization of statistical information about data distribution, index selectivity, and cardinality (number of distinct values) of columns.</a:t>
            </a:r>
          </a:p>
          <a:p>
            <a:pPr lvl="1">
              <a:buFont typeface="Courier New" panose="02070309020205020404" pitchFamily="49" charset="0"/>
              <a:buChar char="o"/>
            </a:pPr>
            <a:r>
              <a:rPr lang="en-US" sz="2200" b="0" i="0" dirty="0">
                <a:solidFill>
                  <a:srgbClr val="374151"/>
                </a:solidFill>
                <a:effectLst/>
              </a:rPr>
              <a:t>Understanding the distribution of data helps in making informed decisions about the most efficient access paths and join strategies.</a:t>
            </a:r>
          </a:p>
        </p:txBody>
      </p:sp>
    </p:spTree>
    <p:extLst>
      <p:ext uri="{BB962C8B-B14F-4D97-AF65-F5344CB8AC3E}">
        <p14:creationId xmlns:p14="http://schemas.microsoft.com/office/powerpoint/2010/main" val="197642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Example Query Cost Estimation</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Autofit/>
          </a:bodyPr>
          <a:lstStyle/>
          <a:p>
            <a:pPr marL="0" indent="0">
              <a:buNone/>
            </a:pPr>
            <a:r>
              <a:rPr lang="en-US" sz="2200" b="0" i="0" dirty="0">
                <a:solidFill>
                  <a:srgbClr val="374151"/>
                </a:solidFill>
                <a:effectLst/>
              </a:rPr>
              <a:t>Consider the following SQL query:</a:t>
            </a:r>
          </a:p>
          <a:p>
            <a:pPr marL="0" indent="0">
              <a:buNone/>
            </a:pPr>
            <a:endParaRPr lang="en-US" sz="2200" b="0" i="0" dirty="0">
              <a:solidFill>
                <a:srgbClr val="374151"/>
              </a:solidFill>
              <a:effectLst/>
            </a:endParaRPr>
          </a:p>
          <a:p>
            <a:pPr marL="457200" lvl="1" indent="0">
              <a:buNone/>
            </a:pPr>
            <a:r>
              <a:rPr lang="en-US" sz="2000" b="0" i="1" dirty="0">
                <a:solidFill>
                  <a:srgbClr val="374151"/>
                </a:solidFill>
                <a:effectLst/>
              </a:rPr>
              <a:t>SELECT </a:t>
            </a:r>
            <a:r>
              <a:rPr lang="en-US" sz="2000" b="0" i="1" dirty="0" err="1">
                <a:solidFill>
                  <a:srgbClr val="374151"/>
                </a:solidFill>
                <a:effectLst/>
              </a:rPr>
              <a:t>Orders.OrderID</a:t>
            </a:r>
            <a:r>
              <a:rPr lang="en-US" sz="2000" b="0" i="1" dirty="0">
                <a:solidFill>
                  <a:srgbClr val="374151"/>
                </a:solidFill>
                <a:effectLst/>
              </a:rPr>
              <a:t>, </a:t>
            </a:r>
            <a:r>
              <a:rPr lang="en-US" sz="2000" b="0" i="1" dirty="0" err="1">
                <a:solidFill>
                  <a:srgbClr val="374151"/>
                </a:solidFill>
                <a:effectLst/>
              </a:rPr>
              <a:t>Customers.CustomerName</a:t>
            </a:r>
            <a:r>
              <a:rPr lang="en-US" sz="2000" i="1" dirty="0">
                <a:solidFill>
                  <a:srgbClr val="374151"/>
                </a:solidFill>
              </a:rPr>
              <a:t> </a:t>
            </a:r>
            <a:r>
              <a:rPr lang="en-US" sz="2000" b="0" i="1" dirty="0">
                <a:solidFill>
                  <a:srgbClr val="374151"/>
                </a:solidFill>
                <a:effectLst/>
              </a:rPr>
              <a:t>FROM Orders JOIN Customers ON </a:t>
            </a:r>
            <a:r>
              <a:rPr lang="en-US" sz="2000" b="0" i="1" dirty="0" err="1">
                <a:solidFill>
                  <a:srgbClr val="374151"/>
                </a:solidFill>
                <a:effectLst/>
              </a:rPr>
              <a:t>Orders.CustomerID</a:t>
            </a:r>
            <a:r>
              <a:rPr lang="en-US" sz="2000" b="0" i="1" dirty="0">
                <a:solidFill>
                  <a:srgbClr val="374151"/>
                </a:solidFill>
                <a:effectLst/>
              </a:rPr>
              <a:t> = </a:t>
            </a:r>
            <a:r>
              <a:rPr lang="en-US" sz="2000" b="0" i="1" dirty="0" err="1">
                <a:solidFill>
                  <a:srgbClr val="374151"/>
                </a:solidFill>
                <a:effectLst/>
              </a:rPr>
              <a:t>Customers.CustomerID</a:t>
            </a:r>
            <a:r>
              <a:rPr lang="en-US" sz="2000" i="1" dirty="0">
                <a:solidFill>
                  <a:srgbClr val="374151"/>
                </a:solidFill>
              </a:rPr>
              <a:t> </a:t>
            </a:r>
            <a:r>
              <a:rPr lang="en-US" sz="2000" b="0" i="1" dirty="0">
                <a:solidFill>
                  <a:srgbClr val="374151"/>
                </a:solidFill>
                <a:effectLst/>
              </a:rPr>
              <a:t>WHERE </a:t>
            </a:r>
            <a:r>
              <a:rPr lang="en-US" sz="2000" b="0" i="1" dirty="0" err="1">
                <a:solidFill>
                  <a:srgbClr val="374151"/>
                </a:solidFill>
                <a:effectLst/>
              </a:rPr>
              <a:t>Orders.OrderDate</a:t>
            </a:r>
            <a:r>
              <a:rPr lang="en-US" sz="2000" b="0" i="1" dirty="0">
                <a:solidFill>
                  <a:srgbClr val="374151"/>
                </a:solidFill>
                <a:effectLst/>
              </a:rPr>
              <a:t> &gt;= '2022-01-01’;</a:t>
            </a:r>
          </a:p>
          <a:p>
            <a:pPr marL="0" indent="0">
              <a:buNone/>
            </a:pPr>
            <a:endParaRPr lang="en-US" sz="2200" b="0" i="0" dirty="0">
              <a:solidFill>
                <a:srgbClr val="374151"/>
              </a:solidFill>
              <a:effectLst/>
            </a:endParaRPr>
          </a:p>
          <a:p>
            <a:pPr lvl="1">
              <a:buFont typeface="Courier New" panose="02070309020205020404" pitchFamily="49" charset="0"/>
              <a:buChar char="o"/>
            </a:pPr>
            <a:r>
              <a:rPr lang="en-US" sz="2000" b="0" i="0" dirty="0">
                <a:solidFill>
                  <a:srgbClr val="374151"/>
                </a:solidFill>
                <a:effectLst/>
              </a:rPr>
              <a:t>The cost estimation involves considering the cost of accessing the "Orders" and "Customers" tables, the cost of the join operation, and the cost of applying the filtering condition on the "</a:t>
            </a:r>
            <a:r>
              <a:rPr lang="en-US" sz="2000" b="0" i="0" dirty="0" err="1">
                <a:solidFill>
                  <a:srgbClr val="374151"/>
                </a:solidFill>
                <a:effectLst/>
              </a:rPr>
              <a:t>OrderDate</a:t>
            </a:r>
            <a:r>
              <a:rPr lang="en-US" sz="2000" b="0" i="0" dirty="0">
                <a:solidFill>
                  <a:srgbClr val="374151"/>
                </a:solidFill>
                <a:effectLst/>
              </a:rPr>
              <a:t>."</a:t>
            </a:r>
          </a:p>
          <a:p>
            <a:pPr lvl="1">
              <a:buFont typeface="Courier New" panose="02070309020205020404" pitchFamily="49" charset="0"/>
              <a:buChar char="o"/>
            </a:pPr>
            <a:r>
              <a:rPr lang="en-US" sz="2000" b="0" i="0" dirty="0">
                <a:solidFill>
                  <a:srgbClr val="374151"/>
                </a:solidFill>
                <a:effectLst/>
              </a:rPr>
              <a:t>If there is an index on the "</a:t>
            </a:r>
            <a:r>
              <a:rPr lang="en-US" sz="2000" b="0" i="0" dirty="0" err="1">
                <a:solidFill>
                  <a:srgbClr val="374151"/>
                </a:solidFill>
                <a:effectLst/>
              </a:rPr>
              <a:t>OrderDate</a:t>
            </a:r>
            <a:r>
              <a:rPr lang="en-US" sz="2000" b="0" i="0" dirty="0">
                <a:solidFill>
                  <a:srgbClr val="374151"/>
                </a:solidFill>
                <a:effectLst/>
              </a:rPr>
              <a:t>" column in the "Orders" table, the cost of applying the filtering condition might be lower compared to a full table scan.</a:t>
            </a:r>
          </a:p>
          <a:p>
            <a:pPr lvl="1">
              <a:buFont typeface="Courier New" panose="02070309020205020404" pitchFamily="49" charset="0"/>
              <a:buChar char="o"/>
            </a:pPr>
            <a:r>
              <a:rPr lang="en-US" sz="2000" b="0" i="0" dirty="0">
                <a:solidFill>
                  <a:srgbClr val="374151"/>
                </a:solidFill>
                <a:effectLst/>
              </a:rPr>
              <a:t>The cost estimation also considers the join method (e.g., hash join) and the size of the intermediate result set when joining "Orders" and "Customers."</a:t>
            </a:r>
          </a:p>
          <a:p>
            <a:pPr marL="0" indent="0">
              <a:buNone/>
            </a:pPr>
            <a:endParaRPr lang="en-US" sz="2200" b="0" i="0" dirty="0">
              <a:solidFill>
                <a:srgbClr val="374151"/>
              </a:solidFill>
              <a:effectLst/>
            </a:endParaRPr>
          </a:p>
        </p:txBody>
      </p:sp>
    </p:spTree>
    <p:extLst>
      <p:ext uri="{BB962C8B-B14F-4D97-AF65-F5344CB8AC3E}">
        <p14:creationId xmlns:p14="http://schemas.microsoft.com/office/powerpoint/2010/main" val="2595486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Query Optimization</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Autofit/>
          </a:bodyPr>
          <a:lstStyle/>
          <a:p>
            <a:r>
              <a:rPr lang="en-US" sz="2200" dirty="0">
                <a:solidFill>
                  <a:srgbClr val="374151"/>
                </a:solidFill>
              </a:rPr>
              <a:t>Query optimization is a crucial phase in the database management system (DBMS) that involves selecting the most efficient execution plan for processing a given query. </a:t>
            </a:r>
          </a:p>
          <a:p>
            <a:r>
              <a:rPr lang="en-US" sz="2200" dirty="0">
                <a:solidFill>
                  <a:srgbClr val="374151"/>
                </a:solidFill>
              </a:rPr>
              <a:t>The goal is to minimize the overall cost of executing the query, where cost is typically measured in terms of time, CPU usage, and other system resources. </a:t>
            </a:r>
          </a:p>
          <a:p>
            <a:r>
              <a:rPr lang="en-US" sz="2200" dirty="0">
                <a:solidFill>
                  <a:srgbClr val="374151"/>
                </a:solidFill>
              </a:rPr>
              <a:t>The optimization process involves several steps, and modern DBMSs employ sophisticated algorithms and heuristics to make intelligent decisions.</a:t>
            </a:r>
            <a:endParaRPr lang="en-US" sz="2200" b="0" i="0" dirty="0">
              <a:solidFill>
                <a:srgbClr val="374151"/>
              </a:solidFill>
              <a:effectLst/>
            </a:endParaRPr>
          </a:p>
        </p:txBody>
      </p:sp>
    </p:spTree>
    <p:extLst>
      <p:ext uri="{BB962C8B-B14F-4D97-AF65-F5344CB8AC3E}">
        <p14:creationId xmlns:p14="http://schemas.microsoft.com/office/powerpoint/2010/main" val="26978043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Steps in Query Optimization</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Autofit/>
          </a:bodyPr>
          <a:lstStyle/>
          <a:p>
            <a:pPr marL="457200" indent="-457200" algn="l">
              <a:buFont typeface="+mj-lt"/>
              <a:buAutoNum type="arabicPeriod"/>
            </a:pPr>
            <a:r>
              <a:rPr lang="en-US" sz="2200" b="1" i="0" dirty="0">
                <a:solidFill>
                  <a:srgbClr val="374151"/>
                </a:solidFill>
                <a:effectLst/>
              </a:rPr>
              <a:t>Parsing and Semantic Analysis:</a:t>
            </a:r>
            <a:endParaRPr lang="en-US" sz="2200" b="0" i="0" dirty="0">
              <a:solidFill>
                <a:srgbClr val="374151"/>
              </a:solidFill>
              <a:effectLst/>
            </a:endParaRPr>
          </a:p>
          <a:p>
            <a:pPr lvl="1">
              <a:buFont typeface="Courier New" panose="02070309020205020404" pitchFamily="49" charset="0"/>
              <a:buChar char="o"/>
            </a:pPr>
            <a:r>
              <a:rPr lang="en-US" sz="2200" b="0" i="0" dirty="0">
                <a:solidFill>
                  <a:schemeClr val="tx1">
                    <a:lumMod val="75000"/>
                    <a:lumOff val="25000"/>
                  </a:schemeClr>
                </a:solidFill>
                <a:effectLst/>
              </a:rPr>
              <a:t>The query is parsed to ensure it adheres to the syntax rules of the query language (e.g., SQL).</a:t>
            </a:r>
          </a:p>
          <a:p>
            <a:pPr lvl="1">
              <a:buFont typeface="Courier New" panose="02070309020205020404" pitchFamily="49" charset="0"/>
              <a:buChar char="o"/>
            </a:pPr>
            <a:r>
              <a:rPr lang="en-US" sz="2200" b="0" i="0" dirty="0">
                <a:solidFill>
                  <a:schemeClr val="tx1">
                    <a:lumMod val="75000"/>
                    <a:lumOff val="25000"/>
                  </a:schemeClr>
                </a:solidFill>
                <a:effectLst/>
              </a:rPr>
              <a:t>Semantic analysis verifies the logical correctness of the query by checking the existence of tables, columns, and relationships.</a:t>
            </a:r>
          </a:p>
          <a:p>
            <a:pPr marL="457200" indent="-457200" algn="l">
              <a:buFont typeface="+mj-lt"/>
              <a:buAutoNum type="arabicPeriod"/>
            </a:pPr>
            <a:r>
              <a:rPr lang="en-US" sz="2200" b="1" i="0" dirty="0">
                <a:solidFill>
                  <a:srgbClr val="374151"/>
                </a:solidFill>
                <a:effectLst/>
              </a:rPr>
              <a:t>Equivalence Class Generation:</a:t>
            </a:r>
            <a:endParaRPr lang="en-US" sz="2200" b="0" i="0" dirty="0">
              <a:solidFill>
                <a:srgbClr val="374151"/>
              </a:solidFill>
              <a:effectLst/>
            </a:endParaRPr>
          </a:p>
          <a:p>
            <a:pPr lvl="1">
              <a:buFont typeface="Courier New" panose="02070309020205020404" pitchFamily="49" charset="0"/>
              <a:buChar char="o"/>
            </a:pPr>
            <a:r>
              <a:rPr lang="en-US" sz="2200" b="0" i="0" dirty="0">
                <a:solidFill>
                  <a:srgbClr val="374151"/>
                </a:solidFill>
                <a:effectLst/>
              </a:rPr>
              <a:t>Equivalent query expressions that produce the same result are identified. This involves recognizing algebraic transformations and logical equivalences.</a:t>
            </a:r>
          </a:p>
          <a:p>
            <a:pPr lvl="1">
              <a:buFont typeface="Courier New" panose="02070309020205020404" pitchFamily="49" charset="0"/>
              <a:buChar char="o"/>
            </a:pPr>
            <a:r>
              <a:rPr lang="en-US" sz="2200" b="0" i="0" dirty="0">
                <a:solidFill>
                  <a:srgbClr val="374151"/>
                </a:solidFill>
                <a:effectLst/>
              </a:rPr>
              <a:t>For example, transforming a WHERE clause condition or rearranging joins without changing the final result.</a:t>
            </a:r>
          </a:p>
        </p:txBody>
      </p:sp>
    </p:spTree>
    <p:extLst>
      <p:ext uri="{BB962C8B-B14F-4D97-AF65-F5344CB8AC3E}">
        <p14:creationId xmlns:p14="http://schemas.microsoft.com/office/powerpoint/2010/main" val="3922141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Steps in Query Optimization</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Autofit/>
          </a:bodyPr>
          <a:lstStyle/>
          <a:p>
            <a:pPr marL="457200" indent="-457200">
              <a:buFont typeface="+mj-lt"/>
              <a:buAutoNum type="arabicPeriod" startAt="3"/>
            </a:pPr>
            <a:r>
              <a:rPr lang="en-US" sz="2200" b="1" i="0" dirty="0">
                <a:solidFill>
                  <a:srgbClr val="374151"/>
                </a:solidFill>
                <a:effectLst/>
              </a:rPr>
              <a:t>Search Space Exploration:</a:t>
            </a:r>
            <a:endParaRPr lang="en-US" sz="2200" b="0" i="0" dirty="0">
              <a:solidFill>
                <a:srgbClr val="374151"/>
              </a:solidFill>
              <a:effectLst/>
            </a:endParaRPr>
          </a:p>
          <a:p>
            <a:pPr lvl="1">
              <a:buFont typeface="Courier New" panose="02070309020205020404" pitchFamily="49" charset="0"/>
              <a:buChar char="o"/>
            </a:pPr>
            <a:r>
              <a:rPr lang="en-US" sz="2200" b="0" i="0" dirty="0">
                <a:solidFill>
                  <a:srgbClr val="374151"/>
                </a:solidFill>
                <a:effectLst/>
              </a:rPr>
              <a:t>The optimizer explores the search space of possible execution plans by considering different access paths, join strategies, and other optimization techniques.</a:t>
            </a:r>
          </a:p>
          <a:p>
            <a:pPr lvl="1">
              <a:buFont typeface="Courier New" panose="02070309020205020404" pitchFamily="49" charset="0"/>
              <a:buChar char="o"/>
            </a:pPr>
            <a:r>
              <a:rPr lang="en-US" sz="2200" b="0" i="0" dirty="0">
                <a:solidFill>
                  <a:srgbClr val="374151"/>
                </a:solidFill>
                <a:effectLst/>
              </a:rPr>
              <a:t>Techniques such as dynamic programming, rule-based systems, or cost-based optimization are employed to traverse the search space efficiently.</a:t>
            </a:r>
          </a:p>
          <a:p>
            <a:pPr marL="457200" indent="-457200" algn="l">
              <a:buFont typeface="+mj-lt"/>
              <a:buAutoNum type="arabicPeriod" startAt="4"/>
            </a:pPr>
            <a:r>
              <a:rPr lang="en-US" sz="2200" b="1" i="0" dirty="0">
                <a:solidFill>
                  <a:srgbClr val="374151"/>
                </a:solidFill>
                <a:effectLst/>
              </a:rPr>
              <a:t>Cost Estimation:</a:t>
            </a:r>
            <a:endParaRPr lang="en-US" sz="2200" b="0" i="0" dirty="0">
              <a:solidFill>
                <a:srgbClr val="374151"/>
              </a:solidFill>
              <a:effectLst/>
            </a:endParaRPr>
          </a:p>
          <a:p>
            <a:pPr lvl="1">
              <a:buFont typeface="Courier New" panose="02070309020205020404" pitchFamily="49" charset="0"/>
              <a:buChar char="o"/>
            </a:pPr>
            <a:r>
              <a:rPr lang="en-US" sz="2200" b="0" i="0" dirty="0">
                <a:solidFill>
                  <a:srgbClr val="374151"/>
                </a:solidFill>
                <a:effectLst/>
              </a:rPr>
              <a:t>The cost of each candidate execution plan is estimated based on factors such as access methods, join operations, filtering conditions, and sorting/grouping.</a:t>
            </a:r>
          </a:p>
          <a:p>
            <a:pPr lvl="1">
              <a:buFont typeface="Courier New" panose="02070309020205020404" pitchFamily="49" charset="0"/>
              <a:buChar char="o"/>
            </a:pPr>
            <a:r>
              <a:rPr lang="en-US" sz="2200" b="0" i="0" dirty="0">
                <a:solidFill>
                  <a:srgbClr val="374151"/>
                </a:solidFill>
                <a:effectLst/>
              </a:rPr>
              <a:t>Statistical information about data distribution, index selectivity, and hardware characteristics are used to provide accurate cost estimates.</a:t>
            </a:r>
          </a:p>
        </p:txBody>
      </p:sp>
    </p:spTree>
    <p:extLst>
      <p:ext uri="{BB962C8B-B14F-4D97-AF65-F5344CB8AC3E}">
        <p14:creationId xmlns:p14="http://schemas.microsoft.com/office/powerpoint/2010/main" val="42877936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Steps in Query Optimization</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260217"/>
          </a:xfrm>
        </p:spPr>
        <p:txBody>
          <a:bodyPr>
            <a:noAutofit/>
          </a:bodyPr>
          <a:lstStyle/>
          <a:p>
            <a:pPr marL="457200" indent="-457200" algn="l">
              <a:buFont typeface="+mj-lt"/>
              <a:buAutoNum type="arabicPeriod" startAt="5"/>
            </a:pPr>
            <a:r>
              <a:rPr lang="en-US" sz="2200" b="1" i="0" dirty="0">
                <a:solidFill>
                  <a:srgbClr val="374151"/>
                </a:solidFill>
                <a:effectLst/>
              </a:rPr>
              <a:t> Plan Selection:</a:t>
            </a:r>
            <a:endParaRPr lang="en-US" sz="2200" b="0" i="0" dirty="0">
              <a:solidFill>
                <a:srgbClr val="374151"/>
              </a:solidFill>
              <a:effectLst/>
            </a:endParaRPr>
          </a:p>
          <a:p>
            <a:pPr lvl="1">
              <a:buFont typeface="Courier New" panose="02070309020205020404" pitchFamily="49" charset="0"/>
              <a:buChar char="o"/>
            </a:pPr>
            <a:r>
              <a:rPr lang="en-US" sz="2200" b="0" i="0" dirty="0">
                <a:solidFill>
                  <a:srgbClr val="374151"/>
                </a:solidFill>
                <a:effectLst/>
              </a:rPr>
              <a:t>The execution plan with the lowest estimated cost is selected as the optimal plan.</a:t>
            </a:r>
          </a:p>
          <a:p>
            <a:pPr lvl="1">
              <a:buFont typeface="Courier New" panose="02070309020205020404" pitchFamily="49" charset="0"/>
              <a:buChar char="o"/>
            </a:pPr>
            <a:r>
              <a:rPr lang="en-US" sz="2200" b="0" i="0" dirty="0">
                <a:solidFill>
                  <a:srgbClr val="374151"/>
                </a:solidFill>
                <a:effectLst/>
              </a:rPr>
              <a:t>The goal is to choose a plan that minimizes the overall resource consumption and execution time.</a:t>
            </a:r>
          </a:p>
          <a:p>
            <a:pPr marL="457200" indent="-457200" algn="l">
              <a:buFont typeface="+mj-lt"/>
              <a:buAutoNum type="arabicPeriod" startAt="5"/>
            </a:pPr>
            <a:r>
              <a:rPr lang="en-US" sz="2200" b="1" i="0" dirty="0">
                <a:solidFill>
                  <a:srgbClr val="374151"/>
                </a:solidFill>
                <a:effectLst/>
              </a:rPr>
              <a:t> Plan Execution:</a:t>
            </a:r>
            <a:endParaRPr lang="en-US" sz="2200" b="0" i="0" dirty="0">
              <a:solidFill>
                <a:srgbClr val="374151"/>
              </a:solidFill>
              <a:effectLst/>
            </a:endParaRPr>
          </a:p>
          <a:p>
            <a:pPr lvl="1" algn="l">
              <a:buFont typeface="Courier New" panose="02070309020205020404" pitchFamily="49" charset="0"/>
              <a:buChar char="o"/>
            </a:pPr>
            <a:r>
              <a:rPr lang="en-US" sz="2200" b="0" i="0" dirty="0">
                <a:solidFill>
                  <a:srgbClr val="374151"/>
                </a:solidFill>
                <a:effectLst/>
              </a:rPr>
              <a:t>The chosen execution plan is implemented to fetch the data from the database.</a:t>
            </a:r>
          </a:p>
          <a:p>
            <a:pPr lvl="1" algn="l">
              <a:buFont typeface="Courier New" panose="02070309020205020404" pitchFamily="49" charset="0"/>
              <a:buChar char="o"/>
            </a:pPr>
            <a:r>
              <a:rPr lang="en-US" sz="2200" b="0" i="0" dirty="0">
                <a:solidFill>
                  <a:srgbClr val="374151"/>
                </a:solidFill>
                <a:effectLst/>
              </a:rPr>
              <a:t>This involves accessing tables, applying filters, performing joins, and any other operations specified in the query.</a:t>
            </a:r>
          </a:p>
        </p:txBody>
      </p:sp>
    </p:spTree>
    <p:extLst>
      <p:ext uri="{BB962C8B-B14F-4D97-AF65-F5344CB8AC3E}">
        <p14:creationId xmlns:p14="http://schemas.microsoft.com/office/powerpoint/2010/main" val="1449119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BE3F-B491-4208-A32A-81C7C30669BB}"/>
              </a:ext>
            </a:extLst>
          </p:cNvPr>
          <p:cNvSpPr>
            <a:spLocks noGrp="1"/>
          </p:cNvSpPr>
          <p:nvPr>
            <p:ph type="title"/>
          </p:nvPr>
        </p:nvSpPr>
        <p:spPr>
          <a:xfrm>
            <a:off x="1066800" y="817884"/>
            <a:ext cx="10058400" cy="662423"/>
          </a:xfrm>
        </p:spPr>
        <p:txBody>
          <a:bodyPr>
            <a:normAutofit fontScale="90000"/>
          </a:bodyPr>
          <a:lstStyle/>
          <a:p>
            <a:r>
              <a:rPr lang="en-US" b="1" dirty="0"/>
              <a:t>Example of Query Optimization</a:t>
            </a:r>
          </a:p>
        </p:txBody>
      </p:sp>
      <p:sp>
        <p:nvSpPr>
          <p:cNvPr id="3" name="Content Placeholder 2">
            <a:extLst>
              <a:ext uri="{FF2B5EF4-FFF2-40B4-BE49-F238E27FC236}">
                <a16:creationId xmlns:a16="http://schemas.microsoft.com/office/drawing/2014/main" id="{83C00B0A-32B0-49A5-92CB-9FD4CE4605A2}"/>
              </a:ext>
            </a:extLst>
          </p:cNvPr>
          <p:cNvSpPr>
            <a:spLocks noGrp="1"/>
          </p:cNvSpPr>
          <p:nvPr>
            <p:ph idx="1"/>
          </p:nvPr>
        </p:nvSpPr>
        <p:spPr>
          <a:xfrm>
            <a:off x="1066799" y="1779899"/>
            <a:ext cx="10058400" cy="4483741"/>
          </a:xfrm>
        </p:spPr>
        <p:txBody>
          <a:bodyPr>
            <a:noAutofit/>
          </a:bodyPr>
          <a:lstStyle/>
          <a:p>
            <a:pPr marL="0" indent="0">
              <a:buNone/>
            </a:pPr>
            <a:r>
              <a:rPr lang="en-US" sz="2200" i="0" dirty="0">
                <a:solidFill>
                  <a:srgbClr val="374151"/>
                </a:solidFill>
                <a:effectLst/>
              </a:rPr>
              <a:t>Consider the following SQL query:</a:t>
            </a:r>
          </a:p>
          <a:p>
            <a:pPr marL="0" indent="0">
              <a:buNone/>
            </a:pPr>
            <a:endParaRPr lang="en-US" sz="2200" i="0" dirty="0">
              <a:solidFill>
                <a:srgbClr val="374151"/>
              </a:solidFill>
              <a:effectLst/>
            </a:endParaRPr>
          </a:p>
          <a:p>
            <a:pPr marL="457200" lvl="1" indent="0">
              <a:buNone/>
            </a:pPr>
            <a:r>
              <a:rPr lang="en-US" sz="2000" i="1" dirty="0">
                <a:solidFill>
                  <a:srgbClr val="374151"/>
                </a:solidFill>
                <a:effectLst/>
              </a:rPr>
              <a:t>SELECT </a:t>
            </a:r>
            <a:r>
              <a:rPr lang="en-US" sz="2000" i="1" dirty="0" err="1">
                <a:solidFill>
                  <a:srgbClr val="374151"/>
                </a:solidFill>
                <a:effectLst/>
              </a:rPr>
              <a:t>Customers.CustomerName</a:t>
            </a:r>
            <a:r>
              <a:rPr lang="en-US" sz="2000" i="1" dirty="0">
                <a:solidFill>
                  <a:srgbClr val="374151"/>
                </a:solidFill>
                <a:effectLst/>
              </a:rPr>
              <a:t>, COUNT(</a:t>
            </a:r>
            <a:r>
              <a:rPr lang="en-US" sz="2000" i="1" dirty="0" err="1">
                <a:solidFill>
                  <a:srgbClr val="374151"/>
                </a:solidFill>
                <a:effectLst/>
              </a:rPr>
              <a:t>Orders.OrderID</a:t>
            </a:r>
            <a:r>
              <a:rPr lang="en-US" sz="2000" i="1" dirty="0">
                <a:solidFill>
                  <a:srgbClr val="374151"/>
                </a:solidFill>
                <a:effectLst/>
              </a:rPr>
              <a:t>) AS </a:t>
            </a:r>
            <a:r>
              <a:rPr lang="en-US" sz="2000" i="1" dirty="0" err="1">
                <a:solidFill>
                  <a:srgbClr val="374151"/>
                </a:solidFill>
                <a:effectLst/>
              </a:rPr>
              <a:t>OrderCount</a:t>
            </a:r>
            <a:r>
              <a:rPr lang="en-US" sz="2000" i="1" dirty="0">
                <a:solidFill>
                  <a:srgbClr val="374151"/>
                </a:solidFill>
              </a:rPr>
              <a:t> </a:t>
            </a:r>
            <a:r>
              <a:rPr lang="en-US" sz="2000" i="1" dirty="0">
                <a:solidFill>
                  <a:srgbClr val="374151"/>
                </a:solidFill>
                <a:effectLst/>
              </a:rPr>
              <a:t>FROM Customers LEFT JOIN Orders ON </a:t>
            </a:r>
            <a:r>
              <a:rPr lang="en-US" sz="2000" i="1" dirty="0" err="1">
                <a:solidFill>
                  <a:srgbClr val="374151"/>
                </a:solidFill>
                <a:effectLst/>
              </a:rPr>
              <a:t>Customers.CustomerID</a:t>
            </a:r>
            <a:r>
              <a:rPr lang="en-US" sz="2000" i="1" dirty="0">
                <a:solidFill>
                  <a:srgbClr val="374151"/>
                </a:solidFill>
                <a:effectLst/>
              </a:rPr>
              <a:t> = </a:t>
            </a:r>
            <a:r>
              <a:rPr lang="en-US" sz="2000" i="1" dirty="0" err="1">
                <a:solidFill>
                  <a:srgbClr val="374151"/>
                </a:solidFill>
                <a:effectLst/>
              </a:rPr>
              <a:t>Orders.CustomerID</a:t>
            </a:r>
            <a:r>
              <a:rPr lang="en-US" sz="2000" i="1" dirty="0">
                <a:solidFill>
                  <a:srgbClr val="374151"/>
                </a:solidFill>
              </a:rPr>
              <a:t> </a:t>
            </a:r>
            <a:r>
              <a:rPr lang="en-US" sz="2000" i="1" dirty="0">
                <a:solidFill>
                  <a:srgbClr val="374151"/>
                </a:solidFill>
                <a:effectLst/>
              </a:rPr>
              <a:t>WHERE </a:t>
            </a:r>
            <a:r>
              <a:rPr lang="en-US" sz="2000" i="1" dirty="0" err="1">
                <a:solidFill>
                  <a:srgbClr val="374151"/>
                </a:solidFill>
                <a:effectLst/>
              </a:rPr>
              <a:t>Orders.OrderDate</a:t>
            </a:r>
            <a:r>
              <a:rPr lang="en-US" sz="2000" i="1" dirty="0">
                <a:solidFill>
                  <a:srgbClr val="374151"/>
                </a:solidFill>
                <a:effectLst/>
              </a:rPr>
              <a:t> &gt;= '2022-01-01’ GROUP BY </a:t>
            </a:r>
            <a:r>
              <a:rPr lang="en-US" sz="2000" i="1" dirty="0" err="1">
                <a:solidFill>
                  <a:srgbClr val="374151"/>
                </a:solidFill>
                <a:effectLst/>
              </a:rPr>
              <a:t>Customers.CustomerID</a:t>
            </a:r>
            <a:r>
              <a:rPr lang="en-US" sz="2000" i="1" dirty="0">
                <a:solidFill>
                  <a:srgbClr val="374151"/>
                </a:solidFill>
                <a:effectLst/>
              </a:rPr>
              <a:t>, </a:t>
            </a:r>
            <a:r>
              <a:rPr lang="en-US" sz="2000" i="1" dirty="0" err="1">
                <a:solidFill>
                  <a:srgbClr val="374151"/>
                </a:solidFill>
                <a:effectLst/>
              </a:rPr>
              <a:t>Customers.CustomerName</a:t>
            </a:r>
            <a:r>
              <a:rPr lang="en-US" sz="2000" i="1" dirty="0">
                <a:solidFill>
                  <a:srgbClr val="374151"/>
                </a:solidFill>
              </a:rPr>
              <a:t> </a:t>
            </a:r>
            <a:r>
              <a:rPr lang="en-US" sz="2000" i="1" dirty="0">
                <a:solidFill>
                  <a:srgbClr val="374151"/>
                </a:solidFill>
                <a:effectLst/>
              </a:rPr>
              <a:t>HAVING COUNT(</a:t>
            </a:r>
            <a:r>
              <a:rPr lang="en-US" sz="2000" i="1" dirty="0" err="1">
                <a:solidFill>
                  <a:srgbClr val="374151"/>
                </a:solidFill>
                <a:effectLst/>
              </a:rPr>
              <a:t>Orders.OrderID</a:t>
            </a:r>
            <a:r>
              <a:rPr lang="en-US" sz="2000" i="1" dirty="0">
                <a:solidFill>
                  <a:srgbClr val="374151"/>
                </a:solidFill>
                <a:effectLst/>
              </a:rPr>
              <a:t>) &gt; 5;</a:t>
            </a:r>
          </a:p>
          <a:p>
            <a:pPr marL="0" indent="0">
              <a:buNone/>
            </a:pPr>
            <a:endParaRPr lang="en-US" sz="2200" i="0" dirty="0">
              <a:solidFill>
                <a:srgbClr val="374151"/>
              </a:solidFill>
              <a:effectLst/>
            </a:endParaRPr>
          </a:p>
          <a:p>
            <a:pPr lvl="1">
              <a:buFont typeface="Courier New" panose="02070309020205020404" pitchFamily="49" charset="0"/>
              <a:buChar char="o"/>
            </a:pPr>
            <a:r>
              <a:rPr lang="en-US" sz="2000" i="0" dirty="0">
                <a:solidFill>
                  <a:srgbClr val="374151"/>
                </a:solidFill>
                <a:effectLst/>
              </a:rPr>
              <a:t>The optimizer explores different execution plans, considering options like index usage, join methods, and access paths.</a:t>
            </a:r>
          </a:p>
          <a:p>
            <a:pPr lvl="1">
              <a:buFont typeface="Courier New" panose="02070309020205020404" pitchFamily="49" charset="0"/>
              <a:buChar char="o"/>
            </a:pPr>
            <a:r>
              <a:rPr lang="en-US" sz="2000" i="0" dirty="0">
                <a:solidFill>
                  <a:srgbClr val="374151"/>
                </a:solidFill>
                <a:effectLst/>
              </a:rPr>
              <a:t>It estimates the cost of various plans, taking into account the cost of accessing the "Customers" and "Orders" tables, the join operation, and the filtering condition on "</a:t>
            </a:r>
            <a:r>
              <a:rPr lang="en-US" sz="2000" i="0" dirty="0" err="1">
                <a:solidFill>
                  <a:srgbClr val="374151"/>
                </a:solidFill>
                <a:effectLst/>
              </a:rPr>
              <a:t>OrderDate</a:t>
            </a:r>
            <a:r>
              <a:rPr lang="en-US" sz="2000" i="0" dirty="0">
                <a:solidFill>
                  <a:srgbClr val="374151"/>
                </a:solidFill>
                <a:effectLst/>
              </a:rPr>
              <a:t>."</a:t>
            </a:r>
          </a:p>
          <a:p>
            <a:pPr lvl="1">
              <a:buFont typeface="Courier New" panose="02070309020205020404" pitchFamily="49" charset="0"/>
              <a:buChar char="o"/>
            </a:pPr>
            <a:r>
              <a:rPr lang="en-US" sz="2000" i="0" dirty="0">
                <a:solidFill>
                  <a:srgbClr val="374151"/>
                </a:solidFill>
                <a:effectLst/>
              </a:rPr>
              <a:t>The plan with the lowest estimated cost might involve using an index on "</a:t>
            </a:r>
            <a:r>
              <a:rPr lang="en-US" sz="2000" i="0" dirty="0" err="1">
                <a:solidFill>
                  <a:srgbClr val="374151"/>
                </a:solidFill>
                <a:effectLst/>
              </a:rPr>
              <a:t>OrderDate</a:t>
            </a:r>
            <a:r>
              <a:rPr lang="en-US" sz="2000" i="0" dirty="0">
                <a:solidFill>
                  <a:srgbClr val="374151"/>
                </a:solidFill>
                <a:effectLst/>
              </a:rPr>
              <a:t>" and a suitable join method.</a:t>
            </a:r>
          </a:p>
          <a:p>
            <a:pPr marL="0" indent="0">
              <a:buNone/>
            </a:pPr>
            <a:endParaRPr lang="en-US" sz="2200" i="0" dirty="0">
              <a:solidFill>
                <a:srgbClr val="374151"/>
              </a:solidFill>
              <a:effectLst/>
            </a:endParaRPr>
          </a:p>
        </p:txBody>
      </p:sp>
    </p:spTree>
    <p:extLst>
      <p:ext uri="{BB962C8B-B14F-4D97-AF65-F5344CB8AC3E}">
        <p14:creationId xmlns:p14="http://schemas.microsoft.com/office/powerpoint/2010/main" val="40922227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6E2CD-08A4-9834-939D-56386914B1ED}"/>
              </a:ext>
            </a:extLst>
          </p:cNvPr>
          <p:cNvSpPr>
            <a:spLocks noGrp="1"/>
          </p:cNvSpPr>
          <p:nvPr>
            <p:ph type="title"/>
          </p:nvPr>
        </p:nvSpPr>
        <p:spPr/>
        <p:txBody>
          <a:bodyPr/>
          <a:lstStyle/>
          <a:p>
            <a:r>
              <a:rPr lang="en-GB" b="1" dirty="0"/>
              <a:t>Query Optimization Steps</a:t>
            </a:r>
            <a:endParaRPr lang="en-GB" dirty="0"/>
          </a:p>
        </p:txBody>
      </p:sp>
      <p:sp>
        <p:nvSpPr>
          <p:cNvPr id="3" name="Content Placeholder 2">
            <a:extLst>
              <a:ext uri="{FF2B5EF4-FFF2-40B4-BE49-F238E27FC236}">
                <a16:creationId xmlns:a16="http://schemas.microsoft.com/office/drawing/2014/main" id="{08445FA8-7142-C17E-5EC2-357757BE9E80}"/>
              </a:ext>
            </a:extLst>
          </p:cNvPr>
          <p:cNvSpPr>
            <a:spLocks noGrp="1"/>
          </p:cNvSpPr>
          <p:nvPr>
            <p:ph idx="1"/>
          </p:nvPr>
        </p:nvSpPr>
        <p:spPr/>
        <p:txBody>
          <a:bodyPr>
            <a:normAutofit fontScale="70000" lnSpcReduction="20000"/>
          </a:bodyPr>
          <a:lstStyle/>
          <a:p>
            <a:pPr>
              <a:buFont typeface="+mj-lt"/>
              <a:buAutoNum type="arabicPeriod"/>
            </a:pPr>
            <a:r>
              <a:rPr lang="en-GB" b="1" dirty="0"/>
              <a:t>SQL to Relational Algebra</a:t>
            </a:r>
            <a:endParaRPr lang="en-GB" dirty="0"/>
          </a:p>
          <a:p>
            <a:pPr marL="742950" lvl="1" indent="-285750">
              <a:buFont typeface="+mj-lt"/>
              <a:buAutoNum type="arabicPeriod"/>
            </a:pPr>
            <a:r>
              <a:rPr lang="en-GB" dirty="0"/>
              <a:t>The first step is to translate the high-level SQL query into a relational algebra representation. This representation provides a structured and formal way to express queries, making it easier to </a:t>
            </a:r>
            <a:r>
              <a:rPr lang="en-GB" dirty="0" err="1"/>
              <a:t>analyze</a:t>
            </a:r>
            <a:r>
              <a:rPr lang="en-GB" dirty="0"/>
              <a:t> and optimize them.</a:t>
            </a:r>
          </a:p>
          <a:p>
            <a:pPr>
              <a:buFont typeface="+mj-lt"/>
              <a:buAutoNum type="arabicPeriod"/>
            </a:pPr>
            <a:r>
              <a:rPr lang="en-GB" b="1" dirty="0"/>
              <a:t>Logical Query Optimization (Generating Equivalent Expressions)</a:t>
            </a:r>
            <a:endParaRPr lang="en-GB" dirty="0"/>
          </a:p>
          <a:p>
            <a:pPr marL="742950" lvl="1" indent="-285750">
              <a:buFont typeface="+mj-lt"/>
              <a:buAutoNum type="arabicPeriod"/>
            </a:pPr>
            <a:r>
              <a:rPr lang="en-GB" dirty="0"/>
              <a:t>The system generates </a:t>
            </a:r>
            <a:r>
              <a:rPr lang="en-GB" b="1" dirty="0"/>
              <a:t>logically equivalent expressions</a:t>
            </a:r>
            <a:r>
              <a:rPr lang="en-GB" dirty="0"/>
              <a:t> using </a:t>
            </a:r>
            <a:r>
              <a:rPr lang="en-GB" b="1" dirty="0"/>
              <a:t>equivalence rules</a:t>
            </a:r>
            <a:r>
              <a:rPr lang="en-GB" dirty="0"/>
              <a:t> (e.g., commutativity, associativity, distributivity). These rules allow transformations such as:</a:t>
            </a:r>
          </a:p>
          <a:p>
            <a:pPr marL="1143000" lvl="2" indent="-228600">
              <a:buFont typeface="+mj-lt"/>
              <a:buAutoNum type="arabicPeriod"/>
            </a:pPr>
            <a:r>
              <a:rPr lang="en-GB" dirty="0"/>
              <a:t>Rearranging joins.</a:t>
            </a:r>
          </a:p>
          <a:p>
            <a:pPr marL="1143000" lvl="2" indent="-228600">
              <a:buFont typeface="+mj-lt"/>
              <a:buAutoNum type="arabicPeriod"/>
            </a:pPr>
            <a:r>
              <a:rPr lang="en-GB" dirty="0"/>
              <a:t>Reordering selection and projection operations.</a:t>
            </a:r>
          </a:p>
          <a:p>
            <a:pPr marL="742950" lvl="1" indent="-285750">
              <a:buFont typeface="+mj-lt"/>
              <a:buAutoNum type="arabicPeriod"/>
            </a:pPr>
            <a:r>
              <a:rPr lang="en-GB" dirty="0"/>
              <a:t>The goal is to produce an optimized logical query plan that minimizes resource usage (e.g., reducing intermediate results).</a:t>
            </a:r>
          </a:p>
          <a:p>
            <a:pPr>
              <a:buFont typeface="+mj-lt"/>
              <a:buAutoNum type="arabicPeriod"/>
            </a:pPr>
            <a:r>
              <a:rPr lang="en-GB" b="1" dirty="0"/>
              <a:t>Estimation of Statistics</a:t>
            </a:r>
            <a:endParaRPr lang="en-GB" dirty="0"/>
          </a:p>
          <a:p>
            <a:pPr marL="742950" lvl="1" indent="-285750">
              <a:buFont typeface="+mj-lt"/>
              <a:buAutoNum type="arabicPeriod"/>
            </a:pPr>
            <a:r>
              <a:rPr lang="en-GB" b="1" dirty="0"/>
              <a:t>Statistics estimation</a:t>
            </a:r>
            <a:r>
              <a:rPr lang="en-GB" dirty="0"/>
              <a:t> involves collecting data such as:</a:t>
            </a:r>
          </a:p>
          <a:p>
            <a:pPr marL="1143000" lvl="2" indent="-228600">
              <a:buFont typeface="+mj-lt"/>
              <a:buAutoNum type="arabicPeriod"/>
            </a:pPr>
            <a:r>
              <a:rPr lang="en-GB" dirty="0"/>
              <a:t>Cardinality (number of tuples in a table or result of an operation).</a:t>
            </a:r>
          </a:p>
          <a:p>
            <a:pPr marL="1143000" lvl="2" indent="-228600">
              <a:buFont typeface="+mj-lt"/>
              <a:buAutoNum type="arabicPeriod"/>
            </a:pPr>
            <a:r>
              <a:rPr lang="en-GB" dirty="0"/>
              <a:t>Selectivity (fraction of tuples satisfying a condition).</a:t>
            </a:r>
          </a:p>
          <a:p>
            <a:pPr marL="1143000" lvl="2" indent="-228600">
              <a:buFont typeface="+mj-lt"/>
              <a:buAutoNum type="arabicPeriod"/>
            </a:pPr>
            <a:r>
              <a:rPr lang="en-GB" dirty="0"/>
              <a:t>Data distribution (e.g., histograms, indexes).</a:t>
            </a:r>
          </a:p>
          <a:p>
            <a:pPr marL="742950" lvl="1" indent="-285750">
              <a:buFont typeface="+mj-lt"/>
              <a:buAutoNum type="arabicPeriod"/>
            </a:pPr>
            <a:r>
              <a:rPr lang="en-GB" dirty="0"/>
              <a:t>These statistics are essential for estimating the cost of various query execution strategies.</a:t>
            </a:r>
          </a:p>
          <a:p>
            <a:endParaRPr lang="en-GB" dirty="0"/>
          </a:p>
        </p:txBody>
      </p:sp>
    </p:spTree>
    <p:extLst>
      <p:ext uri="{BB962C8B-B14F-4D97-AF65-F5344CB8AC3E}">
        <p14:creationId xmlns:p14="http://schemas.microsoft.com/office/powerpoint/2010/main" val="1770959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BEE02-0695-C274-3BD6-4C5C200F9CB0}"/>
              </a:ext>
            </a:extLst>
          </p:cNvPr>
          <p:cNvSpPr>
            <a:spLocks noGrp="1"/>
          </p:cNvSpPr>
          <p:nvPr>
            <p:ph type="title"/>
          </p:nvPr>
        </p:nvSpPr>
        <p:spPr/>
        <p:txBody>
          <a:bodyPr/>
          <a:lstStyle/>
          <a:p>
            <a:r>
              <a:rPr lang="en-GB" b="1" dirty="0"/>
              <a:t>Query Optimization Steps</a:t>
            </a:r>
            <a:endParaRPr lang="en-GB" dirty="0"/>
          </a:p>
        </p:txBody>
      </p:sp>
      <p:sp>
        <p:nvSpPr>
          <p:cNvPr id="3" name="Content Placeholder 2">
            <a:extLst>
              <a:ext uri="{FF2B5EF4-FFF2-40B4-BE49-F238E27FC236}">
                <a16:creationId xmlns:a16="http://schemas.microsoft.com/office/drawing/2014/main" id="{DB5FE103-55F0-5D4F-DE20-E1C13382D107}"/>
              </a:ext>
            </a:extLst>
          </p:cNvPr>
          <p:cNvSpPr>
            <a:spLocks noGrp="1"/>
          </p:cNvSpPr>
          <p:nvPr>
            <p:ph idx="1"/>
          </p:nvPr>
        </p:nvSpPr>
        <p:spPr/>
        <p:txBody>
          <a:bodyPr>
            <a:normAutofit fontScale="70000" lnSpcReduction="20000"/>
          </a:bodyPr>
          <a:lstStyle/>
          <a:p>
            <a:pPr marL="0" indent="0">
              <a:buNone/>
            </a:pPr>
            <a:r>
              <a:rPr lang="en-GB" b="1" dirty="0"/>
              <a:t>4. Cost Estimation </a:t>
            </a:r>
          </a:p>
          <a:p>
            <a:pPr lvl="1"/>
            <a:r>
              <a:rPr lang="en-GB" dirty="0"/>
              <a:t>Based on the collected statistics, the system estimates the cost of different query execution plans. Cost can include:  </a:t>
            </a:r>
            <a:r>
              <a:rPr lang="en-GB" b="1" i="1" dirty="0"/>
              <a:t>Cost-Based Optimization and Heuristic Optimization</a:t>
            </a:r>
          </a:p>
          <a:p>
            <a:pPr lvl="2"/>
            <a:r>
              <a:rPr lang="en-GB" dirty="0"/>
              <a:t>Disk I/O cost: Reading/writing data from/to disk. </a:t>
            </a:r>
          </a:p>
          <a:p>
            <a:pPr lvl="2"/>
            <a:r>
              <a:rPr lang="en-GB" dirty="0"/>
              <a:t>CPU cost: Processing time for computations. </a:t>
            </a:r>
          </a:p>
          <a:p>
            <a:pPr lvl="2"/>
            <a:r>
              <a:rPr lang="en-GB" dirty="0"/>
              <a:t>Network cost: Transferring data between distributed systems (if applicable). </a:t>
            </a:r>
          </a:p>
          <a:p>
            <a:pPr marL="0" indent="0">
              <a:buNone/>
            </a:pPr>
            <a:r>
              <a:rPr lang="en-GB" b="1" dirty="0"/>
              <a:t>5. Physical Query Plan Generation (Evaluation Plans) </a:t>
            </a:r>
          </a:p>
          <a:p>
            <a:pPr lvl="1"/>
            <a:r>
              <a:rPr lang="en-GB" dirty="0"/>
              <a:t>The optimizer evaluates different physical query plans, which include specific algorithms and data access methods for executing the query (e.g., using nested-loop join vs. hash join, or full table scan vs. index scan). </a:t>
            </a:r>
          </a:p>
          <a:p>
            <a:pPr lvl="1"/>
            <a:r>
              <a:rPr lang="en-GB" dirty="0"/>
              <a:t>It chooses the plan with the lowest estimated cost.</a:t>
            </a:r>
          </a:p>
          <a:p>
            <a:pPr lvl="1"/>
            <a:r>
              <a:rPr lang="en-GB" dirty="0"/>
              <a:t>This is where evaluation strategies like Materialization and Pipelining are decided. These strategies define how intermediate results are handled: Materialization: Store intermediate results on disk or in memory. Pipelining: Pass intermediate results directly to the next operation without storing them.</a:t>
            </a:r>
          </a:p>
          <a:p>
            <a:pPr marL="0" indent="0">
              <a:buNone/>
            </a:pPr>
            <a:r>
              <a:rPr lang="en-GB" b="1" dirty="0"/>
              <a:t>6. Selection of the Optimal Plan</a:t>
            </a:r>
          </a:p>
          <a:p>
            <a:pPr lvl="1"/>
            <a:r>
              <a:rPr lang="en-GB" dirty="0"/>
              <a:t> Finally, the optimal plan (the most cost-effective one) is selected and passed to the evaluation engine for execution.</a:t>
            </a:r>
          </a:p>
        </p:txBody>
      </p:sp>
    </p:spTree>
    <p:extLst>
      <p:ext uri="{BB962C8B-B14F-4D97-AF65-F5344CB8AC3E}">
        <p14:creationId xmlns:p14="http://schemas.microsoft.com/office/powerpoint/2010/main" val="3018237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DEEC89-B168-67ED-F06E-030D6EEE4379}"/>
              </a:ext>
            </a:extLst>
          </p:cNvPr>
          <p:cNvPicPr>
            <a:picLocks noChangeAspect="1"/>
          </p:cNvPicPr>
          <p:nvPr/>
        </p:nvPicPr>
        <p:blipFill>
          <a:blip r:embed="rId2"/>
          <a:stretch>
            <a:fillRect/>
          </a:stretch>
        </p:blipFill>
        <p:spPr>
          <a:xfrm>
            <a:off x="2193912" y="347271"/>
            <a:ext cx="7804176" cy="1359359"/>
          </a:xfrm>
          <a:prstGeom prst="rect">
            <a:avLst/>
          </a:prstGeom>
        </p:spPr>
      </p:pic>
      <p:pic>
        <p:nvPicPr>
          <p:cNvPr id="7" name="Picture 6">
            <a:extLst>
              <a:ext uri="{FF2B5EF4-FFF2-40B4-BE49-F238E27FC236}">
                <a16:creationId xmlns:a16="http://schemas.microsoft.com/office/drawing/2014/main" id="{9E61C9F2-96DA-2625-4782-A39B9A7C5B69}"/>
              </a:ext>
            </a:extLst>
          </p:cNvPr>
          <p:cNvPicPr>
            <a:picLocks noChangeAspect="1"/>
          </p:cNvPicPr>
          <p:nvPr/>
        </p:nvPicPr>
        <p:blipFill>
          <a:blip r:embed="rId3"/>
          <a:stretch>
            <a:fillRect/>
          </a:stretch>
        </p:blipFill>
        <p:spPr>
          <a:xfrm>
            <a:off x="2087840" y="2014537"/>
            <a:ext cx="8497136" cy="3906578"/>
          </a:xfrm>
          <a:prstGeom prst="rect">
            <a:avLst/>
          </a:prstGeom>
        </p:spPr>
      </p:pic>
    </p:spTree>
    <p:extLst>
      <p:ext uri="{BB962C8B-B14F-4D97-AF65-F5344CB8AC3E}">
        <p14:creationId xmlns:p14="http://schemas.microsoft.com/office/powerpoint/2010/main" val="38334357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57521F-D1F9-4FB6-CB07-00D8D1B15467}"/>
              </a:ext>
            </a:extLst>
          </p:cNvPr>
          <p:cNvSpPr>
            <a:spLocks noGrp="1"/>
          </p:cNvSpPr>
          <p:nvPr>
            <p:ph idx="1"/>
          </p:nvPr>
        </p:nvSpPr>
        <p:spPr>
          <a:xfrm>
            <a:off x="838200" y="899410"/>
            <a:ext cx="10515600" cy="5277553"/>
          </a:xfrm>
        </p:spPr>
        <p:txBody>
          <a:bodyPr/>
          <a:lstStyle/>
          <a:p>
            <a:pPr lvl="1"/>
            <a:r>
              <a:rPr lang="en-GB" dirty="0"/>
              <a:t>instructor(ID, name, dept name, salary) </a:t>
            </a:r>
          </a:p>
          <a:p>
            <a:pPr lvl="1"/>
            <a:r>
              <a:rPr lang="en-GB" dirty="0"/>
              <a:t>teaches(ID, course id, sec id, semester, year) </a:t>
            </a:r>
          </a:p>
          <a:p>
            <a:pPr lvl="1"/>
            <a:r>
              <a:rPr lang="en-GB" dirty="0"/>
              <a:t>course(course id, title, dept name, credits)</a:t>
            </a:r>
          </a:p>
          <a:p>
            <a:r>
              <a:rPr lang="en-GB" dirty="0"/>
              <a:t>“Find the names of all instructors in the Music department and  instructors who have taught a course in 2017 together with the course title of all the courses that the instructors teach”</a:t>
            </a:r>
          </a:p>
          <a:p>
            <a:r>
              <a:rPr lang="en-GB" dirty="0"/>
              <a:t>Construct initial operator tree and final efficient operator tree after applying transformation rules.</a:t>
            </a:r>
          </a:p>
        </p:txBody>
      </p:sp>
      <p:pic>
        <p:nvPicPr>
          <p:cNvPr id="5" name="Picture 4">
            <a:extLst>
              <a:ext uri="{FF2B5EF4-FFF2-40B4-BE49-F238E27FC236}">
                <a16:creationId xmlns:a16="http://schemas.microsoft.com/office/drawing/2014/main" id="{96F8F4FB-9A4A-D20D-FC69-60D8E30C9F34}"/>
              </a:ext>
            </a:extLst>
          </p:cNvPr>
          <p:cNvPicPr>
            <a:picLocks noChangeAspect="1"/>
          </p:cNvPicPr>
          <p:nvPr/>
        </p:nvPicPr>
        <p:blipFill>
          <a:blip r:embed="rId2"/>
          <a:stretch>
            <a:fillRect/>
          </a:stretch>
        </p:blipFill>
        <p:spPr>
          <a:xfrm>
            <a:off x="968545" y="5255692"/>
            <a:ext cx="9705935" cy="1602308"/>
          </a:xfrm>
          <a:prstGeom prst="rect">
            <a:avLst/>
          </a:prstGeom>
        </p:spPr>
      </p:pic>
    </p:spTree>
    <p:extLst>
      <p:ext uri="{BB962C8B-B14F-4D97-AF65-F5344CB8AC3E}">
        <p14:creationId xmlns:p14="http://schemas.microsoft.com/office/powerpoint/2010/main" val="3101713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8C6567-D6BF-A735-DCB8-69ACA6902116}"/>
              </a:ext>
            </a:extLst>
          </p:cNvPr>
          <p:cNvPicPr>
            <a:picLocks noChangeAspect="1"/>
          </p:cNvPicPr>
          <p:nvPr/>
        </p:nvPicPr>
        <p:blipFill>
          <a:blip r:embed="rId3"/>
          <a:stretch>
            <a:fillRect/>
          </a:stretch>
        </p:blipFill>
        <p:spPr>
          <a:xfrm>
            <a:off x="188626" y="538475"/>
            <a:ext cx="10776579" cy="1365276"/>
          </a:xfrm>
          <a:prstGeom prst="rect">
            <a:avLst/>
          </a:prstGeom>
        </p:spPr>
      </p:pic>
      <p:pic>
        <p:nvPicPr>
          <p:cNvPr id="7" name="Picture 6">
            <a:extLst>
              <a:ext uri="{FF2B5EF4-FFF2-40B4-BE49-F238E27FC236}">
                <a16:creationId xmlns:a16="http://schemas.microsoft.com/office/drawing/2014/main" id="{7D64D6F7-1FFC-5581-9FB6-8C56DE0D1E95}"/>
              </a:ext>
            </a:extLst>
          </p:cNvPr>
          <p:cNvPicPr>
            <a:picLocks noChangeAspect="1"/>
          </p:cNvPicPr>
          <p:nvPr/>
        </p:nvPicPr>
        <p:blipFill>
          <a:blip r:embed="rId4"/>
          <a:stretch>
            <a:fillRect/>
          </a:stretch>
        </p:blipFill>
        <p:spPr>
          <a:xfrm>
            <a:off x="1395145" y="2117360"/>
            <a:ext cx="9401709" cy="4071718"/>
          </a:xfrm>
          <a:prstGeom prst="rect">
            <a:avLst/>
          </a:prstGeom>
        </p:spPr>
      </p:pic>
    </p:spTree>
    <p:extLst>
      <p:ext uri="{BB962C8B-B14F-4D97-AF65-F5344CB8AC3E}">
        <p14:creationId xmlns:p14="http://schemas.microsoft.com/office/powerpoint/2010/main" val="2164634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959</TotalTime>
  <Words>3202</Words>
  <Application>Microsoft Office PowerPoint</Application>
  <PresentationFormat>Widescreen</PresentationFormat>
  <Paragraphs>261</Paragraphs>
  <Slides>39</Slides>
  <Notes>3</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Query Processing</vt:lpstr>
      <vt:lpstr>Query Processing</vt:lpstr>
      <vt:lpstr>PowerPoint Presentation</vt:lpstr>
      <vt:lpstr>Query Processing</vt:lpstr>
      <vt:lpstr>Query Processing</vt:lpstr>
      <vt:lpstr>Query Processing</vt:lpstr>
      <vt:lpstr>Query Processing</vt:lpstr>
      <vt:lpstr>Query Processing</vt:lpstr>
      <vt:lpstr>Query Optimization</vt:lpstr>
      <vt:lpstr>Query Processing</vt:lpstr>
      <vt:lpstr>Execution plan</vt:lpstr>
      <vt:lpstr>Execution Plan</vt:lpstr>
      <vt:lpstr>Query Optimization</vt:lpstr>
      <vt:lpstr>Query Optimization</vt:lpstr>
      <vt:lpstr>Query Optimization</vt:lpstr>
      <vt:lpstr>Query Optimization</vt:lpstr>
      <vt:lpstr>PowerPoint Presentation</vt:lpstr>
      <vt:lpstr>Query Cost Estimation (Measures of Query Cost)</vt:lpstr>
      <vt:lpstr>Query Cost Estimation (Measures of Query Cost)</vt:lpstr>
      <vt:lpstr>PowerPoint Presentation</vt:lpstr>
      <vt:lpstr>Equivalence of Expressions</vt:lpstr>
      <vt:lpstr>Equivalence of Expressions</vt:lpstr>
      <vt:lpstr>Equivalence of Expressions</vt:lpstr>
      <vt:lpstr>Equivalence of Expressions</vt:lpstr>
      <vt:lpstr>Query Cost Estimation</vt:lpstr>
      <vt:lpstr>Component of Query Cost Estimation</vt:lpstr>
      <vt:lpstr>Component of Query Cost Estimation</vt:lpstr>
      <vt:lpstr>Component of Query Cost Estimation</vt:lpstr>
      <vt:lpstr>Example Query Cost Estimation</vt:lpstr>
      <vt:lpstr>Query Optimization</vt:lpstr>
      <vt:lpstr>Steps in Query Optimization</vt:lpstr>
      <vt:lpstr>Steps in Query Optimization</vt:lpstr>
      <vt:lpstr>Steps in Query Optimization</vt:lpstr>
      <vt:lpstr>Example of Query Optimization</vt:lpstr>
      <vt:lpstr>Query Optimization Steps</vt:lpstr>
      <vt:lpstr>Query Optimization Steps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RTOS</dc:title>
  <dc:creator>Microsoft Office User</dc:creator>
  <cp:lastModifiedBy>shiva pathak</cp:lastModifiedBy>
  <cp:revision>87</cp:revision>
  <dcterms:created xsi:type="dcterms:W3CDTF">2023-07-10T04:08:35Z</dcterms:created>
  <dcterms:modified xsi:type="dcterms:W3CDTF">2026-02-14T15:25:13Z</dcterms:modified>
</cp:coreProperties>
</file>
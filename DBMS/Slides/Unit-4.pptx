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ppt/theme/themeOverride28.xml" ContentType="application/vnd.openxmlformats-officedocument.themeOverride+xml"/>
  <Override PartName="/ppt/notesSlides/notesSlide29.xml" ContentType="application/vnd.openxmlformats-officedocument.presentationml.notesSlide+xml"/>
  <Override PartName="/ppt/theme/themeOverride29.xml" ContentType="application/vnd.openxmlformats-officedocument.themeOverride+xml"/>
  <Override PartName="/ppt/notesSlides/notesSlide30.xml" ContentType="application/vnd.openxmlformats-officedocument.presentationml.notesSlide+xml"/>
  <Override PartName="/ppt/theme/themeOverride30.xml" ContentType="application/vnd.openxmlformats-officedocument.themeOverride+xml"/>
  <Override PartName="/ppt/notesSlides/notesSlide31.xml" ContentType="application/vnd.openxmlformats-officedocument.presentationml.notesSlide+xml"/>
  <Override PartName="/ppt/theme/themeOverride31.xml" ContentType="application/vnd.openxmlformats-officedocument.themeOverride+xml"/>
  <Override PartName="/ppt/notesSlides/notesSlide32.xml" ContentType="application/vnd.openxmlformats-officedocument.presentationml.notesSlide+xml"/>
  <Override PartName="/ppt/theme/themeOverride32.xml" ContentType="application/vnd.openxmlformats-officedocument.themeOverride+xml"/>
  <Override PartName="/ppt/notesSlides/notesSlide33.xml" ContentType="application/vnd.openxmlformats-officedocument.presentationml.notesSlide+xml"/>
  <Override PartName="/ppt/theme/themeOverride33.xml" ContentType="application/vnd.openxmlformats-officedocument.themeOverride+xml"/>
  <Override PartName="/ppt/notesSlides/notesSlide34.xml" ContentType="application/vnd.openxmlformats-officedocument.presentationml.notesSlide+xml"/>
  <Override PartName="/ppt/theme/themeOverride34.xml" ContentType="application/vnd.openxmlformats-officedocument.themeOverride+xml"/>
  <Override PartName="/ppt/notesSlides/notesSlide35.xml" ContentType="application/vnd.openxmlformats-officedocument.presentationml.notesSlide+xml"/>
  <Override PartName="/ppt/theme/themeOverride35.xml" ContentType="application/vnd.openxmlformats-officedocument.themeOverride+xml"/>
  <Override PartName="/ppt/notesSlides/notesSlide36.xml" ContentType="application/vnd.openxmlformats-officedocument.presentationml.notesSlide+xml"/>
  <Override PartName="/ppt/theme/themeOverride3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4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6" r:id="rId22"/>
    <p:sldId id="273" r:id="rId23"/>
    <p:sldId id="274" r:id="rId24"/>
    <p:sldId id="275" r:id="rId25"/>
    <p:sldId id="277" r:id="rId26"/>
    <p:sldId id="278" r:id="rId27"/>
    <p:sldId id="279" r:id="rId28"/>
    <p:sldId id="295" r:id="rId29"/>
    <p:sldId id="280" r:id="rId30"/>
    <p:sldId id="281" r:id="rId31"/>
    <p:sldId id="282" r:id="rId32"/>
    <p:sldId id="283" r:id="rId33"/>
    <p:sldId id="284" r:id="rId34"/>
    <p:sldId id="292" r:id="rId35"/>
    <p:sldId id="285" r:id="rId36"/>
    <p:sldId id="286" r:id="rId37"/>
    <p:sldId id="287" r:id="rId38"/>
    <p:sldId id="288" r:id="rId39"/>
    <p:sldId id="289" r:id="rId40"/>
    <p:sldId id="290" r:id="rId41"/>
    <p:sldId id="291" r:id="rId42"/>
    <p:sldId id="293" r:id="rId43"/>
    <p:sldId id="298" r:id="rId44"/>
    <p:sldId id="297" r:id="rId45"/>
    <p:sldId id="299" r:id="rId46"/>
    <p:sldId id="294" r:id="rId47"/>
    <p:sldId id="296" r:id="rId48"/>
  </p:sldIdLst>
  <p:sldSz cx="12192000" cy="6858000"/>
  <p:notesSz cx="6858000" cy="9144000"/>
  <p:defaultText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00FF"/>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guideOptions xmlns="smNativeData" xmlns:pr="smNativeData" xmlns:p15="http://schemas.microsoft.com/office/powerpoint/2012/main" xmlns:p14="http://schemas.microsoft.com/office/powerpoint/2010/main" xmlns:mc="http://schemas.openxmlformats.org/markup-compatibility/2006" dt="1733826717" snapToGrid="1" snapToBorders="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57" d="100"/>
          <a:sy n="57" d="100"/>
        </p:scale>
        <p:origin x="537" y="210"/>
      </p:cViewPr>
      <p:guideLst>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p:cViewPr>
        <p:scale>
          <a:sx n="57" d="100"/>
          <a:sy n="57" d="100"/>
        </p:scale>
        <p:origin x="537" y="210"/>
      </p:cViewPr>
      <p:guideLst/>
    </p:cSldViewPr>
  </p:notesViewPr>
  <p:gridSpacing cx="71755" cy="7175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L8fAAD/HwAA"/>
              </a:ext>
            </a:extLst>
          </p:cNvSpPr>
          <p:nvPr>
            <p:ph type="sldImg"/>
          </p:nvPr>
        </p:nvSpPr>
        <p:spPr>
          <a:xfrm>
            <a:off x="215900" y="812800"/>
            <a:ext cx="7127240" cy="4008755"/>
          </a:xfrm>
          <a:prstGeom prst="rect">
            <a:avLst/>
          </a:prstGeom>
          <a:noFill/>
          <a:ln>
            <a:noFill/>
          </a:ln>
        </p:spPr>
        <p:txBody>
          <a:bodyPr vert="horz" wrap="square" lIns="0" tIns="0" rIns="0" bIns="0" numCol="1" spcCol="215900" anchor="ctr">
            <a:prstTxWarp prst="textNoShape">
              <a:avLst/>
            </a:prstTxWarp>
          </a:bodyPr>
          <a:lstStyle/>
          <a:p>
            <a:pPr algn="ctr"/>
            <a:r>
              <a:rPr lang="en-us" sz="4400" cap="none">
                <a:solidFill>
                  <a:srgbClr val="000000"/>
                </a:solidFill>
              </a:rPr>
              <a:t>Click to move the slide</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L8fAAD/HwAA"/>
              </a:ext>
            </a:extLst>
          </p:cNvSpPr>
          <p:nvPr>
            <p:ph type="body"/>
          </p:nvPr>
        </p:nvSpPr>
        <p:spPr>
          <a:xfrm>
            <a:off x="756285" y="5078730"/>
            <a:ext cx="6047105" cy="4810760"/>
          </a:xfrm>
          <a:prstGeom prst="rect">
            <a:avLst/>
          </a:prstGeom>
          <a:noFill/>
          <a:ln>
            <a:noFill/>
          </a:ln>
        </p:spPr>
        <p:txBody>
          <a:bodyPr vert="horz" wrap="square" lIns="0" tIns="0" rIns="0" bIns="0" numCol="1" spcCol="215900" anchor="t">
            <a:prstTxWarp prst="textNoShape">
              <a:avLst/>
            </a:prstTxWarp>
          </a:bodyPr>
          <a:lstStyle/>
          <a:p>
            <a:pPr marL="215900" indent="0">
              <a:buNone/>
            </a:pPr>
            <a:r>
              <a:rPr lang="en-us" sz="2000" cap="none">
                <a:solidFill>
                  <a:srgbClr val="000000"/>
                </a:solidFill>
              </a:rPr>
              <a:t>Click to edit the notes format</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AAAAAAuFAAASQMAABAAAAAmAAAACAAAAL8fAAD/HwAA"/>
              </a:ext>
            </a:extLst>
          </p:cNvSpPr>
          <p:nvPr>
            <p:ph type="hdr"/>
          </p:nvPr>
        </p:nvSpPr>
        <p:spPr>
          <a:xfrm>
            <a:off x="0" y="0"/>
            <a:ext cx="3280410" cy="534035"/>
          </a:xfrm>
          <a:prstGeom prst="rect">
            <a:avLst/>
          </a:prstGeom>
          <a:noFill/>
          <a:ln>
            <a:noFill/>
          </a:ln>
        </p:spPr>
        <p:txBody>
          <a:bodyPr vert="horz" wrap="square" lIns="0" tIns="0" rIns="0" bIns="0" numCol="1" spcCol="215900" anchor="t">
            <a:prstTxWarp prst="textNoShape">
              <a:avLst/>
            </a:prstTxWarp>
          </a:bodyPr>
          <a:lstStyle/>
          <a:p>
            <a:pPr indent="0">
              <a:buNone/>
            </a:pPr>
            <a:r>
              <a:rPr lang="en-us" sz="1400" cap="none">
                <a:solidFill>
                  <a:srgbClr val="000000"/>
                </a:solidFill>
                <a:latin typeface="Times New Roman" pitchFamily="1" charset="0"/>
                <a:ea typeface="DejaVu Sans" pitchFamily="1" charset="0"/>
                <a:cs typeface="DejaVu Sans" pitchFamily="1" charset="0"/>
              </a:rPr>
              <a:t>&lt;header&gt;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AAAAACBLgAASQMAABAAAAAmAAAACAAAAL+fAAD/HwAA"/>
              </a:ext>
            </a:extLst>
          </p:cNvSpPr>
          <p:nvPr>
            <p:ph type="dt" idx="10"/>
          </p:nvPr>
        </p:nvSpPr>
        <p:spPr>
          <a:xfrm>
            <a:off x="4279265" y="0"/>
            <a:ext cx="3280410" cy="534035"/>
          </a:xfrm>
          <a:prstGeom prst="rect">
            <a:avLst/>
          </a:prstGeom>
          <a:noFill/>
          <a:ln>
            <a:noFill/>
          </a:ln>
        </p:spPr>
        <p:txBody>
          <a:bodyPr vert="horz" wrap="square" lIns="0" tIns="0" rIns="0" bIns="0" numCol="1" spcCol="215900" anchor="t">
            <a:prstTxWarp prst="textNoShape">
              <a:avLst/>
            </a:prstTxWarp>
          </a:bodyPr>
          <a:lstStyle>
            <a:lvl1pPr indent="0" algn="r">
              <a:buNone/>
              <a:defRPr lang="en-us" sz="1400" b="0" strike="noStrike" cap="none" spc="0">
                <a:solidFill>
                  <a:srgbClr val="000000"/>
                </a:solidFill>
                <a:latin typeface="Times New Roman" pitchFamily="1" charset="0"/>
                <a:ea typeface="DejaVu Sans" pitchFamily="1" charset="0"/>
                <a:cs typeface="DejaVu Sans" pitchFamily="1" charset="0"/>
              </a:defRPr>
            </a:lvl1pPr>
          </a:lstStyle>
          <a:p>
            <a:pPr indent="0" algn="r">
              <a:buNone/>
              <a:defRPr lang="en-us"/>
            </a:pPr>
            <a:r>
              <a:t>&lt;date/time&gt;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Hw+AAAuFAAAxUEAABAAAAAmAAAACAAAAL+fAAD/HwAA"/>
              </a:ext>
            </a:extLst>
          </p:cNvSpPr>
          <p:nvPr>
            <p:ph type="ftr" idx="11"/>
          </p:nvPr>
        </p:nvSpPr>
        <p:spPr>
          <a:xfrm>
            <a:off x="0" y="10157460"/>
            <a:ext cx="3280410" cy="534035"/>
          </a:xfrm>
          <a:prstGeom prst="rect">
            <a:avLst/>
          </a:prstGeom>
          <a:noFill/>
          <a:ln>
            <a:noFill/>
          </a:ln>
        </p:spPr>
        <p:txBody>
          <a:bodyPr vert="horz" wrap="square" lIns="0" tIns="0" rIns="0" bIns="0" numCol="1" spcCol="215900" anchor="b">
            <a:prstTxWarp prst="textNoShape">
              <a:avLst/>
            </a:prstTxWarp>
          </a:bodyPr>
          <a:lstStyle>
            <a:lvl1pPr indent="0">
              <a:buNone/>
              <a:defRPr lang="en-us" sz="1400" b="0" strike="noStrike" cap="none" spc="0">
                <a:solidFill>
                  <a:srgbClr val="000000"/>
                </a:solidFill>
                <a:latin typeface="Times New Roman" pitchFamily="1" charset="0"/>
                <a:ea typeface="DejaVu Sans" pitchFamily="1" charset="0"/>
                <a:cs typeface="DejaVu Sans" pitchFamily="1" charset="0"/>
              </a:defRPr>
            </a:lvl1pPr>
          </a:lstStyle>
          <a:p>
            <a:pPr indent="0">
              <a:buNone/>
              <a:defRPr lang="en-us"/>
            </a:pPr>
            <a:r>
              <a:t>&lt;footer&gt;</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L+fAAD/HwAA"/>
              </a:ext>
            </a:extLst>
          </p:cNvSpPr>
          <p:nvPr>
            <p:ph type="sldNum" idx="12"/>
          </p:nvPr>
        </p:nvSpPr>
        <p:spPr>
          <a:xfrm>
            <a:off x="4279265" y="10157460"/>
            <a:ext cx="3280410" cy="534035"/>
          </a:xfrm>
          <a:prstGeom prst="rect">
            <a:avLst/>
          </a:prstGeom>
          <a:noFill/>
          <a:ln>
            <a:noFill/>
          </a:ln>
        </p:spPr>
        <p:txBody>
          <a:bodyPr vert="horz" wrap="square" lIns="0" tIns="0" rIns="0" bIns="0" numCol="1" spcCol="215900" anchor="b">
            <a:prstTxWarp prst="textNoShape">
              <a:avLst/>
            </a:prstTxWarp>
          </a:bodyPr>
          <a:lstStyle>
            <a:lvl1pPr indent="0" algn="r">
              <a:buNone/>
              <a:defRPr lang="en-us" sz="1400" b="0" strike="noStrike" cap="none" spc="0">
                <a:solidFill>
                  <a:srgbClr val="000000"/>
                </a:solidFill>
                <a:latin typeface="Times New Roman" pitchFamily="1" charset="0"/>
                <a:ea typeface="DejaVu Sans" pitchFamily="1" charset="0"/>
                <a:cs typeface="DejaVu Sans" pitchFamily="1" charset="0"/>
              </a:defRPr>
            </a:lvl1pPr>
          </a:lstStyle>
          <a:p>
            <a:pPr indent="0" algn="r">
              <a:buNone/>
              <a:defRPr lang="en-us"/>
            </a:pPr>
            <a:fld id="{72377269-279F-6284-D18F-D1D13CC12784}" type="slidenum">
              <a:t>‹#›</a:t>
            </a:fld>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21.xml"/><Relationship Id="rId4" Type="http://schemas.openxmlformats.org/officeDocument/2006/relationships/hyperlink" Target="https://www.youtube.com/watch?v=o0GQQFu-5C0"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hemeOverride" Target="../theme/themeOverride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hemeOverride" Target="../theme/themeOverride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hemeOverride" Target="../theme/themeOverride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hemeOverride" Target="../theme/themeOverride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hemeOverride" Target="../theme/themeOverride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hemeOverride" Target="../theme/themeOverride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hemeOverride" Target="../theme/themeOverride3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hemeOverride" Target="../theme/themeOverride31.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hemeOverride" Target="../theme/themeOverride32.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hemeOverride" Target="../theme/themeOverride33.xml"/></Relationships>
</file>

<file path=ppt/notesSlides/_rels/notesSlide34.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hemeOverride" Target="../theme/themeOverride34.xml"/></Relationships>
</file>

<file path=ppt/notesSlides/_rels/notesSlide35.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hemeOverride" Target="../theme/themeOverride35.xml"/></Relationships>
</file>

<file path=ppt/notesSlides/_rels/notesSlide36.xml.rels><?xml version="1.0" encoding="UTF-8" standalone="yes"?>
<Relationships xmlns="http://schemas.openxmlformats.org/package/2006/relationships"><Relationship Id="rId3" Type="http://schemas.openxmlformats.org/officeDocument/2006/relationships/slide" Target="../slides/slide38.xml"/><Relationship Id="rId2" Type="http://schemas.openxmlformats.org/officeDocument/2006/relationships/notesMaster" Target="../notesMasters/notesMaster1.xml"/><Relationship Id="rId1" Type="http://schemas.openxmlformats.org/officeDocument/2006/relationships/themeOverride" Target="../theme/themeOverride3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92D444C-02E4-78B2-AA95-F4E70ADB5CA1}" type="slidenum">
              <a:t>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g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A3C1983-CDE7-69EF-A984-3BBA57CA5F6E}" type="slidenum">
              <a:t>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2AF56868-26C7-A09E-894D-D0CB26037F85}" type="slidenum">
              <a:t>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A77A210-5EE7-2254-A9CF-A801EC815FFD}" type="slidenum">
              <a:t>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75AEF8E-C0EA-0F19-A4E2-364CA1AC5263}" type="slidenum">
              <a:t>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4813" cy="3084513"/>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T1.x=t2.x =&gt; t1.y=t2.y</a:t>
            </a:r>
          </a:p>
          <a:p>
            <a:pPr marL="215900" indent="0" defTabSz="914400">
              <a:lnSpc>
                <a:spcPct val="100000"/>
              </a:lnSpc>
              <a:buNone/>
              <a:tabLst>
                <a:tab pos="0" algn="l"/>
              </a:tabLst>
            </a:pPr>
            <a:r>
              <a:rPr lang="en-us" sz="2000" cap="none">
                <a:solidFill>
                  <a:srgbClr val="000000"/>
                </a:solidFill>
              </a:rPr>
              <a:t>T1.x!= t1.x =&gt; then no need to check it may or may not be the same value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3706F64D-03DA-5300-94BE-F555B8F062A0}" type="slidenum">
              <a:t>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T1.x=t2.x =&gt; t1.y=t2.y</a:t>
            </a:r>
          </a:p>
          <a:p>
            <a:pPr marL="215900" indent="0" defTabSz="914400">
              <a:lnSpc>
                <a:spcPct val="100000"/>
              </a:lnSpc>
              <a:buNone/>
              <a:tabLst>
                <a:tab pos="0" algn="l"/>
              </a:tabLst>
            </a:pPr>
            <a:r>
              <a:rPr lang="en-us" sz="2000" cap="none">
                <a:solidFill>
                  <a:srgbClr val="000000"/>
                </a:solidFill>
              </a:rPr>
              <a:t>T1.x!= t1.x =&gt; then no need to check it may or may not be the same value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4C79D3BB-F5A1-2C25-EFC1-03709D8F1956}" type="slidenum">
              <a:t>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T1.x=t2.x =&gt; t1.y=t2.y</a:t>
            </a:r>
          </a:p>
          <a:p>
            <a:pPr marL="215900" indent="0" defTabSz="914400">
              <a:lnSpc>
                <a:spcPct val="100000"/>
              </a:lnSpc>
              <a:buNone/>
              <a:tabLst>
                <a:tab pos="0" algn="l"/>
              </a:tabLst>
            </a:pPr>
            <a:r>
              <a:rPr lang="en-us" sz="2000" cap="none">
                <a:solidFill>
                  <a:srgbClr val="000000"/>
                </a:solidFill>
              </a:rPr>
              <a:t>T1.x!= t1.x =&gt; then no need to check it may or may not be the same value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3DB8371A-54D0-EDC1-9E00-A294794E68F7}" type="slidenum">
              <a:t>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T1.x=t2.x =&gt; t1.y=t2.y</a:t>
            </a:r>
          </a:p>
          <a:p>
            <a:pPr marL="215900" indent="0" defTabSz="914400">
              <a:lnSpc>
                <a:spcPct val="100000"/>
              </a:lnSpc>
              <a:buNone/>
              <a:tabLst>
                <a:tab pos="0" algn="l"/>
              </a:tabLst>
            </a:pPr>
            <a:r>
              <a:rPr lang="en-us" sz="2000" cap="none">
                <a:solidFill>
                  <a:srgbClr val="000000"/>
                </a:solidFill>
              </a:rPr>
              <a:t>T1.x!= t1.x =&gt; then no need to check it may or may not be the same value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1B60E4A1-EFF6-3512-B8D8-1947AA964E4C}" type="slidenum">
              <a:t>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000000"/>
                </a:solidFill>
              </a:rPr>
              <a:t>T1.x=t2.x =&gt; t1.y=t2.y</a:t>
            </a:r>
          </a:p>
          <a:p>
            <a:pPr marL="215900" indent="0" defTabSz="914400">
              <a:lnSpc>
                <a:spcPct val="100000"/>
              </a:lnSpc>
              <a:buNone/>
              <a:tabLst>
                <a:tab pos="0" algn="l"/>
              </a:tabLst>
            </a:pPr>
            <a:r>
              <a:rPr lang="en-us" sz="2000" cap="none">
                <a:solidFill>
                  <a:srgbClr val="000000"/>
                </a:solidFill>
              </a:rPr>
              <a:t>T1.x!= t1.x =&gt; then no need to check it may or may not be the same value</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41345F71-3FAC-61A9-E28C-C9FC11C2149C}" type="slidenum">
              <a:t>10</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1722F555-1BFA-7703-B49A-ED56BBD442B8}" type="slidenum">
              <a:t>11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2AB1478A-C4C7-E4B1-8909-32E409477F67}" type="slidenum">
              <a:t>12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22E3B4C1-8FCF-B642-815B-7917FA15772C}" type="slidenum">
              <a:t>13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58187F09-47B5-4D89-FBA0-B1DC31EE0DE4}" type="slidenum">
              <a:t>14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41AA7F3-BDE9-4F51-A7A2-4B04E9EC511E}" type="slidenum">
              <a:t>15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oM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20E5AC2E-60CD-B05A-835D-960FE21375C3}" type="slidenum">
              <a:t>16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5F21C7A1-EFB2-7431-FC99-196489D70A4C}" type="slidenum">
              <a:t>17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i="1" cap="none">
                <a:solidFill>
                  <a:srgbClr val="000000"/>
                </a:solidFill>
                <a:latin typeface="Palatino-Italic" charset="0"/>
                <a:ea typeface="DejaVu Sans" pitchFamily="1" charset="0"/>
                <a:cs typeface="DejaVu Sans" pitchFamily="1" charset="0"/>
              </a:rPr>
              <a:t>A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H</a:t>
            </a:r>
            <a:r>
              <a:rPr lang="en-us" cap="none">
                <a:solidFill>
                  <a:srgbClr val="000000"/>
                </a:solidFill>
                <a:latin typeface="Palatino-Roman" charset="0"/>
                <a:ea typeface="DejaVu Sans" pitchFamily="1" charset="0"/>
                <a:cs typeface="DejaVu Sans" pitchFamily="1" charset="0"/>
              </a:rPr>
              <a:t>. Since </a:t>
            </a:r>
            <a:r>
              <a:rPr lang="en-us" i="1" cap="none">
                <a:solidFill>
                  <a:srgbClr val="000000"/>
                </a:solidFill>
                <a:latin typeface="Palatino-Italic" charset="0"/>
                <a:ea typeface="DejaVu Sans" pitchFamily="1" charset="0"/>
                <a:cs typeface="DejaVu Sans" pitchFamily="1" charset="0"/>
              </a:rPr>
              <a:t>A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B </a:t>
            </a:r>
            <a:r>
              <a:rPr lang="en-us" cap="none">
                <a:solidFill>
                  <a:srgbClr val="000000"/>
                </a:solidFill>
                <a:latin typeface="Palatino-Roman" charset="0"/>
                <a:ea typeface="DejaVu Sans" pitchFamily="1" charset="0"/>
                <a:cs typeface="DejaVu Sans" pitchFamily="1" charset="0"/>
              </a:rPr>
              <a:t>and </a:t>
            </a:r>
            <a:r>
              <a:rPr lang="en-us" i="1" cap="none">
                <a:solidFill>
                  <a:srgbClr val="000000"/>
                </a:solidFill>
                <a:latin typeface="Palatino-Italic" charset="0"/>
                <a:ea typeface="DejaVu Sans" pitchFamily="1" charset="0"/>
                <a:cs typeface="DejaVu Sans" pitchFamily="1" charset="0"/>
              </a:rPr>
              <a:t>B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H </a:t>
            </a:r>
            <a:r>
              <a:rPr lang="en-us" cap="none">
                <a:solidFill>
                  <a:srgbClr val="000000"/>
                </a:solidFill>
                <a:latin typeface="Palatino-Roman" charset="0"/>
                <a:ea typeface="DejaVu Sans" pitchFamily="1" charset="0"/>
                <a:cs typeface="DejaVu Sans" pitchFamily="1" charset="0"/>
              </a:rPr>
              <a:t>hold, we apply the transitivity rule.                     Canonical cover =&gt; a-&gt;b remove a+(set attributes) we need to get b</a:t>
            </a:r>
            <a:endParaRPr lang="en-us" cap="none">
              <a:solidFill>
                <a:srgbClr val="000000"/>
              </a:solidFill>
            </a:endParaRPr>
          </a:p>
          <a:p>
            <a:pPr marL="215900" indent="0" defTabSz="914400">
              <a:lnSpc>
                <a:spcPct val="100000"/>
              </a:lnSpc>
              <a:buNone/>
              <a:tabLst>
                <a:tab pos="0" algn="l"/>
              </a:tabLst>
            </a:pPr>
            <a:endParaRPr lang="en-us" cap="none">
              <a:solidFill>
                <a:srgbClr val="000000"/>
              </a:solidFill>
            </a:endParaRPr>
          </a:p>
          <a:p>
            <a:pPr marL="215900" indent="0" defTabSz="914400">
              <a:lnSpc>
                <a:spcPct val="100000"/>
              </a:lnSpc>
              <a:buNone/>
              <a:tabLst>
                <a:tab pos="0" algn="l"/>
              </a:tabLst>
            </a:pPr>
            <a:r>
              <a:rPr lang="en-us" cap="none">
                <a:solidFill>
                  <a:srgbClr val="000000"/>
                </a:solidFill>
                <a:latin typeface="Palatino-Roman" charset="0"/>
                <a:ea typeface="DejaVu Sans" pitchFamily="1" charset="0"/>
                <a:cs typeface="DejaVu Sans" pitchFamily="1" charset="0"/>
              </a:rPr>
              <a:t>Observe that it was much easier to use Armstrong’s axioms to show that          ac-&gt;d if a remove from c+ you need to get a and vice versa</a:t>
            </a:r>
            <a:endParaRPr lang="en-us" cap="none">
              <a:solidFill>
                <a:srgbClr val="000000"/>
              </a:solidFill>
            </a:endParaRPr>
          </a:p>
          <a:p>
            <a:pPr marL="215900" indent="0" defTabSz="914400">
              <a:lnSpc>
                <a:spcPct val="100000"/>
              </a:lnSpc>
              <a:buNone/>
              <a:tabLst>
                <a:tab pos="0" algn="l"/>
              </a:tabLst>
            </a:pPr>
            <a:r>
              <a:rPr lang="en-us" i="1" cap="none">
                <a:solidFill>
                  <a:srgbClr val="000000"/>
                </a:solidFill>
                <a:latin typeface="Palatino-Italic" charset="0"/>
                <a:ea typeface="DejaVu Sans" pitchFamily="1" charset="0"/>
                <a:cs typeface="DejaVu Sans" pitchFamily="1" charset="0"/>
              </a:rPr>
              <a:t>A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H </a:t>
            </a:r>
            <a:r>
              <a:rPr lang="en-us" cap="none">
                <a:solidFill>
                  <a:srgbClr val="000000"/>
                </a:solidFill>
                <a:latin typeface="Palatino-Roman" charset="0"/>
                <a:ea typeface="DejaVu Sans" pitchFamily="1" charset="0"/>
                <a:cs typeface="DejaVu Sans" pitchFamily="1" charset="0"/>
              </a:rPr>
              <a:t>holds than it was to argue directly from the definitions, as we did</a:t>
            </a:r>
            <a:endParaRPr lang="en-us" cap="none">
              <a:solidFill>
                <a:srgbClr val="000000"/>
              </a:solidFill>
            </a:endParaRPr>
          </a:p>
          <a:p>
            <a:pPr marL="215900" indent="0" defTabSz="914400">
              <a:lnSpc>
                <a:spcPct val="100000"/>
              </a:lnSpc>
              <a:buNone/>
              <a:tabLst>
                <a:tab pos="0" algn="l"/>
              </a:tabLst>
            </a:pPr>
            <a:r>
              <a:rPr lang="en-us" cap="none">
                <a:solidFill>
                  <a:srgbClr val="000000"/>
                </a:solidFill>
                <a:latin typeface="Palatino-Roman" charset="0"/>
                <a:ea typeface="DejaVu Sans" pitchFamily="1" charset="0"/>
                <a:cs typeface="DejaVu Sans" pitchFamily="1" charset="0"/>
              </a:rPr>
              <a:t>earlier in this section.</a:t>
            </a:r>
            <a:endParaRPr lang="en-us" cap="none">
              <a:solidFill>
                <a:srgbClr val="000000"/>
              </a:solidFill>
            </a:endParaRPr>
          </a:p>
          <a:p>
            <a:pPr marL="215900" indent="0" defTabSz="914400">
              <a:lnSpc>
                <a:spcPct val="100000"/>
              </a:lnSpc>
              <a:buNone/>
              <a:tabLst>
                <a:tab pos="0" algn="l"/>
              </a:tabLst>
            </a:pPr>
            <a:r>
              <a:rPr lang="en-us" cap="none">
                <a:solidFill>
                  <a:srgbClr val="00FFFF"/>
                </a:solidFill>
                <a:latin typeface="Palatino-Roman" charset="0"/>
                <a:ea typeface="DejaVu Sans" pitchFamily="1" charset="0"/>
                <a:cs typeface="DejaVu Sans" pitchFamily="1" charset="0"/>
              </a:rPr>
              <a:t>• </a:t>
            </a:r>
            <a:r>
              <a:rPr lang="en-us" i="1" cap="none">
                <a:solidFill>
                  <a:srgbClr val="000000"/>
                </a:solidFill>
                <a:latin typeface="CMTI10" charset="0"/>
                <a:ea typeface="DejaVu Sans" pitchFamily="1" charset="0"/>
                <a:cs typeface="DejaVu Sans" pitchFamily="1" charset="0"/>
              </a:rPr>
              <a:t>CG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CMTI10" charset="0"/>
                <a:ea typeface="DejaVu Sans" pitchFamily="1" charset="0"/>
                <a:cs typeface="DejaVu Sans" pitchFamily="1" charset="0"/>
              </a:rPr>
              <a:t>HI</a:t>
            </a:r>
            <a:r>
              <a:rPr lang="en-us" cap="none">
                <a:solidFill>
                  <a:srgbClr val="000000"/>
                </a:solidFill>
                <a:latin typeface="Palatino-Roman" charset="0"/>
                <a:ea typeface="DejaVu Sans" pitchFamily="1" charset="0"/>
                <a:cs typeface="DejaVu Sans" pitchFamily="1" charset="0"/>
              </a:rPr>
              <a:t>. Since </a:t>
            </a:r>
            <a:r>
              <a:rPr lang="en-us" i="1" cap="none">
                <a:solidFill>
                  <a:srgbClr val="000000"/>
                </a:solidFill>
                <a:latin typeface="CMTI10" charset="0"/>
                <a:ea typeface="DejaVu Sans" pitchFamily="1" charset="0"/>
                <a:cs typeface="DejaVu Sans" pitchFamily="1" charset="0"/>
              </a:rPr>
              <a:t>CG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CMTI10" charset="0"/>
                <a:ea typeface="DejaVu Sans" pitchFamily="1" charset="0"/>
                <a:cs typeface="DejaVu Sans" pitchFamily="1" charset="0"/>
              </a:rPr>
              <a:t>H </a:t>
            </a:r>
            <a:r>
              <a:rPr lang="en-us" cap="none">
                <a:solidFill>
                  <a:srgbClr val="000000"/>
                </a:solidFill>
                <a:latin typeface="Palatino-Roman" charset="0"/>
                <a:ea typeface="DejaVu Sans" pitchFamily="1" charset="0"/>
                <a:cs typeface="DejaVu Sans" pitchFamily="1" charset="0"/>
              </a:rPr>
              <a:t>and </a:t>
            </a:r>
            <a:r>
              <a:rPr lang="en-us" i="1" cap="none">
                <a:solidFill>
                  <a:srgbClr val="000000"/>
                </a:solidFill>
                <a:latin typeface="CMTI10" charset="0"/>
                <a:ea typeface="DejaVu Sans" pitchFamily="1" charset="0"/>
                <a:cs typeface="DejaVu Sans" pitchFamily="1" charset="0"/>
              </a:rPr>
              <a:t>CG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CMTI10" charset="0"/>
                <a:ea typeface="DejaVu Sans" pitchFamily="1" charset="0"/>
                <a:cs typeface="DejaVu Sans" pitchFamily="1" charset="0"/>
              </a:rPr>
              <a:t>I </a:t>
            </a:r>
            <a:r>
              <a:rPr lang="en-us" cap="none">
                <a:solidFill>
                  <a:srgbClr val="000000"/>
                </a:solidFill>
                <a:latin typeface="Palatino-Roman" charset="0"/>
                <a:ea typeface="DejaVu Sans" pitchFamily="1" charset="0"/>
                <a:cs typeface="DejaVu Sans" pitchFamily="1" charset="0"/>
              </a:rPr>
              <a:t>, the union rule implies that </a:t>
            </a:r>
            <a:r>
              <a:rPr lang="en-us" i="1" cap="none">
                <a:solidFill>
                  <a:srgbClr val="000000"/>
                </a:solidFill>
                <a:latin typeface="CMTI10" charset="0"/>
                <a:ea typeface="DejaVu Sans" pitchFamily="1" charset="0"/>
                <a:cs typeface="DejaVu Sans" pitchFamily="1" charset="0"/>
              </a:rPr>
              <a:t>CG </a:t>
            </a:r>
            <a:r>
              <a:rPr lang="en-us" cap="none">
                <a:solidFill>
                  <a:srgbClr val="000000"/>
                </a:solidFill>
                <a:latin typeface="MTSY" charset="0"/>
                <a:ea typeface="DejaVu Sans" pitchFamily="1" charset="0"/>
                <a:cs typeface="DejaVu Sans" pitchFamily="1" charset="0"/>
              </a:rPr>
              <a:t>→</a:t>
            </a:r>
            <a:endParaRPr lang="en-us" cap="none">
              <a:solidFill>
                <a:srgbClr val="000000"/>
              </a:solidFill>
            </a:endParaRPr>
          </a:p>
          <a:p>
            <a:pPr marL="215900" indent="0" defTabSz="914400">
              <a:lnSpc>
                <a:spcPct val="100000"/>
              </a:lnSpc>
              <a:buNone/>
              <a:tabLst>
                <a:tab pos="0" algn="l"/>
              </a:tabLst>
            </a:pPr>
            <a:r>
              <a:rPr lang="en-us" i="1" cap="none">
                <a:solidFill>
                  <a:srgbClr val="000000"/>
                </a:solidFill>
                <a:latin typeface="CMTI10" charset="0"/>
                <a:ea typeface="DejaVu Sans" pitchFamily="1" charset="0"/>
                <a:cs typeface="DejaVu Sans" pitchFamily="1" charset="0"/>
              </a:rPr>
              <a:t>HI </a:t>
            </a:r>
            <a:r>
              <a:rPr lang="en-us" cap="none">
                <a:solidFill>
                  <a:srgbClr val="000000"/>
                </a:solidFill>
                <a:latin typeface="Palatino-Roman" charset="0"/>
                <a:ea typeface="DejaVu Sans" pitchFamily="1" charset="0"/>
                <a:cs typeface="DejaVu Sans" pitchFamily="1" charset="0"/>
              </a:rPr>
              <a:t>.</a:t>
            </a:r>
            <a:endParaRPr lang="en-us" cap="none">
              <a:solidFill>
                <a:srgbClr val="000000"/>
              </a:solidFill>
            </a:endParaRPr>
          </a:p>
          <a:p>
            <a:pPr marL="215900" indent="0" defTabSz="914400">
              <a:lnSpc>
                <a:spcPct val="100000"/>
              </a:lnSpc>
              <a:buNone/>
              <a:tabLst>
                <a:tab pos="0" algn="l"/>
              </a:tabLst>
            </a:pPr>
            <a:r>
              <a:rPr lang="en-us" cap="none">
                <a:solidFill>
                  <a:srgbClr val="00FFFF"/>
                </a:solidFill>
                <a:latin typeface="Palatino-Roman" charset="0"/>
                <a:ea typeface="DejaVu Sans" pitchFamily="1" charset="0"/>
                <a:cs typeface="DejaVu Sans" pitchFamily="1" charset="0"/>
              </a:rPr>
              <a:t>• </a:t>
            </a:r>
            <a:r>
              <a:rPr lang="en-us" i="1" cap="none">
                <a:solidFill>
                  <a:srgbClr val="000000"/>
                </a:solidFill>
                <a:latin typeface="CMTI10" charset="0"/>
                <a:ea typeface="DejaVu Sans" pitchFamily="1" charset="0"/>
                <a:cs typeface="DejaVu Sans" pitchFamily="1" charset="0"/>
              </a:rPr>
              <a:t>AG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I</a:t>
            </a:r>
            <a:r>
              <a:rPr lang="en-us" cap="none">
                <a:solidFill>
                  <a:srgbClr val="000000"/>
                </a:solidFill>
                <a:latin typeface="Palatino-Roman" charset="0"/>
                <a:ea typeface="DejaVu Sans" pitchFamily="1" charset="0"/>
                <a:cs typeface="DejaVu Sans" pitchFamily="1" charset="0"/>
              </a:rPr>
              <a:t>. Since </a:t>
            </a:r>
            <a:r>
              <a:rPr lang="en-us" i="1" cap="none">
                <a:solidFill>
                  <a:srgbClr val="000000"/>
                </a:solidFill>
                <a:latin typeface="Palatino-Italic" charset="0"/>
                <a:ea typeface="DejaVu Sans" pitchFamily="1" charset="0"/>
                <a:cs typeface="DejaVu Sans" pitchFamily="1" charset="0"/>
              </a:rPr>
              <a:t>A</a:t>
            </a:r>
            <a:r>
              <a:rPr lang="en-us" cap="none">
                <a:solidFill>
                  <a:srgbClr val="000000"/>
                </a:solidFill>
                <a:latin typeface="MTSY" charset="0"/>
                <a:ea typeface="DejaVu Sans" pitchFamily="1" charset="0"/>
                <a:cs typeface="DejaVu Sans" pitchFamily="1" charset="0"/>
              </a:rPr>
              <a:t>→</a:t>
            </a:r>
            <a:r>
              <a:rPr lang="en-us" i="1" cap="none">
                <a:solidFill>
                  <a:srgbClr val="000000"/>
                </a:solidFill>
                <a:latin typeface="Palatino-Italic" charset="0"/>
                <a:ea typeface="DejaVu Sans" pitchFamily="1" charset="0"/>
                <a:cs typeface="DejaVu Sans" pitchFamily="1" charset="0"/>
              </a:rPr>
              <a:t>C </a:t>
            </a:r>
            <a:r>
              <a:rPr lang="en-us" cap="none">
                <a:solidFill>
                  <a:srgbClr val="000000"/>
                </a:solidFill>
                <a:latin typeface="Palatino-Roman" charset="0"/>
                <a:ea typeface="DejaVu Sans" pitchFamily="1" charset="0"/>
                <a:cs typeface="DejaVu Sans" pitchFamily="1" charset="0"/>
              </a:rPr>
              <a:t>and </a:t>
            </a:r>
            <a:r>
              <a:rPr lang="en-us" i="1" cap="none">
                <a:solidFill>
                  <a:srgbClr val="000000"/>
                </a:solidFill>
                <a:latin typeface="CMTI10" charset="0"/>
                <a:ea typeface="DejaVu Sans" pitchFamily="1" charset="0"/>
                <a:cs typeface="DejaVu Sans" pitchFamily="1" charset="0"/>
              </a:rPr>
              <a:t>CG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I </a:t>
            </a:r>
            <a:r>
              <a:rPr lang="en-us" cap="none">
                <a:solidFill>
                  <a:srgbClr val="000000"/>
                </a:solidFill>
                <a:latin typeface="Palatino-Roman" charset="0"/>
                <a:ea typeface="DejaVu Sans" pitchFamily="1" charset="0"/>
                <a:cs typeface="DejaVu Sans" pitchFamily="1" charset="0"/>
              </a:rPr>
              <a:t>, the pseudotransitivity rule implies that</a:t>
            </a:r>
            <a:endParaRPr lang="en-us" cap="none">
              <a:solidFill>
                <a:srgbClr val="000000"/>
              </a:solidFill>
            </a:endParaRPr>
          </a:p>
          <a:p>
            <a:pPr marL="215900" indent="0" defTabSz="914400">
              <a:lnSpc>
                <a:spcPct val="100000"/>
              </a:lnSpc>
              <a:buNone/>
              <a:tabLst>
                <a:tab pos="0" algn="l"/>
              </a:tabLst>
            </a:pPr>
            <a:r>
              <a:rPr lang="en-us" i="1" cap="none">
                <a:solidFill>
                  <a:srgbClr val="000000"/>
                </a:solidFill>
                <a:latin typeface="CMTI10" charset="0"/>
                <a:ea typeface="DejaVu Sans" pitchFamily="1" charset="0"/>
                <a:cs typeface="DejaVu Sans" pitchFamily="1" charset="0"/>
              </a:rPr>
              <a:t>AG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I </a:t>
            </a:r>
            <a:r>
              <a:rPr lang="en-us" cap="none">
                <a:solidFill>
                  <a:srgbClr val="000000"/>
                </a:solidFill>
                <a:latin typeface="Palatino-Roman" charset="0"/>
                <a:ea typeface="DejaVu Sans" pitchFamily="1" charset="0"/>
                <a:cs typeface="DejaVu Sans" pitchFamily="1" charset="0"/>
              </a:rPr>
              <a:t>holds.</a:t>
            </a:r>
            <a:endParaRPr lang="en-us" cap="none">
              <a:solidFill>
                <a:srgbClr val="000000"/>
              </a:solidFill>
            </a:endParaRPr>
          </a:p>
          <a:p>
            <a:pPr marL="215900" indent="0" defTabSz="914400">
              <a:lnSpc>
                <a:spcPct val="100000"/>
              </a:lnSpc>
              <a:buNone/>
              <a:tabLst>
                <a:tab pos="0" algn="l"/>
              </a:tabLst>
            </a:pPr>
            <a:r>
              <a:rPr lang="en-us" cap="none">
                <a:solidFill>
                  <a:srgbClr val="000000"/>
                </a:solidFill>
                <a:latin typeface="Palatino-Roman" charset="0"/>
                <a:ea typeface="DejaVu Sans" pitchFamily="1" charset="0"/>
                <a:cs typeface="DejaVu Sans" pitchFamily="1" charset="0"/>
              </a:rPr>
              <a:t>Another way of finding that </a:t>
            </a:r>
            <a:r>
              <a:rPr lang="en-us" i="1" cap="none">
                <a:solidFill>
                  <a:srgbClr val="000000"/>
                </a:solidFill>
                <a:latin typeface="Palatino-Italic" charset="0"/>
                <a:ea typeface="DejaVu Sans" pitchFamily="1" charset="0"/>
                <a:cs typeface="DejaVu Sans" pitchFamily="1" charset="0"/>
              </a:rPr>
              <a:t>AG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I </a:t>
            </a:r>
            <a:r>
              <a:rPr lang="en-us" cap="none">
                <a:solidFill>
                  <a:srgbClr val="000000"/>
                </a:solidFill>
                <a:latin typeface="Palatino-Roman" charset="0"/>
                <a:ea typeface="DejaVu Sans" pitchFamily="1" charset="0"/>
                <a:cs typeface="DejaVu Sans" pitchFamily="1" charset="0"/>
              </a:rPr>
              <a:t>holds is as follows: We use the</a:t>
            </a:r>
            <a:endParaRPr lang="en-us" cap="none">
              <a:solidFill>
                <a:srgbClr val="000000"/>
              </a:solidFill>
            </a:endParaRPr>
          </a:p>
          <a:p>
            <a:pPr marL="215900" indent="0" defTabSz="914400">
              <a:lnSpc>
                <a:spcPct val="100000"/>
              </a:lnSpc>
              <a:buNone/>
              <a:tabLst>
                <a:tab pos="0" algn="l"/>
              </a:tabLst>
            </a:pPr>
            <a:r>
              <a:rPr lang="en-us" cap="none">
                <a:solidFill>
                  <a:srgbClr val="000000"/>
                </a:solidFill>
                <a:latin typeface="Palatino-Roman" charset="0"/>
                <a:ea typeface="DejaVu Sans" pitchFamily="1" charset="0"/>
                <a:cs typeface="DejaVu Sans" pitchFamily="1" charset="0"/>
              </a:rPr>
              <a:t>augmentation rule on </a:t>
            </a:r>
            <a:r>
              <a:rPr lang="en-us" i="1" cap="none">
                <a:solidFill>
                  <a:srgbClr val="000000"/>
                </a:solidFill>
                <a:latin typeface="Palatino-Italic" charset="0"/>
                <a:ea typeface="DejaVu Sans" pitchFamily="1" charset="0"/>
                <a:cs typeface="DejaVu Sans" pitchFamily="1" charset="0"/>
              </a:rPr>
              <a:t>A</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C </a:t>
            </a:r>
            <a:r>
              <a:rPr lang="en-us" cap="none">
                <a:solidFill>
                  <a:srgbClr val="000000"/>
                </a:solidFill>
                <a:latin typeface="Palatino-Roman" charset="0"/>
                <a:ea typeface="DejaVu Sans" pitchFamily="1" charset="0"/>
                <a:cs typeface="DejaVu Sans" pitchFamily="1" charset="0"/>
              </a:rPr>
              <a:t>to infer </a:t>
            </a:r>
            <a:r>
              <a:rPr lang="en-us" i="1" cap="none">
                <a:solidFill>
                  <a:srgbClr val="000000"/>
                </a:solidFill>
                <a:latin typeface="Palatino-Italic" charset="0"/>
                <a:ea typeface="DejaVu Sans" pitchFamily="1" charset="0"/>
                <a:cs typeface="DejaVu Sans" pitchFamily="1" charset="0"/>
              </a:rPr>
              <a:t>AG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CG</a:t>
            </a:r>
            <a:r>
              <a:rPr lang="en-us" cap="none">
                <a:solidFill>
                  <a:srgbClr val="000000"/>
                </a:solidFill>
                <a:latin typeface="Palatino-Roman" charset="0"/>
                <a:ea typeface="DejaVu Sans" pitchFamily="1" charset="0"/>
                <a:cs typeface="DejaVu Sans" pitchFamily="1" charset="0"/>
              </a:rPr>
              <a:t>. Applying the transitivity</a:t>
            </a:r>
            <a:endParaRPr lang="en-us" cap="none">
              <a:solidFill>
                <a:srgbClr val="000000"/>
              </a:solidFill>
            </a:endParaRPr>
          </a:p>
          <a:p>
            <a:pPr marL="215900" indent="0" defTabSz="914400">
              <a:lnSpc>
                <a:spcPct val="100000"/>
              </a:lnSpc>
              <a:buNone/>
              <a:tabLst>
                <a:tab pos="0" algn="l"/>
              </a:tabLst>
            </a:pPr>
            <a:r>
              <a:rPr lang="en-us" cap="none">
                <a:solidFill>
                  <a:srgbClr val="000000"/>
                </a:solidFill>
                <a:latin typeface="Palatino-Roman" charset="0"/>
                <a:ea typeface="DejaVu Sans" pitchFamily="1" charset="0"/>
                <a:cs typeface="DejaVu Sans" pitchFamily="1" charset="0"/>
              </a:rPr>
              <a:t>rule to this dependency and </a:t>
            </a:r>
            <a:r>
              <a:rPr lang="en-us" i="1" cap="none">
                <a:solidFill>
                  <a:srgbClr val="000000"/>
                </a:solidFill>
                <a:latin typeface="Palatino-Italic" charset="0"/>
                <a:ea typeface="DejaVu Sans" pitchFamily="1" charset="0"/>
                <a:cs typeface="DejaVu Sans" pitchFamily="1" charset="0"/>
              </a:rPr>
              <a:t>CG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I</a:t>
            </a:r>
            <a:r>
              <a:rPr lang="en-us" cap="none">
                <a:solidFill>
                  <a:srgbClr val="000000"/>
                </a:solidFill>
                <a:latin typeface="Palatino-Roman" charset="0"/>
                <a:ea typeface="DejaVu Sans" pitchFamily="1" charset="0"/>
                <a:cs typeface="DejaVu Sans" pitchFamily="1" charset="0"/>
              </a:rPr>
              <a:t>, we infer </a:t>
            </a:r>
            <a:r>
              <a:rPr lang="en-us" i="1" cap="none">
                <a:solidFill>
                  <a:srgbClr val="000000"/>
                </a:solidFill>
                <a:latin typeface="Palatino-Italic" charset="0"/>
                <a:ea typeface="DejaVu Sans" pitchFamily="1" charset="0"/>
                <a:cs typeface="DejaVu Sans" pitchFamily="1" charset="0"/>
              </a:rPr>
              <a:t>AG </a:t>
            </a:r>
            <a:r>
              <a:rPr lang="en-us" cap="none">
                <a:solidFill>
                  <a:srgbClr val="000000"/>
                </a:solidFill>
                <a:latin typeface="MTSY" charset="0"/>
                <a:ea typeface="DejaVu Sans" pitchFamily="1" charset="0"/>
                <a:cs typeface="DejaVu Sans" pitchFamily="1" charset="0"/>
              </a:rPr>
              <a:t>→ </a:t>
            </a:r>
            <a:r>
              <a:rPr lang="en-us" i="1" cap="none">
                <a:solidFill>
                  <a:srgbClr val="000000"/>
                </a:solidFill>
                <a:latin typeface="Palatino-Italic" charset="0"/>
                <a:ea typeface="DejaVu Sans" pitchFamily="1" charset="0"/>
                <a:cs typeface="DejaVu Sans" pitchFamily="1" charset="0"/>
              </a:rPr>
              <a:t>I </a:t>
            </a:r>
            <a:r>
              <a:rPr lang="en-us" cap="none">
                <a:solidFill>
                  <a:srgbClr val="000000"/>
                </a:solidFill>
                <a:latin typeface="Palatino-Roman" charset="0"/>
                <a:ea typeface="DejaVu Sans" pitchFamily="1" charset="0"/>
                <a:cs typeface="DejaVu Sans" pitchFamily="1" charset="0"/>
              </a:rPr>
              <a:t>.</a:t>
            </a: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1C6E2809-47F1-3BDE-BFD6-B18B669849E4}" type="slidenum">
              <a:t>18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Y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r>
              <a:rPr b="1" cap="none"/>
              <a:t>Find super key and Candidate key</a:t>
            </a:r>
          </a:p>
          <a:p>
            <a:r>
              <a:rPr b="1" cap="none"/>
              <a:t>Prime attributes</a:t>
            </a: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614FA476-388C-1A52-C2F7-CE07EAB9349B}" type="slidenum">
              <a:t>19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1CCC1CB3-FDF1-99EA-BF74-0BBF523A495E}" type="slidenum">
              <a:t>20</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pPr marL="195580" indent="-195580">
              <a:buAutoNum type="arabicPeriod"/>
            </a:pPr>
            <a:r>
              <a:t>Remove trivial F.D  //// Example :- </a:t>
            </a:r>
            <a:r>
              <a:rPr lang="en-us" sz="1000" u="sng" cap="none">
                <a:hlinkClick r:id="rId4"/>
              </a:rPr>
              <a:t>https://www.youtube.com/watch?v=o0GQQFu-5C0</a:t>
            </a:r>
          </a:p>
          <a:p>
            <a:pPr marL="195580" indent="-195580">
              <a:buAutoNum type="arabicPeriod"/>
            </a:pPr>
            <a:r>
              <a:t>Answe : -&gt; B-&gt;A , AD-&gt;C ,C-&gt;B and C-&gt;D</a:t>
            </a: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297EDD60-2EC4-2B2B-8AC6-D87E93887C8D}" type="slidenum">
              <a:t>21</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CF0FBA8-E6E1-A50D-AF48-1058B5065945}" type="slidenum">
              <a:t>22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c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0DA9E411-5FE0-FC12-AE11-A947AA5F58FC}" type="slidenum">
              <a:t>23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3BEFD6D1-9FD6-BA20-9857-697598196E3C}" type="slidenum">
              <a:t>24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I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790C1F07-4994-59E9-DAB4-BFBC51FA2CEA}" type="slidenum">
              <a:t>26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10E587E3-ADFD-B071-B35D-5B24C913450E}" type="slidenum">
              <a:t>27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70CC2555-1B9D-99D3-D374-ED866B3A25B8}" type="slidenum">
              <a:t>28</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4A1BBBC0-8EA7-4E4D-E9A3-7818F5ED1F2D}" type="slidenum">
              <a:t>29</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24520A15-5BC9-07FC-87EA-ADA944A471F8}" type="slidenum">
              <a:t>30</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68C6C180-CE85-9337-CB7E-38628F303D6D}" type="slidenum">
              <a:t>32</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172A5ABD-F3FA-7FAC-B492-05F914DC4250}" type="slidenum">
              <a:t>33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6E027594-DA83-5783-CDBA-2CD63BF43B79}" type="slidenum">
              <a:t>34</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D1D5DB"/>
                </a:solidFill>
                <a:latin typeface="Söhne" charset="0"/>
                <a:ea typeface="DejaVu Sans" pitchFamily="1" charset="0"/>
                <a:cs typeface="DejaVu Sans" pitchFamily="1" charset="0"/>
              </a:rPr>
              <a:t>Atomic value that cannot be further divided or decomposed into smaller parts.</a:t>
            </a:r>
            <a:endParaRPr lang="en-us" sz="2000"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3381C4C3-8DDE-D432-9039-7B678A77662E}" type="slidenum">
              <a:t>35</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oAT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AgHAAD2JQAAAhoAABAAAAAmAAAACAAAAAEPAACAHwAA"/>
              </a:ext>
            </a:extLst>
          </p:cNvSpPr>
          <p:nvPr>
            <p:ph type="sldImg"/>
          </p:nvPr>
        </p:nvSpPr>
        <p:spPr>
          <a:xfrm>
            <a:off x="685800" y="1143000"/>
            <a:ext cx="5485130" cy="3084830"/>
          </a:xfrm>
          <a:prstGeom prst="rect">
            <a:avLst/>
          </a:prstGeom>
          <a:ln>
            <a:noFill/>
          </a:ln>
        </p:spPr>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2JQAANjEAABAAAAAmAAAACAAAAL8fAAD/HwAA"/>
              </a:ext>
            </a:extLst>
          </p:cNvSpPr>
          <p:nvPr>
            <p:ph type="body"/>
          </p:nvPr>
        </p:nvSpPr>
        <p:spPr>
          <a:xfrm>
            <a:off x="685800" y="4400550"/>
            <a:ext cx="5485130" cy="3599180"/>
          </a:xfrm>
          <a:prstGeom prst="rect">
            <a:avLst/>
          </a:prstGeom>
          <a:noFill/>
          <a:ln>
            <a:noFill/>
          </a:ln>
        </p:spPr>
        <p:txBody>
          <a:bodyPr vert="horz" wrap="square" lIns="0" tIns="0" rIns="0" bIns="0" numCol="1" spcCol="215900" anchor="t">
            <a:prstTxWarp prst="textNoShape">
              <a:avLst/>
            </a:prstTxWarp>
          </a:bodyPr>
          <a:lstStyle/>
          <a:p>
            <a:pPr marL="215900" indent="0" defTabSz="914400">
              <a:lnSpc>
                <a:spcPct val="100000"/>
              </a:lnSpc>
              <a:buNone/>
              <a:tabLst>
                <a:tab pos="0" algn="l"/>
              </a:tabLst>
            </a:pPr>
            <a:r>
              <a:rPr lang="en-us" sz="2000" cap="none">
                <a:solidFill>
                  <a:srgbClr val="D1D5DB"/>
                </a:solidFill>
                <a:latin typeface="Söhne" charset="0"/>
                <a:ea typeface="DejaVu Sans" pitchFamily="1" charset="0"/>
                <a:cs typeface="DejaVu Sans" pitchFamily="1" charset="0"/>
              </a:rPr>
              <a:t>Atomic value that cannot be further divided or decomposed into smaller parts.</a:t>
            </a:r>
            <a:endParaRPr lang="en-us" sz="2000"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rKgAAPjgAABAAAAAmAAAACAAAAL+fAAD/HwAA"/>
              </a:ext>
            </a:extLst>
          </p:cNvSpPr>
          <p:nvPr>
            <p:ph type="sldNum" idx="12"/>
          </p:nvPr>
        </p:nvSpPr>
        <p:spPr>
          <a:xfrm>
            <a:off x="3884930" y="8685530"/>
            <a:ext cx="2969895" cy="457200"/>
          </a:xfrm>
          <a:prstGeom prst="rect">
            <a:avLst/>
          </a:prstGeom>
          <a:noFill/>
          <a:ln>
            <a:noFill/>
          </a:ln>
        </p:spPr>
        <p:txBody>
          <a:bodyPr vert="horz" wrap="square" lIns="0" tIns="0" rIns="0" bIns="0" numCol="1" spcCol="215900" anchor="b">
            <a:prstTxWarp prst="textNoShape">
              <a:avLst/>
            </a:prstTxWarp>
          </a:bodyPr>
          <a:lstStyle>
            <a:lvl1pPr indent="0" algn="r" defTabSz="914400">
              <a:lnSpc>
                <a:spcPct val="100000"/>
              </a:lnSpc>
              <a:buNone/>
              <a:tabLst>
                <a:tab pos="0" algn="l"/>
              </a:tabLst>
              <a:defRPr lang="en-us" sz="1200" b="0" strike="noStrike" cap="none" spc="0">
                <a:solidFill>
                  <a:srgbClr val="000000"/>
                </a:solidFill>
                <a:latin typeface="Times New Roman" pitchFamily="1" charset="0"/>
                <a:ea typeface="DejaVu Sans" pitchFamily="1" charset="0"/>
                <a:cs typeface="DejaVu Sans" pitchFamily="1" charset="0"/>
              </a:defRPr>
            </a:lvl1pPr>
          </a:lstStyle>
          <a:p>
            <a:pPr indent="0" algn="r" defTabSz="914400">
              <a:lnSpc>
                <a:spcPct val="100000"/>
              </a:lnSpc>
              <a:buNone/>
              <a:tabLst>
                <a:tab pos="0" algn="l"/>
              </a:tabLst>
              <a:defRPr lang="en-us"/>
            </a:pPr>
            <a:fld id="{02A2A854-1AEF-F75E-A11A-EC0BE65457B9}" type="slidenum">
              <a:t>36</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39F73D67-29D4-A2CB-9A4F-DF9E73016C8A}" type="slidenum">
              <a:t>37</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OAAAAAAAA"/>
              </a:ext>
            </a:extLst>
          </p:cNvSpPr>
          <p:nvPr>
            <p:ph type="sldImg"/>
          </p:nvPr>
        </p:nvSpPr>
        <p:spPr>
          <a:xfrm>
            <a:off x="215900" y="812800"/>
            <a:ext cx="7127240" cy="4008755"/>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OAAAAAAAA"/>
              </a:ext>
            </a:extLst>
          </p:cNvSpPr>
          <p:nvPr>
            <p:ph type="body" idx="1"/>
          </p:nvPr>
        </p:nvSpPr>
        <p:spPr>
          <a:xfrm>
            <a:off x="756285" y="5078730"/>
            <a:ext cx="6047105" cy="4810760"/>
          </a:xfrm>
        </p:spPr>
        <p:txBody>
          <a:bodyPr/>
          <a:lstStyle/>
          <a:p>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OAAAAAAAA"/>
              </a:ext>
            </a:extLst>
          </p:cNvSpPr>
          <p:nvPr>
            <p:ph type="sldNum" sz="quarter" idx="12"/>
          </p:nvPr>
        </p:nvSpPr>
        <p:spPr>
          <a:xfrm>
            <a:off x="4279265" y="10157460"/>
            <a:ext cx="3280410" cy="534035"/>
          </a:xfrm>
        </p:spPr>
        <p:txBody>
          <a:bodyPr/>
          <a:lstStyle/>
          <a:p>
            <a:pPr>
              <a:defRPr lang="en-us"/>
            </a:pPr>
            <a:fld id="{7A59C93C-7297-0C3F-D9E1-846A87AF2FD1}" type="slidenum">
              <a:t>38</a:t>
            </a:fld>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97154FB-B584-24A2-CAC9-43F71A873C16}"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B6DF5DD-93C6-3803-88D5-6556BB9B7E30}"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617AD30-7ECB-425B-85AF-880EE3E173DD}"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C9019D0-9EE1-C5EF-AF28-68BA5766593D}"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DD9864B-05B0-8C70-FE61-F325C82F08A6}"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68F19A7-E9EB-DAEF-A537-1FBA5779534A}"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D6D0F14-5A90-38F9-DED5-ACAC419B28F9}"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3E2E678-36EE-B710-A05A-C045A8145695}"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521A89B-D598-745E-D699-230BE6D72076}"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438079A-D4D9-6DF1-9780-22A449CE6177}"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9BC0386-C8C4-E9F5-8A04-3EA04D4A7C6B}"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4B2D652-1C99-E720-D70A-EA75984421BF}"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2F518E4-AAEF-A0EE-A14D-5CBB56035709}"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2E2BF88-C6BF-B749-F15A-301CF1140765}"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3F27796-D88E-A781-C04A-2ED43904367B}"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36F6EC9-87CE-3A98-80D7-71CD20997624}"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1AFCD57-19BC-FA3B-F217-EF6E835904BA}"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3913EE6-A8EE-C4C8-A029-5E9D7067560B}"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C861A5D-13D1-D3EC-9F3E-E5B9547069B0}"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5C4F204-4A98-9104-D67C-BC51BC3220E9}"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24B7163-2DFF-1E87-B1F3-DBD23FBD478E}"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I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kU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DEACAB5-FBB0-BF3C-FE52-0D69841C0858}"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1C74335-7BAC-92B5-E27F-8DE00D3114D8}"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D9BE880-CED0-CE1E-9E23-384BA66D686D}"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2870913-5DEF-D2FF-A13F-ABAA477157FE}"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5E021C9-8798-B5D7-D658-71826F162024}"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4DF08A9-E7C9-8AFE-8767-11AB46297144}"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4396559-17D9-6C93-9781-E1C62BCF61B4}"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AE7D8DD-93F7-B22E-B95F-657B96114F30}"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ED3464B-05A3-86B0-ED6B-F3E508251BA6}"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02871DA-94CD-7D87-8390-62D23FDE7537}"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0786F3A-74ED-2D99-A3C0-82CC218E55D7}"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AE6468E-C0F7-B3B0-B95E-36E508104F63}"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E871189-C7D3-D2E7-9D3F-31B25F716B64}"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78A6E5D-13AA-DF98-E432-E5CD207C12B0}"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wQAAD/HwAA"/>
              </a:ext>
            </a:extLst>
          </p:cNvSpPr>
          <p:nvPr>
            <p:ph type="title"/>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Db2Q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8D66CFA-B4B5-839A-FB6E-42CF22200D17}"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C293005-4B91-7CC6-DF91-BD937EDF29E8}" type="slidenum">
              <a:t>‹#›</a:t>
            </a:fld>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type="tx" preserve="1">
  <p:cSld name="Title Slide">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wQAAD/HwAA"/>
              </a:ext>
            </a:extLst>
          </p:cNvSpPr>
          <p:nvPr>
            <p:ph type="subTitle" idx="1"/>
          </p:nvPr>
        </p:nvSpPr>
        <p:spPr>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D8D8DA3-EDA0-D87B-EE35-1B2EC37B184E}"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DwQAAD/HwAA"/>
              </a:ext>
            </a:extLst>
          </p:cNvSpPr>
          <p:nvPr>
            <p:ph idx="1"/>
          </p:nvPr>
        </p:nvSpPr>
        <p:spPr>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6A263BAB-E587-73CD-C99E-139875D03F46}" type="slidenum">
              <a:t>‹#›</a:t>
            </a:fld>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05EE126-68DD-0B17-93E6-9E42AFA865CB}"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type="titleOnly" preserve="1">
  <p:cSld name="Title Only">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1F21DB6-F8BC-A7EB-F24A-0EBE5304045B}"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ViIAABAAAAAmAAAACAAAAL0QAAD/HwAA"/>
              </a:ext>
            </a:extLst>
          </p:cNvSpPr>
          <p:nvPr>
            <p:ph type="subTitle" idx="1"/>
          </p:nvPr>
        </p:nvSpPr>
        <p:spPr>
          <a:xfrm>
            <a:off x="609600" y="273685"/>
            <a:ext cx="10972165" cy="5307965"/>
          </a:xfrm>
          <a:noFill/>
          <a:ln>
            <a:noFill/>
          </a:ln>
        </p:spPr>
        <p:txBody>
          <a:bodyPr vert="horz" wrap="square" lIns="0" tIns="0" rIns="0" bIns="0" numCol="1" spcCol="215900" anchor="ctr">
            <a:prstTxWarp prst="textNoShape">
              <a:avLst/>
            </a:prstTxWarp>
          </a:bodyPr>
          <a:lstStyle/>
          <a:p>
            <a:pPr algn="ct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2D9E3D48-06C0-CBCB-8E26-F09E736878A5}" type="slidenum">
              <a:t>‹#›</a:t>
            </a:fld>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type="twoObjAndObj" preserve="1">
  <p:cSld name="Title, 2 Content and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ViIAABAAAAAmAAAACAAAAD0QAAD/HwAA"/>
              </a:ext>
            </a:extLst>
          </p:cNvSpPr>
          <p:nvPr>
            <p:ph idx="1"/>
          </p:nvPr>
        </p:nvSpPr>
        <p:spPr>
          <a:xfrm>
            <a:off x="623189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43BE87F9-B7AE-EB71-E006-4124C9481614}"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ViIAABAAAAAmAAAACAAAAD0QAAD/HwAA"/>
              </a:ext>
            </a:extLst>
          </p:cNvSpPr>
          <p:nvPr>
            <p:ph idx="1"/>
          </p:nvPr>
        </p:nvSpPr>
        <p:spPr>
          <a:xfrm>
            <a:off x="609600" y="1604645"/>
            <a:ext cx="5354320" cy="397700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74636A84-CA99-369C-D7DB-3CC924952169}"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118882C2-8CFC-DD74-B230-7A21CC7E442F}" type="slidenum">
              <a:t>‹#›</a:t>
            </a:fld>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ihUAABAAAAAmAAAACAAAAD0QAAD/HwAA"/>
              </a:ext>
            </a:extLst>
          </p:cNvSpPr>
          <p:nvPr>
            <p:ph idx="1"/>
          </p:nvPr>
        </p:nvSpPr>
        <p:spPr>
          <a:xfrm>
            <a:off x="609600" y="160464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A/RwAAUiIAABAAAAAmAAAACAAAAD0QAAD/HwAA"/>
              </a:ext>
            </a:extLst>
          </p:cNvSpPr>
          <p:nvPr>
            <p:ph idx="1"/>
          </p:nvPr>
        </p:nvSpPr>
        <p:spPr>
          <a:xfrm>
            <a:off x="609600" y="3682365"/>
            <a:ext cx="1097216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54EB6A1F-51B9-BE9C-F753-A7C9241D01F2}" type="slidenum">
              <a:t>‹#›</a:t>
            </a:fld>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CwJAAAihUAABAAAAAmAAAACAAAAD0QAAD/HwAA"/>
              </a:ext>
            </a:extLst>
          </p:cNvSpPr>
          <p:nvPr>
            <p:ph idx="1"/>
          </p:nvPr>
        </p:nvSpPr>
        <p:spPr>
          <a:xfrm>
            <a:off x="60960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Db2Q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N8JAABGRwAAihUAABAAAAAmAAAACAAAAD0QAAD/HwAA"/>
              </a:ext>
            </a:extLst>
          </p:cNvSpPr>
          <p:nvPr>
            <p:ph idx="1"/>
          </p:nvPr>
        </p:nvSpPr>
        <p:spPr>
          <a:xfrm>
            <a:off x="6231890" y="160464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CwJAAAUiIAABAAAAAmAAAACAAAAD0QAAD/HwAA"/>
              </a:ext>
            </a:extLst>
          </p:cNvSpPr>
          <p:nvPr>
            <p:ph idx="1"/>
          </p:nvPr>
        </p:nvSpPr>
        <p:spPr>
          <a:xfrm>
            <a:off x="60960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iYAAKcWAABGRwAAUiIAABAAAAAmAAAACAAAAD0QAAD/HwAA"/>
              </a:ext>
            </a:extLst>
          </p:cNvSpPr>
          <p:nvPr>
            <p:ph idx="1"/>
          </p:nvPr>
        </p:nvSpPr>
        <p:spPr>
          <a:xfrm>
            <a:off x="6231890" y="3682365"/>
            <a:ext cx="535432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37778205-4BDA-2274-94CF-BD21CC8162E8}" type="slidenum">
              <a:t>‹#›</a:t>
            </a:fld>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type="blank" preserve="1">
  <p:cSld name="Title, 6 Content">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D0QAAD/HwAA"/>
              </a:ext>
            </a:extLst>
          </p:cNvSpPr>
          <p:nvPr>
            <p:ph type="title"/>
          </p:nvPr>
        </p:nvSpPr>
        <p:spPr>
          <a:xfrm>
            <a:off x="609600" y="273685"/>
            <a:ext cx="10972165" cy="1144905"/>
          </a:xfrm>
          <a:noFill/>
          <a:ln>
            <a:noFill/>
          </a:ln>
        </p:spPr>
        <p:txBody>
          <a:bodyPr vert="horz" wrap="square" lIns="0" tIns="0" rIns="0" bIns="0" numCol="1" spcCol="215900" anchor="ctr">
            <a:prstTxWarp prst="textNoShape">
              <a:avLst/>
            </a:prstTxWarp>
          </a:bodyPr>
          <a:lstStyle/>
          <a:p>
            <a:pPr indent="0" algn="ctr">
              <a:buNone/>
            </a:pPr>
            <a:endParaRPr lang="en-us" cap="none">
              <a:solidFill>
                <a:srgbClr val="000000"/>
              </a:solidFill>
            </a:endParaRP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B8GQAAihUAABAAAAAmAAAACAAAAD0QAAD/HwAA"/>
              </a:ext>
            </a:extLst>
          </p:cNvSpPr>
          <p:nvPr>
            <p:ph idx="6"/>
          </p:nvPr>
        </p:nvSpPr>
        <p:spPr>
          <a:xfrm>
            <a:off x="609600"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N8JAABOMAAAihUAABAAAAAmAAAACAAAAD0QAAD/HwAA"/>
              </a:ext>
            </a:extLst>
          </p:cNvSpPr>
          <p:nvPr>
            <p:ph idx="5"/>
          </p:nvPr>
        </p:nvSpPr>
        <p:spPr>
          <a:xfrm>
            <a:off x="4319905" y="160464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N8JAAAhRwAAihUAABAAAAAmAAAACAAAAD0QAAD/HwAA"/>
              </a:ext>
            </a:extLst>
          </p:cNvSpPr>
          <p:nvPr>
            <p:ph idx="4"/>
          </p:nvPr>
        </p:nvSpPr>
        <p:spPr>
          <a:xfrm>
            <a:off x="8029575" y="160464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cWAAB8GQAAUiIAABAAAAAmAAAACAAAAD0QAAD/HwAA"/>
              </a:ext>
            </a:extLst>
          </p:cNvSpPr>
          <p:nvPr>
            <p:ph idx="3"/>
          </p:nvPr>
        </p:nvSpPr>
        <p:spPr>
          <a:xfrm>
            <a:off x="609600"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7" name="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xoAAKcWAABOMAAAUiIAABAAAAAmAAAACAAAAD0QAAD/HwAA"/>
              </a:ext>
            </a:extLst>
          </p:cNvSpPr>
          <p:nvPr>
            <p:ph idx="2"/>
          </p:nvPr>
        </p:nvSpPr>
        <p:spPr>
          <a:xfrm>
            <a:off x="4319905" y="3682365"/>
            <a:ext cx="3532505"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8" name="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ZTEAAKcWAAAhRwAAUiIAABAAAAAmAAAACAAAAD0QAAD/HwAA"/>
              </a:ext>
            </a:extLst>
          </p:cNvSpPr>
          <p:nvPr>
            <p:ph idx="1"/>
          </p:nvPr>
        </p:nvSpPr>
        <p:spPr>
          <a:xfrm>
            <a:off x="8029575" y="3682365"/>
            <a:ext cx="3533140" cy="1896745"/>
          </a:xfrm>
          <a:noFill/>
          <a:ln>
            <a:noFill/>
          </a:ln>
        </p:spPr>
        <p:txBody>
          <a:bodyPr vert="horz" wrap="square" lIns="0" tIns="0" rIns="0" bIns="0" numCol="1" spcCol="215900" anchor="t">
            <a:prstTxWarp prst="textNoShape">
              <a:avLst/>
            </a:prstTxWarp>
          </a:bodyPr>
          <a:lstStyle/>
          <a:p>
            <a:pPr indent="0">
              <a:spcBef>
                <a:spcPts val="1415"/>
              </a:spcBef>
              <a:buNone/>
            </a:pPr>
            <a:endParaRPr lang="en-us" cap="none">
              <a:solidFill>
                <a:srgbClr val="000000"/>
              </a:solidFill>
            </a:endParaRPr>
          </a:p>
        </p:txBody>
      </p:sp>
      <p:sp>
        <p:nvSpPr>
          <p:cNvPr id="9" name="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AAAAAAAAAAA"/>
              </a:ext>
            </a:extLst>
          </p:cNvSpPr>
          <p:nvPr>
            <p:ph type="ftr" idx="11"/>
          </p:nvPr>
        </p:nvSpPr>
        <p:spPr/>
        <p:txBody>
          <a:bodyPr/>
          <a:lstStyle/>
          <a:p>
            <a:pPr>
              <a:defRPr lang="en-us"/>
            </a:pPr>
            <a:r>
              <a:t>Footer</a:t>
            </a:r>
          </a:p>
        </p:txBody>
      </p:sp>
      <p:sp>
        <p:nvSpPr>
          <p:cNvPr id="10" name="PlaceHolder 9"/>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AAAAAAAAAAA"/>
              </a:ext>
            </a:extLst>
          </p:cNvSpPr>
          <p:nvPr>
            <p:ph type="sldNum" idx="12"/>
          </p:nvPr>
        </p:nvSpPr>
        <p:spPr/>
        <p:txBody>
          <a:bodyPr/>
          <a:lstStyle/>
          <a:p>
            <a:pPr>
              <a:defRPr lang="en-us"/>
            </a:pPr>
            <a:fld id="{0D8D87EA-A4E0-D871-AE35-5224C97B5807}" type="slidenum">
              <a:t>‹#›</a:t>
            </a:fld>
            <a:endParaRPr/>
          </a:p>
        </p:txBody>
      </p:sp>
      <p:sp>
        <p:nvSpPr>
          <p:cNvPr id="11" name="PlaceHolder 10"/>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AAAAAAAAAAA"/>
              </a:ext>
            </a:extLst>
          </p:cNvSpPr>
          <p:nvPr>
            <p:ph type="dt" idx="10"/>
          </p:nvPr>
        </p:nvSpPr>
        <p:spPr/>
        <p:txBody>
          <a:bodyPr/>
          <a:lstStyle/>
          <a:p>
            <a:pPr>
              <a:defRPr lang="en-us"/>
            </a:pPr>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0170" tIns="45085" rIns="90170" bIns="45085"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M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658090AA-E488-D566-C638-1233DE763047}"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Q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0170" tIns="45085" rIns="90170" bIns="45085"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44E36951-1FA9-B69F-E75B-E9CA271511BC}"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0170" tIns="45085" rIns="90170" bIns="45085"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4D8E609C-D2A0-DB96-EE36-24C32E781871}"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ggAABAAAAAmAAAACAAAAL8fAAD/HwAA"/>
              </a:ext>
            </a:extLst>
          </p:cNvSpPr>
          <p:nvPr>
            <p:ph type="title"/>
          </p:nvPr>
        </p:nvSpPr>
        <p:spPr>
          <a:xfrm>
            <a:off x="609600" y="273685"/>
            <a:ext cx="10972165" cy="1144905"/>
          </a:xfrm>
          <a:prstGeom prst="rect">
            <a:avLst/>
          </a:prstGeom>
          <a:noFill/>
          <a:ln>
            <a:noFill/>
          </a:ln>
        </p:spPr>
        <p:txBody>
          <a:bodyPr vert="horz" wrap="square" lIns="0" tIns="0" rIns="0" bIns="0" numCol="1" spcCol="215900" anchor="ctr">
            <a:prstTxWarp prst="textNoShape">
              <a:avLst/>
            </a:prstTxWarp>
          </a:bodyPr>
          <a:lstStyle/>
          <a:p>
            <a:pPr indent="0" algn="ctr">
              <a:buNone/>
            </a:pPr>
            <a:r>
              <a:rPr lang="en-us" cap="none">
                <a:solidFill>
                  <a:srgbClr val="000000"/>
                </a:solidFill>
              </a:rPr>
              <a:t>Click to edit the title text format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8BAAA/RwAAuQgAABAAAAAmAAAACAAAAL8fAAD/HwAA"/>
              </a:ext>
            </a:extLst>
          </p:cNvSpPr>
          <p:nvPr>
            <p:ph type="title"/>
          </p:nvPr>
        </p:nvSpPr>
        <p:spPr>
          <a:xfrm>
            <a:off x="609600" y="273685"/>
            <a:ext cx="10972165" cy="1144270"/>
          </a:xfrm>
          <a:prstGeom prst="rect">
            <a:avLst/>
          </a:prstGeom>
          <a:noFill/>
          <a:ln>
            <a:noFill/>
          </a:ln>
        </p:spPr>
        <p:txBody>
          <a:bodyPr vert="horz" wrap="square" lIns="0" tIns="0" rIns="0" bIns="0" numCol="1" spcCol="215900" anchor="ctr">
            <a:prstTxWarp prst="textNoShape">
              <a:avLst/>
            </a:prstTxWarp>
          </a:bodyPr>
          <a:lstStyle/>
          <a:p>
            <a:pPr indent="0">
              <a:buNone/>
            </a:pPr>
            <a:r>
              <a:rPr lang="en-us" cap="none">
                <a:solidFill>
                  <a:srgbClr val="000000"/>
                </a:solidFill>
              </a:rPr>
              <a:t>Click to edit the title text format</a:t>
            </a:r>
          </a:p>
        </p:txBody>
      </p:sp>
      <p:sp>
        <p:nvSpPr>
          <p:cNvPr id="3" name="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mMgAAVykAABAAAAAmAAAACAAAAL+fAAD/HwAA"/>
              </a:ext>
            </a:extLst>
          </p:cNvSpPr>
          <p:nvPr>
            <p:ph type="ftr" idx="3"/>
          </p:nvPr>
        </p:nvSpPr>
        <p:spPr>
          <a:xfrm>
            <a:off x="4038600" y="6356350"/>
            <a:ext cx="4113530" cy="363855"/>
          </a:xfrm>
          <a:prstGeom prst="rect">
            <a:avLst/>
          </a:prstGeom>
          <a:noFill/>
          <a:ln>
            <a:noFill/>
          </a:ln>
        </p:spPr>
        <p:txBody>
          <a:bodyPr vert="horz" wrap="square" lIns="90170" tIns="45085" rIns="90170" bIns="45085" numCol="1" spcCol="215900" anchor="ctr">
            <a:prstTxWarp prst="textNoShape">
              <a:avLst/>
            </a:prstTxWarp>
          </a:bodyPr>
          <a:lstStyle>
            <a:lvl1pPr indent="0" algn="ctr" defTabSz="914400">
              <a:lnSpc>
                <a:spcPct val="100000"/>
              </a:lnSpc>
              <a:buNone/>
              <a:tabLst>
                <a:tab pos="0" algn="l"/>
              </a:tabLst>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lgn="ctr" defTabSz="914400">
              <a:lnSpc>
                <a:spcPct val="100000"/>
              </a:lnSpc>
              <a:buNone/>
              <a:tabLst>
                <a:tab pos="0" algn="l"/>
              </a:tabLst>
              <a:defRPr lang="en-us"/>
            </a:pPr>
            <a:r>
              <a:t>&lt;footer&gt;</a:t>
            </a:r>
          </a:p>
        </p:txBody>
      </p:sp>
      <p:sp>
        <p:nvSpPr>
          <p:cNvPr id="4" name="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WRQAAVykAABAAAAAmAAAACAAAAL+fAAD/HwAA"/>
              </a:ext>
            </a:extLst>
          </p:cNvSpPr>
          <p:nvPr>
            <p:ph type="sldNum" idx="4"/>
          </p:nvPr>
        </p:nvSpPr>
        <p:spPr>
          <a:xfrm>
            <a:off x="86106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lgn="r" defTabSz="914400">
              <a:lnSpc>
                <a:spcPct val="100000"/>
              </a:lnSpc>
              <a:buNone/>
              <a:tabLst>
                <a:tab pos="0" algn="l"/>
              </a:tabLst>
              <a:defRPr lang="en-us" sz="1200" b="0" strike="noStrike" cap="none" spc="0">
                <a:solidFill>
                  <a:srgbClr val="8B8B8B"/>
                </a:solidFill>
                <a:latin typeface="Calibri" pitchFamily="2" charset="0"/>
                <a:ea typeface="Basic Roman" pitchFamily="1" charset="0"/>
                <a:cs typeface="Basic Roman" pitchFamily="1" charset="0"/>
              </a:defRPr>
            </a:lvl1pPr>
          </a:lstStyle>
          <a:p>
            <a:pPr indent="0" algn="r" defTabSz="914400">
              <a:lnSpc>
                <a:spcPct val="100000"/>
              </a:lnSpc>
              <a:buNone/>
              <a:tabLst>
                <a:tab pos="0" algn="l"/>
              </a:tabLst>
              <a:defRPr lang="en-us"/>
            </a:pPr>
            <a:fld id="{01E71ED7-99EC-B2E8-A25F-6FBD5011543A}" type="slidenum">
              <a:t>‹#›</a:t>
            </a:fld>
            <a:endParaRPr lang="en-us" cap="none">
              <a:solidFill>
                <a:srgbClr val="000000"/>
              </a:solidFill>
              <a:latin typeface="Times New Roman" pitchFamily="1" charset="0"/>
              <a:ea typeface="Basic Roman" pitchFamily="1" charset="0"/>
              <a:cs typeface="Basic Roman" pitchFamily="1" charset="0"/>
            </a:endParaRPr>
          </a:p>
        </p:txBody>
      </p:sp>
      <p:sp>
        <p:nvSpPr>
          <p:cNvPr id="5" name="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GFgAAVykAABAAAAAmAAAACAAAAL+fAAD/HwAA"/>
              </a:ext>
            </a:extLst>
          </p:cNvSpPr>
          <p:nvPr>
            <p:ph type="dt" idx="2"/>
          </p:nvPr>
        </p:nvSpPr>
        <p:spPr>
          <a:xfrm>
            <a:off x="838200" y="6356350"/>
            <a:ext cx="2741930" cy="363855"/>
          </a:xfrm>
          <a:prstGeom prst="rect">
            <a:avLst/>
          </a:prstGeom>
          <a:noFill/>
          <a:ln>
            <a:noFill/>
          </a:ln>
        </p:spPr>
        <p:txBody>
          <a:bodyPr vert="horz" wrap="square" lIns="90170" tIns="45085" rIns="90170" bIns="45085" numCol="1" spcCol="215900" anchor="ctr">
            <a:prstTxWarp prst="textNoShape">
              <a:avLst/>
            </a:prstTxWarp>
          </a:bodyPr>
          <a:lstStyle>
            <a:lvl1pPr indent="0">
              <a:buNone/>
              <a:defRPr lang="en-us" sz="1400" b="0" strike="noStrike" cap="none" spc="0">
                <a:solidFill>
                  <a:srgbClr val="000000"/>
                </a:solidFill>
                <a:latin typeface="Times New Roman" pitchFamily="1" charset="0"/>
                <a:ea typeface="Basic Roman" pitchFamily="1" charset="0"/>
                <a:cs typeface="Basic Roman" pitchFamily="1" charset="0"/>
              </a:defRPr>
            </a:lvl1pPr>
          </a:lstStyle>
          <a:p>
            <a:pPr indent="0">
              <a:buNone/>
              <a:defRPr lang="en-us"/>
            </a:pPr>
            <a:r>
              <a:t>&lt;date/time&gt;</a:t>
            </a:r>
          </a:p>
        </p:txBody>
      </p:sp>
      <p:sp>
        <p:nvSpPr>
          <p:cNvPr id="6" name="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8JAAA/RwAAViIAABAAAAAmAAAACAAAAL8fAAD/HwAA"/>
              </a:ext>
            </a:extLst>
          </p:cNvSpPr>
          <p:nvPr>
            <p:ph type="body"/>
          </p:nvPr>
        </p:nvSpPr>
        <p:spPr>
          <a:xfrm>
            <a:off x="609600" y="1604645"/>
            <a:ext cx="10972165" cy="3977005"/>
          </a:xfrm>
          <a:prstGeom prst="rect">
            <a:avLst/>
          </a:prstGeom>
          <a:noFill/>
          <a:ln>
            <a:noFill/>
          </a:ln>
        </p:spPr>
        <p:txBody>
          <a:bodyPr vert="horz" wrap="square" lIns="0" tIns="0" rIns="0" bIns="0" numCol="1" spcCol="215900" anchor="t">
            <a:prstTxWarp prst="textNoShape">
              <a:avLst/>
            </a:prstTxWarp>
          </a:bodyPr>
          <a:lstStyle/>
          <a:p>
            <a:pPr marL="431800" indent="-323850">
              <a:spcBef>
                <a:spcPts val="1415"/>
              </a:spcBef>
              <a:buClrTx/>
              <a:buSzPts val="1440"/>
              <a:buFont typeface="Wingdings" charset="0"/>
              <a:buChar char=""/>
            </a:pPr>
            <a:r>
              <a:rPr lang="en-us" cap="none">
                <a:solidFill>
                  <a:srgbClr val="000000"/>
                </a:solidFill>
              </a:rPr>
              <a:t>Click to edit the outline text format</a:t>
            </a:r>
          </a:p>
          <a:p>
            <a:pPr marL="864235" lvl="1" indent="-323850">
              <a:spcBef>
                <a:spcPts val="1130"/>
              </a:spcBef>
              <a:buClrTx/>
              <a:buSzPts val="2100"/>
              <a:buFont typeface="Symbol" pitchFamily="1" charset="0"/>
              <a:buChar char=""/>
            </a:pPr>
            <a:r>
              <a:rPr lang="en-us" cap="none">
                <a:solidFill>
                  <a:srgbClr val="000000"/>
                </a:solidFill>
              </a:rPr>
              <a:t>Second Outline Level</a:t>
            </a:r>
          </a:p>
          <a:p>
            <a:pPr marL="1296035" lvl="2" indent="-288290">
              <a:spcBef>
                <a:spcPts val="850"/>
              </a:spcBef>
              <a:buClrTx/>
              <a:buSzPts val="1080"/>
              <a:buFont typeface="Wingdings" charset="0"/>
              <a:buChar char=""/>
            </a:pPr>
            <a:r>
              <a:rPr lang="en-us" cap="none">
                <a:solidFill>
                  <a:srgbClr val="000000"/>
                </a:solidFill>
              </a:rPr>
              <a:t>Third Outline Level</a:t>
            </a:r>
          </a:p>
          <a:p>
            <a:pPr marL="1727835" lvl="3" indent="-215900">
              <a:spcBef>
                <a:spcPts val="565"/>
              </a:spcBef>
              <a:buClrTx/>
              <a:buSzPts val="1500"/>
              <a:buFont typeface="Symbol" pitchFamily="1" charset="0"/>
              <a:buChar char=""/>
            </a:pPr>
            <a:r>
              <a:rPr lang="en-us" cap="none">
                <a:solidFill>
                  <a:srgbClr val="000000"/>
                </a:solidFill>
              </a:rPr>
              <a:t>Fourth Outline Level</a:t>
            </a:r>
          </a:p>
          <a:p>
            <a:pPr marL="2160270" lvl="4" indent="-215900">
              <a:spcBef>
                <a:spcPts val="280"/>
              </a:spcBef>
              <a:buClrTx/>
              <a:buSzPts val="900"/>
              <a:buFont typeface="Wingdings" charset="0"/>
              <a:buChar char=""/>
            </a:pPr>
            <a:r>
              <a:rPr lang="en-us" cap="none">
                <a:solidFill>
                  <a:srgbClr val="000000"/>
                </a:solidFill>
              </a:rPr>
              <a:t>Fifth Outline Level</a:t>
            </a:r>
          </a:p>
          <a:p>
            <a:pPr marL="2592070" lvl="5" indent="-215900">
              <a:spcBef>
                <a:spcPts val="280"/>
              </a:spcBef>
              <a:buClrTx/>
              <a:buSzPts val="900"/>
              <a:buFont typeface="Wingdings" charset="0"/>
              <a:buChar char=""/>
            </a:pPr>
            <a:r>
              <a:rPr lang="en-us" cap="none">
                <a:solidFill>
                  <a:srgbClr val="000000"/>
                </a:solidFill>
              </a:rPr>
              <a:t>Sixth Outline Level</a:t>
            </a:r>
          </a:p>
          <a:p>
            <a:pPr marL="3023870" lvl="6" indent="-215900">
              <a:spcBef>
                <a:spcPts val="280"/>
              </a:spcBef>
              <a:buClrTx/>
              <a:buSzPts val="900"/>
              <a:buFont typeface="Wingdings" charset="0"/>
              <a:buChar char=""/>
            </a:pPr>
            <a:r>
              <a:rPr lang="en-us" cap="none">
                <a:solidFill>
                  <a:srgbClr val="000000"/>
                </a:solidFil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marL="0" marR="0" indent="0" algn="ctr" defTabSz="914400">
        <a:lnSpc>
          <a:spcPct val="100000"/>
        </a:lnSpc>
        <a:spcBef>
          <a:spcPts val="0"/>
        </a:spcBef>
        <a:spcAft>
          <a:spcPts val="0"/>
        </a:spcAft>
        <a:buNone/>
        <a:tabLst/>
        <a:defRPr sz="4400" b="0" i="0" u="none" strike="noStrike" kern="1" cap="none" spc="0" baseline="0">
          <a:solidFill>
            <a:schemeClr val="tx2"/>
          </a:solidFill>
          <a:effectLst/>
          <a:latin typeface="Basic Sans" pitchFamily="1" charset="0"/>
          <a:ea typeface="Basic Roman" pitchFamily="1" charset="0"/>
          <a:cs typeface="Basic Roman" pitchFamily="1" charset="0"/>
        </a:defRPr>
      </a:lvl1pPr>
      <a:lvl2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2pPr>
      <a:lvl3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3pPr>
      <a:lvl4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4pPr>
      <a:lvl5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5pPr>
      <a:lvl6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6pPr>
      <a:lvl7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7pPr>
      <a:lvl8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8pPr>
      <a:lvl9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Arial" pitchFamily="2" charset="0"/>
          <a:ea typeface="DejaVu Sans" pitchFamily="1" charset="0"/>
          <a:cs typeface="DejaVu Sans" pitchFamily="1" charset="0"/>
        </a:defRPr>
      </a:lvl9pPr>
    </p:titleStyle>
    <p:bodyStyle>
      <a:lvl1pPr marL="342900" marR="0" indent="-342900" algn="l" defTabSz="914400">
        <a:lnSpc>
          <a:spcPct val="100000"/>
        </a:lnSpc>
        <a:spcBef>
          <a:spcPts val="0"/>
        </a:spcBef>
        <a:spcAft>
          <a:spcPts val="0"/>
        </a:spcAft>
        <a:buClrTx/>
        <a:buSzTx/>
        <a:buFontTx/>
        <a:buChar char="•"/>
        <a:tabLst/>
        <a:defRPr sz="32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742950" marR="0" indent="-285750" algn="l" defTabSz="914400">
        <a:lnSpc>
          <a:spcPct val="100000"/>
        </a:lnSpc>
        <a:spcBef>
          <a:spcPts val="0"/>
        </a:spcBef>
        <a:spcAft>
          <a:spcPts val="0"/>
        </a:spcAft>
        <a:buClrTx/>
        <a:buSzTx/>
        <a:buFontTx/>
        <a:buChar char="–"/>
        <a:tabLst/>
        <a:defRPr sz="2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1143000" marR="0" indent="-228600" algn="l" defTabSz="914400">
        <a:lnSpc>
          <a:spcPct val="100000"/>
        </a:lnSpc>
        <a:spcBef>
          <a:spcPts val="0"/>
        </a:spcBef>
        <a:spcAft>
          <a:spcPts val="0"/>
        </a:spcAft>
        <a:buClrTx/>
        <a:buSzTx/>
        <a:buFontTx/>
        <a:buChar char="•"/>
        <a:tabLst/>
        <a:defRPr sz="24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600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20574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5146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9718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4290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886200" marR="0" indent="-228600" algn="l" defTabSz="914400">
        <a:lnSpc>
          <a:spcPct val="100000"/>
        </a:lnSpc>
        <a:spcBef>
          <a:spcPts val="0"/>
        </a:spcBef>
        <a:spcAft>
          <a:spcPts val="0"/>
        </a:spcAft>
        <a:buClrTx/>
        <a:buSzTx/>
        <a:buFontTx/>
        <a:buChar char="•"/>
        <a:tabLst/>
        <a:defRPr sz="2000" b="0" i="0" u="none" strike="noStrike" kern="1" cap="none" spc="0" baseline="0">
          <a:solidFill>
            <a:schemeClr val="tx1"/>
          </a:solidFill>
          <a:effectLst/>
          <a:latin typeface="Basic Sans" pitchFamily="1" charset="0"/>
          <a:ea typeface="Basic Roman" pitchFamily="1" charset="0"/>
          <a:cs typeface="Basic Roman" pitchFamily="1" charset="0"/>
        </a:defRPr>
      </a:lvl9pPr>
    </p:bodyStyle>
    <p:otherStyle>
      <a:lvl1pPr marL="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1pPr>
      <a:lvl2pPr marL="457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2pPr>
      <a:lvl3pPr marL="914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3pPr>
      <a:lvl4pPr marL="1371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4pPr>
      <a:lvl5pPr marL="18288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5pPr>
      <a:lvl6pPr marL="22860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6pPr>
      <a:lvl7pPr marL="27432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7pPr>
      <a:lvl8pPr marL="32004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8pPr>
      <a:lvl9pPr marL="3657600" marR="0" indent="0" algn="l" defTabSz="914400">
        <a:lnSpc>
          <a:spcPct val="100000"/>
        </a:lnSpc>
        <a:spcBef>
          <a:spcPts val="0"/>
        </a:spcBef>
        <a:spcAft>
          <a:spcPts val="0"/>
        </a:spcAft>
        <a:buNone/>
        <a:tabLst/>
        <a:defRPr sz="1800" b="0" i="0" u="none" strike="noStrike" kern="1" cap="none" spc="0" baseline="0">
          <a:solidFill>
            <a:schemeClr val="tx1"/>
          </a:solidFill>
          <a:effectLst/>
          <a:latin typeface="Basic Sans" pitchFamily="1" charset="0"/>
          <a:ea typeface="Basic Roman" pitchFamily="1" charset="0"/>
          <a:cs typeface="Basic Roman" pitchFamily="1" charset="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41.xml"/><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mailto:john@demo.com"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hyperlink" Target="mailto:stephanie@abc.com" TargetMode="External"/><Relationship Id="rId4" Type="http://schemas.openxmlformats.org/officeDocument/2006/relationships/hyperlink" Target="mailto:ryan@example.com"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41.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hyperlink" Target="https://beginnersbook.com/2015/05/normalization-in-dbms/" TargetMode="External"/><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hyperlink" Target="https://popsql.com/blog/normalization-in-sql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C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OgGAACeQQAAlRUAABAAAAAmAAAACAAAAL2QAAD/HwAA"/>
              </a:ext>
            </a:extLst>
          </p:cNvSpPr>
          <p:nvPr>
            <p:ph type="title"/>
          </p:nvPr>
        </p:nvSpPr>
        <p:spPr>
          <a:xfrm>
            <a:off x="1524000" y="1122680"/>
            <a:ext cx="9142730" cy="2385695"/>
          </a:xfrm>
          <a:noFill/>
          <a:ln>
            <a:noFill/>
          </a:ln>
        </p:spPr>
        <p:txBody>
          <a:bodyPr vert="horz" wrap="square" lIns="0" tIns="0" rIns="0" bIns="0" numCol="1" spcCol="215900" anchor="b">
            <a:prstTxWarp prst="textNoShape">
              <a:avLst/>
            </a:prstTxWarp>
          </a:bodyPr>
          <a:lstStyle/>
          <a:p>
            <a:pPr indent="0" algn="ctr" defTabSz="914400">
              <a:lnSpc>
                <a:spcPct val="90000"/>
              </a:lnSpc>
              <a:buNone/>
              <a:tabLst>
                <a:tab pos="0" algn="l"/>
              </a:tabLst>
              <a:defRPr lang="en-us" sz="6000" cap="none">
                <a:solidFill>
                  <a:srgbClr val="000000"/>
                </a:solidFill>
              </a:defRPr>
            </a:pPr>
            <a:r>
              <a:t>Relational Database Design</a:t>
            </a: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YAkAACkWAACeQQAAViAAABAAAAAmAAAACAAAAD2RAAD/HwAA"/>
              </a:ext>
            </a:extLst>
          </p:cNvSpPr>
          <p:nvPr>
            <p:ph type="subTitle"/>
          </p:nvPr>
        </p:nvSpPr>
        <p:spPr>
          <a:xfrm>
            <a:off x="1524000" y="3602355"/>
            <a:ext cx="9142730" cy="1654175"/>
          </a:xfrm>
          <a:prstGeom prst="rect">
            <a:avLst/>
          </a:prstGeom>
          <a:noFill/>
          <a:ln>
            <a:noFill/>
          </a:ln>
        </p:spPr>
        <p:txBody>
          <a:bodyPr vert="horz" wrap="square" lIns="0" tIns="0" rIns="0" bIns="0" numCol="1" spcCol="215900" anchor="t">
            <a:prstTxWarp prst="textNoShape">
              <a:avLst/>
            </a:prstTxWarp>
          </a:bodyPr>
          <a:lstStyle/>
          <a:p>
            <a:pPr indent="0" algn="ctr" defTabSz="914400">
              <a:lnSpc>
                <a:spcPct val="90000"/>
              </a:lnSpc>
              <a:spcBef>
                <a:spcPts val="1000"/>
              </a:spcBef>
              <a:buNone/>
              <a:tabLst>
                <a:tab pos="0" algn="l"/>
              </a:tabLst>
            </a:pPr>
            <a:r>
              <a:rPr lang="en-us" sz="2400" cap="none">
                <a:solidFill>
                  <a:srgbClr val="000000"/>
                </a:solidFill>
                <a:latin typeface="Calibri" pitchFamily="2" charset="0"/>
                <a:ea typeface="DejaVu Sans" pitchFamily="1" charset="0"/>
                <a:cs typeface="DejaVu Sans" pitchFamily="1" charset="0"/>
              </a:rPr>
              <a:t>Unit-4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Database anomalies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Database anomalies refer to inconsistencies or problems that can occur in a database due to incorrect design or improper data management.</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There are three main types of anomalies:</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Insertion anomalies</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Update anomalies</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Delete anomalies</a:t>
            </a:r>
            <a:endParaRPr lang="en-us" sz="2400" cap="none">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Database anomalies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2250" indent="-222250">
              <a:lnSpc>
                <a:spcPct val="90000"/>
              </a:lnSpc>
              <a:spcBef>
                <a:spcPts val="830"/>
              </a:spcBef>
              <a:buClrTx/>
              <a:buFont typeface="Arial" pitchFamily="2" charset="0"/>
              <a:buChar char="•"/>
              <a:defRPr sz="1495" cap="none"/>
            </a:pPr>
            <a:r>
              <a:rPr lang="en-us" sz="2325" b="1" cap="none">
                <a:solidFill>
                  <a:srgbClr val="000000"/>
                </a:solidFill>
                <a:latin typeface="Calibri" pitchFamily="2" charset="0"/>
                <a:ea typeface="DejaVu Sans" pitchFamily="1" charset="0"/>
                <a:cs typeface="DejaVu Sans" pitchFamily="1" charset="0"/>
              </a:rPr>
              <a:t>Insertion Anomalies</a:t>
            </a:r>
            <a:r>
              <a:rPr lang="en-us" sz="2325" cap="none">
                <a:solidFill>
                  <a:srgbClr val="000000"/>
                </a:solidFill>
                <a:latin typeface="Calibri" pitchFamily="2" charset="0"/>
                <a:ea typeface="DejaVu Sans" pitchFamily="1" charset="0"/>
                <a:cs typeface="DejaVu Sans" pitchFamily="1" charset="0"/>
              </a:rPr>
              <a:t>: Insertion anomalies occur when it is not possible to insert data into the database without adding incomplete or inconsistent information.</a:t>
            </a:r>
            <a:endParaRPr lang="en-us" sz="2325" cap="none">
              <a:solidFill>
                <a:srgbClr val="000000"/>
              </a:solidFill>
            </a:endParaRPr>
          </a:p>
          <a:p>
            <a:pPr marL="668655" lvl="1" indent="-222250">
              <a:lnSpc>
                <a:spcPct val="90000"/>
              </a:lnSpc>
              <a:spcBef>
                <a:spcPts val="410"/>
              </a:spcBef>
              <a:buClrTx/>
              <a:buFont typeface="Arial" pitchFamily="2" charset="0"/>
              <a:buChar char="•"/>
              <a:defRPr sz="1495" cap="none"/>
            </a:pPr>
            <a:r>
              <a:rPr lang="en-us" sz="1990" cap="none">
                <a:solidFill>
                  <a:srgbClr val="000000"/>
                </a:solidFill>
                <a:latin typeface="Calibri" pitchFamily="2" charset="0"/>
                <a:ea typeface="DejaVu Sans" pitchFamily="1" charset="0"/>
                <a:cs typeface="DejaVu Sans" pitchFamily="1" charset="0"/>
              </a:rPr>
              <a:t> For example, if a table is not properly designed and requires certain fields to be populated even when they are not applicable to every record, it can lead to insertion anomalies.</a:t>
            </a:r>
            <a:endParaRPr lang="en-us" sz="1990" cap="none">
              <a:solidFill>
                <a:srgbClr val="000000"/>
              </a:solidFill>
            </a:endParaRPr>
          </a:p>
          <a:p>
            <a:pPr marL="222250" indent="-222250">
              <a:lnSpc>
                <a:spcPct val="90000"/>
              </a:lnSpc>
              <a:spcBef>
                <a:spcPts val="830"/>
              </a:spcBef>
              <a:buClrTx/>
              <a:buFont typeface="Arial" pitchFamily="2" charset="0"/>
              <a:buChar char="•"/>
              <a:defRPr sz="1495" cap="none"/>
            </a:pPr>
            <a:r>
              <a:rPr lang="en-us" sz="2325" b="1" cap="none">
                <a:solidFill>
                  <a:srgbClr val="000000"/>
                </a:solidFill>
                <a:latin typeface="Calibri" pitchFamily="2" charset="0"/>
                <a:ea typeface="DejaVu Sans" pitchFamily="1" charset="0"/>
                <a:cs typeface="DejaVu Sans" pitchFamily="1" charset="0"/>
              </a:rPr>
              <a:t>Update Anomalies</a:t>
            </a:r>
            <a:r>
              <a:rPr lang="en-us" sz="2325" cap="none">
                <a:solidFill>
                  <a:srgbClr val="000000"/>
                </a:solidFill>
                <a:latin typeface="Calibri" pitchFamily="2" charset="0"/>
                <a:ea typeface="DejaVu Sans" pitchFamily="1" charset="0"/>
                <a:cs typeface="DejaVu Sans" pitchFamily="1" charset="0"/>
              </a:rPr>
              <a:t>: Update anomalies occur when updating data in the database leads to inconsistencies or data loss.</a:t>
            </a:r>
            <a:endParaRPr lang="en-us" sz="2325" cap="none">
              <a:solidFill>
                <a:srgbClr val="000000"/>
              </a:solidFill>
            </a:endParaRPr>
          </a:p>
          <a:p>
            <a:pPr marL="668655" lvl="1" indent="-222250">
              <a:lnSpc>
                <a:spcPct val="90000"/>
              </a:lnSpc>
              <a:spcBef>
                <a:spcPts val="410"/>
              </a:spcBef>
              <a:buClrTx/>
              <a:buFont typeface="Arial" pitchFamily="2" charset="0"/>
              <a:buChar char="•"/>
              <a:defRPr sz="1495" cap="none"/>
            </a:pPr>
            <a:r>
              <a:rPr lang="en-us" sz="1990" cap="none">
                <a:solidFill>
                  <a:srgbClr val="000000"/>
                </a:solidFill>
                <a:latin typeface="Calibri" pitchFamily="2" charset="0"/>
                <a:ea typeface="DejaVu Sans" pitchFamily="1" charset="0"/>
                <a:cs typeface="DejaVu Sans" pitchFamily="1" charset="0"/>
              </a:rPr>
              <a:t> For example, if the same information is stored in multiple places within the database and one instance is updated while the others are not, it can result in inconsistent data.</a:t>
            </a:r>
            <a:endParaRPr lang="en-us" sz="1990" cap="none">
              <a:solidFill>
                <a:srgbClr val="000000"/>
              </a:solidFill>
            </a:endParaRPr>
          </a:p>
          <a:p>
            <a:pPr marL="222250" indent="-222250">
              <a:lnSpc>
                <a:spcPct val="90000"/>
              </a:lnSpc>
              <a:spcBef>
                <a:spcPts val="830"/>
              </a:spcBef>
              <a:buClrTx/>
              <a:buFont typeface="Arial" pitchFamily="2" charset="0"/>
              <a:buChar char="•"/>
              <a:defRPr sz="1495" cap="none"/>
            </a:pPr>
            <a:r>
              <a:rPr lang="en-us" sz="2325" b="1" cap="none">
                <a:solidFill>
                  <a:srgbClr val="000000"/>
                </a:solidFill>
                <a:latin typeface="Calibri" pitchFamily="2" charset="0"/>
                <a:ea typeface="DejaVu Sans" pitchFamily="1" charset="0"/>
                <a:cs typeface="DejaVu Sans" pitchFamily="1" charset="0"/>
              </a:rPr>
              <a:t>Deletion Anomalies</a:t>
            </a:r>
            <a:r>
              <a:rPr lang="en-us" sz="2325" cap="none">
                <a:solidFill>
                  <a:srgbClr val="000000"/>
                </a:solidFill>
                <a:latin typeface="Calibri" pitchFamily="2" charset="0"/>
                <a:ea typeface="DejaVu Sans" pitchFamily="1" charset="0"/>
                <a:cs typeface="DejaVu Sans" pitchFamily="1" charset="0"/>
              </a:rPr>
              <a:t>: Deletion anomalies occur when removing data from the database unintentionally removes other related data that should have been preserved.</a:t>
            </a:r>
            <a:endParaRPr lang="en-us" sz="2325" cap="none">
              <a:solidFill>
                <a:srgbClr val="000000"/>
              </a:solidFill>
            </a:endParaRPr>
          </a:p>
          <a:p>
            <a:pPr marL="668655" lvl="1" indent="-222250">
              <a:lnSpc>
                <a:spcPct val="90000"/>
              </a:lnSpc>
              <a:spcBef>
                <a:spcPts val="410"/>
              </a:spcBef>
              <a:buClrTx/>
              <a:buFont typeface="Arial" pitchFamily="2" charset="0"/>
              <a:buChar char="•"/>
              <a:defRPr sz="1495" cap="none"/>
            </a:pPr>
            <a:r>
              <a:rPr lang="en-us" sz="1990" cap="none">
                <a:solidFill>
                  <a:srgbClr val="000000"/>
                </a:solidFill>
                <a:latin typeface="Calibri" pitchFamily="2" charset="0"/>
                <a:ea typeface="DejaVu Sans" pitchFamily="1" charset="0"/>
                <a:cs typeface="DejaVu Sans" pitchFamily="1" charset="0"/>
              </a:rPr>
              <a:t> For example, if deleting a record from a table also removes related records in other tables, it can lead to data loss and inconsistencies.</a:t>
            </a:r>
            <a:endParaRPr lang="en-us" sz="1990" cap="none">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UKAADXBAAAFkIAAMgiAAAQAAAAJgAAAAgAAAD//////////w=="/>
              </a:ext>
            </a:extLst>
          </p:cNvPicPr>
          <p:nvPr/>
        </p:nvPicPr>
        <p:blipFill>
          <a:blip r:embed="rId3"/>
          <a:stretch>
            <a:fillRect/>
          </a:stretch>
        </p:blipFill>
        <p:spPr>
          <a:xfrm>
            <a:off x="1649095" y="786765"/>
            <a:ext cx="9093835" cy="4867275"/>
          </a:xfrm>
          <a:prstGeom prst="rect">
            <a:avLst/>
          </a:prstGeom>
          <a:noFill/>
          <a:ln>
            <a:noFill/>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Functional Dependency</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 A functional dependency (FD) is a constraint between two sets of attributes in a relation in a relational database.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Informally, an FD states that the value of one set of attributes (the determinant) determines the value of another set of attributes (the dependent).</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Functional dependencies are denoted using an arrow notation: X -&gt; Y, where X represents the determinant attributes and Y represents the dependent attributes.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This notation signifies that for every unique combination of values in X, there is a unique value in Y. (X is determinant and Y is dependent)</a:t>
            </a:r>
            <a:endParaRPr lang="en-us" sz="2800" cap="none">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wg7R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Functional Dependency</a:t>
            </a:r>
            <a:endParaRPr lang="en-us" cap="none">
              <a:solidFill>
                <a:srgbClr val="000000"/>
              </a:solidFill>
            </a:endParaRPr>
          </a:p>
        </p:txBody>
      </p:sp>
      <p:graphicFrame>
        <p:nvGraphicFramePr>
          <p:cNvPr id="3" name="Table 2"/>
          <p:cNvGraphicFramePr>
            <a:graphicFrameLocks noGrp="1"/>
          </p:cNvGraphicFramePr>
          <p:nvPr/>
        </p:nvGraphicFramePr>
        <p:xfrm>
          <a:off x="838200" y="1825625"/>
          <a:ext cx="10515600" cy="2962275"/>
        </p:xfrm>
        <a:graphic>
          <a:graphicData uri="http://schemas.openxmlformats.org/drawingml/2006/table">
            <a:tbl>
              <a:tblPr>
                <a:noFil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592455">
                <a:tc>
                  <a:txBody>
                    <a:bodyPr/>
                    <a:lstStyle/>
                    <a:p>
                      <a:pPr marL="0" marR="0" indent="0" algn="l">
                        <a:lnSpc>
                          <a:spcPct val="100000"/>
                        </a:lnSpc>
                        <a:buNone/>
                      </a:pPr>
                      <a:r>
                        <a:rPr lang="en-us" b="1" cap="none">
                          <a:solidFill>
                            <a:srgbClr val="FFFFFF"/>
                          </a:solidFill>
                          <a:latin typeface="Calibri" pitchFamily="2" charset="0"/>
                          <a:ea typeface="Basic Roman" pitchFamily="1" charset="0"/>
                          <a:cs typeface="Basic Roman" pitchFamily="1" charset="0"/>
                        </a:rPr>
                        <a:t>X</a:t>
                      </a:r>
                      <a:endParaRPr lang="en-us" cap="none">
                        <a:solidFill>
                          <a:srgbClr val="000000"/>
                        </a:solidFill>
                      </a:endParaRPr>
                    </a:p>
                  </a:txBody>
                  <a:tcPr marR="-635" marT="91440" marB="-635">
                    <a:lnL>
                      <a:noFill/>
                    </a:lnL>
                    <a:lnR>
                      <a:noFill/>
                    </a:lnR>
                    <a:lnT>
                      <a:noFill/>
                    </a:lnT>
                    <a:lnB>
                      <a:noFill/>
                    </a:lnB>
                    <a:lnTlToBr>
                      <a:noFill/>
                    </a:lnTlToBr>
                    <a:lnBlToTr>
                      <a:noFill/>
                    </a:lnBlToTr>
                    <a:solidFill>
                      <a:schemeClr val="accent1"/>
                    </a:solidFill>
                  </a:tcPr>
                </a:tc>
                <a:tc>
                  <a:txBody>
                    <a:bodyPr/>
                    <a:lstStyle/>
                    <a:p>
                      <a:pPr marL="0" marR="0" indent="0" algn="l">
                        <a:lnSpc>
                          <a:spcPct val="100000"/>
                        </a:lnSpc>
                        <a:buNone/>
                      </a:pPr>
                      <a:r>
                        <a:rPr lang="en-us" b="1" cap="none">
                          <a:solidFill>
                            <a:srgbClr val="FFFFFF"/>
                          </a:solidFill>
                          <a:latin typeface="Calibri" pitchFamily="2" charset="0"/>
                          <a:ea typeface="Basic Roman" pitchFamily="1" charset="0"/>
                          <a:cs typeface="Basic Roman" pitchFamily="1" charset="0"/>
                        </a:rPr>
                        <a:t>Y</a:t>
                      </a:r>
                      <a:endParaRPr lang="en-us" cap="none">
                        <a:solidFill>
                          <a:srgbClr val="000000"/>
                        </a:solidFill>
                      </a:endParaRPr>
                    </a:p>
                  </a:txBody>
                  <a:tcPr marR="-635" marT="91440" marB="-635">
                    <a:lnL>
                      <a:noFill/>
                    </a:lnL>
                    <a:lnR>
                      <a:noFill/>
                    </a:lnR>
                    <a:lnT>
                      <a:noFill/>
                    </a:lnT>
                    <a:lnB>
                      <a:noFill/>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733826717" type="min" val="592455"/>
                  </a:ext>
                </a:extLst>
              </a:tr>
              <a:tr h="592455">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a</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CFD5E9"/>
                    </a:solidFill>
                  </a:tcPr>
                </a:tc>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1</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CFD5E9"/>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733826717" type="min" val="592455"/>
                  </a:ext>
                </a:extLst>
              </a:tr>
              <a:tr h="592455">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b</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E8EBF4"/>
                    </a:solidFill>
                  </a:tcPr>
                </a:tc>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2</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E8EBF4"/>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733826717" type="min" val="592455"/>
                  </a:ext>
                </a:extLst>
              </a:tr>
              <a:tr h="592455">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c</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CFD5E9"/>
                    </a:solidFill>
                  </a:tcPr>
                </a:tc>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3</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CFD5E9"/>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733826717" type="min" val="592455"/>
                  </a:ext>
                </a:extLst>
              </a:tr>
              <a:tr h="592455">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d</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E8EBF4"/>
                    </a:solidFill>
                  </a:tcPr>
                </a:tc>
                <a:tc>
                  <a:txBody>
                    <a:bodyPr/>
                    <a:lstStyle/>
                    <a:p>
                      <a:pPr marL="0" marR="0" indent="0" algn="l">
                        <a:lnSpc>
                          <a:spcPct val="100000"/>
                        </a:lnSpc>
                        <a:buNone/>
                      </a:pPr>
                      <a:r>
                        <a:rPr lang="en-us" cap="none">
                          <a:solidFill>
                            <a:srgbClr val="000000"/>
                          </a:solidFill>
                          <a:latin typeface="Calibri" pitchFamily="2" charset="0"/>
                          <a:ea typeface="Basic Roman" pitchFamily="1" charset="0"/>
                          <a:cs typeface="Basic Roman" pitchFamily="1" charset="0"/>
                        </a:rPr>
                        <a:t>1</a:t>
                      </a:r>
                      <a:endParaRPr lang="en-us" cap="none">
                        <a:solidFill>
                          <a:srgbClr val="000000"/>
                        </a:solidFill>
                      </a:endParaRPr>
                    </a:p>
                  </a:txBody>
                  <a:tcPr marR="-635" marT="91440" marB="-635">
                    <a:lnL>
                      <a:noFill/>
                    </a:lnL>
                    <a:lnR>
                      <a:noFill/>
                    </a:lnR>
                    <a:lnT>
                      <a:noFill/>
                    </a:lnT>
                    <a:lnB>
                      <a:noFill/>
                    </a:lnB>
                    <a:lnTlToBr>
                      <a:noFill/>
                    </a:lnTlToBr>
                    <a:lnBlToTr>
                      <a:noFill/>
                    </a:lnBlToTr>
                    <a:solidFill>
                      <a:srgbClr val="E8EBF4"/>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733826717" type="min" val="59245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Functional Dependency</a:t>
            </a:r>
            <a:endParaRPr lang="en-us" cap="none">
              <a:solidFill>
                <a:srgbClr val="000000"/>
              </a:solidFill>
            </a:endParaRPr>
          </a:p>
        </p:txBody>
      </p:sp>
      <p:pic>
        <p:nvPicPr>
          <p:cNvPr id="3" name="Picture1"/>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6Nm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IwKAABmCgAAdjwAAFoiAAAQAAAAJgAAAAgAAAD//////////w=="/>
              </a:ext>
            </a:extLst>
          </p:cNvPicPr>
          <p:nvPr/>
        </p:nvPicPr>
        <p:blipFill>
          <a:blip r:embed="rId3"/>
          <a:stretch>
            <a:fillRect/>
          </a:stretch>
        </p:blipFill>
        <p:spPr>
          <a:xfrm>
            <a:off x="1714500" y="1690370"/>
            <a:ext cx="8114030" cy="3893820"/>
          </a:xfrm>
          <a:prstGeom prst="rect">
            <a:avLst/>
          </a:prstGeom>
          <a:noFill/>
          <a:ln>
            <a:noFill/>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Functional Dependency</a:t>
            </a:r>
            <a:endParaRPr lang="en-us" cap="none">
              <a:solidFill>
                <a:srgbClr val="000000"/>
              </a:solidFill>
            </a:endParaRPr>
          </a:p>
        </p:txBody>
      </p:sp>
      <p:pic>
        <p:nvPicPr>
          <p:cNvPr id="3" name="Picture1"/>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QLAACaDAAA3j0AAI4kAAAQAAAAJgAAAAgAAAD//////////w=="/>
              </a:ext>
            </a:extLst>
          </p:cNvPicPr>
          <p:nvPr/>
        </p:nvPicPr>
        <p:blipFill>
          <a:blip r:embed="rId3"/>
          <a:stretch>
            <a:fillRect/>
          </a:stretch>
        </p:blipFill>
        <p:spPr>
          <a:xfrm>
            <a:off x="1943100" y="2048510"/>
            <a:ext cx="8114030" cy="3893820"/>
          </a:xfrm>
          <a:prstGeom prst="rect">
            <a:avLst/>
          </a:prstGeom>
          <a:noFill/>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Functional Dependency</a:t>
            </a:r>
            <a:endParaRPr lang="en-us" cap="none">
              <a:solidFill>
                <a:srgbClr val="000000"/>
              </a:solidFill>
            </a:endParaRPr>
          </a:p>
        </p:txBody>
      </p:sp>
      <p:pic>
        <p:nvPicPr>
          <p:cNvPr id="3" name="Picture1"/>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EALAACaDAAAKj0AAI4kAAAQAAAAJgAAAAgAAAD//////////w=="/>
              </a:ext>
            </a:extLst>
          </p:cNvPicPr>
          <p:nvPr/>
        </p:nvPicPr>
        <p:blipFill>
          <a:blip r:embed="rId3"/>
          <a:stretch>
            <a:fillRect/>
          </a:stretch>
        </p:blipFill>
        <p:spPr>
          <a:xfrm>
            <a:off x="1828800" y="2048510"/>
            <a:ext cx="8114030" cy="3893820"/>
          </a:xfrm>
          <a:prstGeom prst="rect">
            <a:avLst/>
          </a:prstGeom>
          <a:noFill/>
          <a:ln>
            <a:noFill/>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Functional Dependency</a:t>
            </a:r>
            <a:endParaRPr lang="en-us" cap="none">
              <a:solidFill>
                <a:srgbClr val="000000"/>
              </a:solidFill>
            </a:endParaRPr>
          </a:p>
        </p:txBody>
      </p:sp>
      <p:pic>
        <p:nvPicPr>
          <p:cNvPr id="3" name="Picture1"/>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EAGc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QLAACaDAAA3j0AAI4kAAAQAAAAJgAAAAgAAAD//////////w=="/>
              </a:ext>
            </a:extLst>
          </p:cNvPicPr>
          <p:nvPr/>
        </p:nvPicPr>
        <p:blipFill>
          <a:blip r:embed="rId3"/>
          <a:stretch>
            <a:fillRect/>
          </a:stretch>
        </p:blipFill>
        <p:spPr>
          <a:xfrm>
            <a:off x="1943100" y="2048510"/>
            <a:ext cx="8114030" cy="3893820"/>
          </a:xfrm>
          <a:prstGeom prst="rect">
            <a:avLst/>
          </a:prstGeom>
          <a:noFill/>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Types of functional dependencies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b="1" cap="none">
                <a:solidFill>
                  <a:srgbClr val="000000"/>
                </a:solidFill>
                <a:latin typeface="Calibri" pitchFamily="2" charset="0"/>
                <a:ea typeface="DejaVu Sans" pitchFamily="1" charset="0"/>
                <a:cs typeface="DejaVu Sans" pitchFamily="1" charset="0"/>
              </a:rPr>
              <a:t>Trivial functional dependencies </a:t>
            </a:r>
            <a:r>
              <a:rPr lang="en-us" sz="2800" cap="none">
                <a:solidFill>
                  <a:srgbClr val="000000"/>
                </a:solidFill>
                <a:latin typeface="Calibri" pitchFamily="2" charset="0"/>
                <a:ea typeface="DejaVu Sans" pitchFamily="1" charset="0"/>
                <a:cs typeface="DejaVu Sans" pitchFamily="1" charset="0"/>
              </a:rPr>
              <a:t>are those that involve all attributes of a relation.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They are considered trivial because they do not provide any meaningful or useful information about the relationship between attributes.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Y⊆X (y is subsets of X)</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 -&gt; A: This dependency states that attribute A determines itself, which is always true.</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 B, C -&gt; A, B, C: This dependency states that all attributes in the relation determine themselves, which is again always true.</a:t>
            </a: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C4ADfQ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KMEAACnBAAAW0YAABgiAAAQAAAAJgAAAAgAAAD//////////w=="/>
              </a:ext>
            </a:extLst>
          </p:cNvPicPr>
          <p:nvPr/>
        </p:nvPicPr>
        <p:blipFill>
          <a:blip r:embed="rId3"/>
          <a:stretch>
            <a:fillRect/>
          </a:stretch>
        </p:blipFill>
        <p:spPr>
          <a:xfrm>
            <a:off x="753745" y="756285"/>
            <a:ext cx="10683240" cy="4785995"/>
          </a:xfrm>
          <a:prstGeom prst="rect">
            <a:avLst/>
          </a:prstGeom>
          <a:noFill/>
          <a:ln>
            <a:noFill/>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Types of functional dependencies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b="1" cap="none">
                <a:solidFill>
                  <a:srgbClr val="000000"/>
                </a:solidFill>
                <a:latin typeface="Calibri" pitchFamily="2" charset="0"/>
                <a:ea typeface="DejaVu Sans" pitchFamily="1" charset="0"/>
                <a:cs typeface="DejaVu Sans" pitchFamily="1" charset="0"/>
              </a:rPr>
              <a:t>Non-trivial functional dependencies </a:t>
            </a:r>
            <a:r>
              <a:rPr lang="en-us" sz="2800" cap="none">
                <a:solidFill>
                  <a:srgbClr val="000000"/>
                </a:solidFill>
                <a:latin typeface="Calibri" pitchFamily="2" charset="0"/>
                <a:ea typeface="DejaVu Sans" pitchFamily="1" charset="0"/>
                <a:cs typeface="DejaVu Sans" pitchFamily="1" charset="0"/>
              </a:rPr>
              <a:t>are dependencies where the determined attributes are not a subset of the determining attributes.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 In other words, the functional dependency expresses a meaningful relationship between the attributes involved.</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This is a non-trivial functional dependency because the determined attribute (B) is not a subset of the determining attribute (A).</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It indicates that the value of attribute B is functionally dependent on the value of attribute A.</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A∩B=</a:t>
            </a:r>
            <a:r>
              <a:rPr lang="el-gr" sz="2800" cap="none">
                <a:solidFill>
                  <a:srgbClr val="000000"/>
                </a:solidFill>
                <a:latin typeface="Calibri" pitchFamily="2" charset="0"/>
                <a:ea typeface="DejaVu Sans" pitchFamily="1" charset="0"/>
                <a:cs typeface="DejaVu Sans" pitchFamily="1" charset="0"/>
              </a:rPr>
              <a:t>Φ</a:t>
            </a:r>
            <a:r>
              <a:rPr lang="en-us" sz="2800" cap="none">
                <a:solidFill>
                  <a:srgbClr val="000000"/>
                </a:solidFill>
                <a:latin typeface="Calibri" pitchFamily="2" charset="0"/>
                <a:ea typeface="DejaVu Sans" pitchFamily="1" charset="0"/>
                <a:cs typeface="DejaVu Sans" pitchFamily="1" charset="0"/>
              </a:rPr>
              <a:t> (A insertion B equals to Phi which A and B don’t have any common)</a:t>
            </a:r>
            <a:endParaRPr lang="en-us" sz="2800" cap="none">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F0GAACxBgAAoUQAACYjAAAQAAAAJgAAAAgAAAD//////////w=="/>
              </a:ext>
            </a:extLst>
          </p:cNvPicPr>
          <p:nvPr/>
        </p:nvPicPr>
        <p:blipFill>
          <a:blip r:embed="rId3"/>
          <a:stretch>
            <a:fillRect/>
          </a:stretch>
        </p:blipFill>
        <p:spPr>
          <a:xfrm>
            <a:off x="1034415" y="1087755"/>
            <a:ext cx="10121900" cy="4625975"/>
          </a:xfrm>
          <a:prstGeom prst="rect">
            <a:avLst/>
          </a:prstGeom>
          <a:noFill/>
          <a:ln>
            <a:noFill/>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Axioms or rules of FD</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N8IAADWRQAAuCYAABAAAAAmAAAACAAAAD2RAQD/HwAA"/>
              </a:ext>
            </a:extLst>
          </p:cNvSpPr>
          <p:nvPr>
            <p:ph type="body"/>
          </p:nvPr>
        </p:nvSpPr>
        <p:spPr>
          <a:xfrm>
            <a:off x="838200" y="1442085"/>
            <a:ext cx="10514330" cy="4852035"/>
          </a:xfrm>
          <a:prstGeom prst="rect">
            <a:avLst/>
          </a:prstGeom>
          <a:noFill/>
          <a:ln>
            <a:noFill/>
          </a:ln>
        </p:spPr>
        <p:txBody>
          <a:bodyPr vert="horz" wrap="square" lIns="90170" tIns="45085" rIns="90170" bIns="45085" numCol="2"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Reflexivity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Y-&gt;X , Y-&gt;Y , X-&gt;X</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Transitivity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If(X-&gt;Y and Y-&gt;Z then X-&gt;Z)</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Augmentation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If(X-&gt;Y the XA-&gt;YA)</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Union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If(X-&gt;Y and X-&gt;Z then X-&gt;YZ)</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Decomposition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If(X-&gt;YZ then X-&gt;Y and X-&gt;Z)</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Pseudo transitivity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If(X-&gt;Y and YZ-&gt;A then XZ-&gt;A)</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Composition Rule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If(X-&gt;Y and A-&gt;B then XA-&gt;YB)</a:t>
            </a:r>
            <a:endParaRPr lang="en-us" sz="2400" cap="none">
              <a:solidFill>
                <a:srgbClr val="000000"/>
              </a:solidFill>
            </a:endParaRPr>
          </a:p>
          <a:p>
            <a:pPr indent="0" defTabSz="914400">
              <a:lnSpc>
                <a:spcPct val="90000"/>
              </a:lnSpc>
              <a:spcBef>
                <a:spcPts val="495"/>
              </a:spcBef>
              <a:buNone/>
              <a:tabLst>
                <a:tab pos="0" algn="l"/>
              </a:tabLst>
            </a:pPr>
            <a:endParaRPr lang="en-us" sz="2400" cap="none">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Closure of Set of Functional Dependencies</a:t>
            </a:r>
            <a:b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4790" indent="-224790">
              <a:lnSpc>
                <a:spcPct val="90000"/>
              </a:lnSpc>
              <a:spcBef>
                <a:spcPts val="840"/>
              </a:spcBef>
              <a:buClrTx/>
              <a:buFont typeface="Arial" pitchFamily="2" charset="0"/>
              <a:buChar char="•"/>
              <a:defRPr sz="1510" cap="none"/>
            </a:pPr>
            <a:r>
              <a:rPr lang="en-us" sz="2350" cap="none">
                <a:solidFill>
                  <a:srgbClr val="000000"/>
                </a:solidFill>
                <a:latin typeface="Calibri" pitchFamily="2" charset="0"/>
                <a:ea typeface="DejaVu Sans" pitchFamily="1" charset="0"/>
                <a:cs typeface="DejaVu Sans" pitchFamily="1" charset="0"/>
              </a:rPr>
              <a:t>The Closure Of Functional Dependency means the complete set of all possible attributes that can be functionally derived from given functional dependency using the inference rules known as Armstrong’s Rules.</a:t>
            </a:r>
            <a:endParaRPr lang="en-us" sz="2350" cap="none">
              <a:solidFill>
                <a:srgbClr val="000000"/>
              </a:solidFill>
            </a:endParaRPr>
          </a:p>
          <a:p>
            <a:pPr marL="224790" indent="-224790">
              <a:lnSpc>
                <a:spcPct val="90000"/>
              </a:lnSpc>
              <a:spcBef>
                <a:spcPts val="840"/>
              </a:spcBef>
              <a:buClrTx/>
              <a:buFont typeface="Arial" pitchFamily="2" charset="0"/>
              <a:buChar char="•"/>
              <a:defRPr sz="1510" cap="none"/>
            </a:pPr>
            <a:r>
              <a:rPr lang="en-us" sz="2350" cap="none">
                <a:solidFill>
                  <a:srgbClr val="000000"/>
                </a:solidFill>
                <a:latin typeface="Calibri" pitchFamily="2" charset="0"/>
                <a:ea typeface="DejaVu Sans" pitchFamily="1" charset="0"/>
                <a:cs typeface="DejaVu Sans" pitchFamily="1" charset="0"/>
              </a:rPr>
              <a:t>If “F” is a functional dependency then closure of functional dependency can be denoted using “{F}+”.</a:t>
            </a:r>
            <a:endParaRPr lang="en-us" sz="2350" cap="none">
              <a:solidFill>
                <a:srgbClr val="000000"/>
              </a:solidFill>
            </a:endParaRPr>
          </a:p>
          <a:p>
            <a:pPr marL="224790" indent="-224790">
              <a:lnSpc>
                <a:spcPct val="90000"/>
              </a:lnSpc>
              <a:spcBef>
                <a:spcPts val="840"/>
              </a:spcBef>
              <a:buClrTx/>
              <a:buFont typeface="Arial" pitchFamily="2" charset="0"/>
              <a:buChar char="•"/>
              <a:defRPr sz="1510" cap="none"/>
            </a:pPr>
            <a:r>
              <a:rPr lang="en-us" sz="2350" cap="none">
                <a:solidFill>
                  <a:srgbClr val="000000"/>
                </a:solidFill>
                <a:latin typeface="Calibri" pitchFamily="2" charset="0"/>
                <a:ea typeface="DejaVu Sans" pitchFamily="1" charset="0"/>
                <a:cs typeface="DejaVu Sans" pitchFamily="1" charset="0"/>
              </a:rPr>
              <a:t>There are three steps to calculate closure of functional dependency. These are:</a:t>
            </a:r>
            <a:endParaRPr lang="en-us" sz="2350" cap="none">
              <a:solidFill>
                <a:srgbClr val="000000"/>
              </a:solidFill>
            </a:endParaRPr>
          </a:p>
          <a:p>
            <a:pPr marL="676275" lvl="1" indent="-224790">
              <a:lnSpc>
                <a:spcPct val="90000"/>
              </a:lnSpc>
              <a:spcBef>
                <a:spcPts val="415"/>
              </a:spcBef>
              <a:buClrTx/>
              <a:buFont typeface="Arial" pitchFamily="2" charset="0"/>
              <a:buChar char="•"/>
              <a:defRPr sz="1510" cap="none"/>
            </a:pPr>
            <a:r>
              <a:rPr lang="en-us" sz="2015" cap="none">
                <a:solidFill>
                  <a:srgbClr val="000000"/>
                </a:solidFill>
                <a:latin typeface="Calibri" pitchFamily="2" charset="0"/>
                <a:ea typeface="DejaVu Sans" pitchFamily="1" charset="0"/>
                <a:cs typeface="DejaVu Sans" pitchFamily="1" charset="0"/>
              </a:rPr>
              <a:t>Step-1 : Add the attributes which are present on Left Hand Side in the original functional dependency.</a:t>
            </a:r>
            <a:endParaRPr lang="en-us" sz="2015" cap="none">
              <a:solidFill>
                <a:srgbClr val="000000"/>
              </a:solidFill>
            </a:endParaRPr>
          </a:p>
          <a:p>
            <a:pPr marL="676275" lvl="1" indent="-224790">
              <a:lnSpc>
                <a:spcPct val="90000"/>
              </a:lnSpc>
              <a:spcBef>
                <a:spcPts val="415"/>
              </a:spcBef>
              <a:buClrTx/>
              <a:buFont typeface="Arial" pitchFamily="2" charset="0"/>
              <a:buChar char="•"/>
              <a:defRPr sz="1510" cap="none"/>
            </a:pPr>
            <a:r>
              <a:rPr lang="en-us" sz="2015" cap="none">
                <a:solidFill>
                  <a:srgbClr val="000000"/>
                </a:solidFill>
                <a:latin typeface="Calibri" pitchFamily="2" charset="0"/>
                <a:ea typeface="DejaVu Sans" pitchFamily="1" charset="0"/>
                <a:cs typeface="DejaVu Sans" pitchFamily="1" charset="0"/>
              </a:rPr>
              <a:t>Step-2 : Now, add the attributes present on the Right Hand Side of the functional dependency.</a:t>
            </a:r>
            <a:endParaRPr lang="en-us" sz="2015" cap="none">
              <a:solidFill>
                <a:srgbClr val="000000"/>
              </a:solidFill>
            </a:endParaRPr>
          </a:p>
          <a:p>
            <a:pPr marL="676275" lvl="1" indent="-224790">
              <a:lnSpc>
                <a:spcPct val="90000"/>
              </a:lnSpc>
              <a:spcBef>
                <a:spcPts val="415"/>
              </a:spcBef>
              <a:buClrTx/>
              <a:buFont typeface="Arial" pitchFamily="2" charset="0"/>
              <a:buChar char="•"/>
              <a:defRPr sz="1510" cap="none"/>
            </a:pPr>
            <a:r>
              <a:rPr lang="en-us" sz="2015" cap="none">
                <a:solidFill>
                  <a:srgbClr val="000000"/>
                </a:solidFill>
                <a:latin typeface="Calibri" pitchFamily="2" charset="0"/>
                <a:ea typeface="DejaVu Sans" pitchFamily="1" charset="0"/>
                <a:cs typeface="DejaVu Sans" pitchFamily="1" charset="0"/>
              </a:rPr>
              <a:t>Step-3 : With the help of attributes present on Right Hand Side, check the other attributes that can be derived from the other given functional dependencies. Repeat this process until all the possible attributes which can be derived are added in the closure.</a:t>
            </a:r>
            <a:endParaRPr lang="en-us" sz="2015" cap="none">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Closure of SETS Attribute</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Closure of an Attribute: Closure of an Attribute can be defined as a set of attributes that can be functionally determined from it.</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OR</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Closure of a set F of FDs is the set F+ of all FDs that can be inferred from F</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Closure of a set of attributes X concerning F is the set X+ of all attributes that are functionally determined by X</a:t>
            </a:r>
            <a:endParaRPr lang="en-us" sz="2800" cap="none">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AGrR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Closure of Set of Functional Dependencies</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pt-br" sz="2800" cap="none">
                <a:solidFill>
                  <a:srgbClr val="000000"/>
                </a:solidFill>
                <a:latin typeface="Calibri" pitchFamily="2" charset="0"/>
                <a:ea typeface="DejaVu Sans" pitchFamily="1" charset="0"/>
                <a:cs typeface="DejaVu Sans" pitchFamily="1" charset="0"/>
              </a:rPr>
              <a:t>R = (A, B, C, G, H, I)</a:t>
            </a:r>
            <a:r>
              <a:rPr lang="en-us" sz="2800" cap="none">
                <a:solidFill>
                  <a:srgbClr val="000000"/>
                </a:solidFill>
              </a:rPr>
              <a:t> </a:t>
            </a:r>
            <a:r>
              <a:rPr lang="en-us" sz="2800" cap="none">
                <a:solidFill>
                  <a:srgbClr val="000000"/>
                </a:solidFill>
                <a:latin typeface="Calibri" pitchFamily="2" charset="0"/>
                <a:ea typeface="DejaVu Sans" pitchFamily="1" charset="0"/>
                <a:cs typeface="DejaVu Sans" pitchFamily="1" charset="0"/>
              </a:rPr>
              <a:t>{A→ B, A→ C, CG → H, CG → I , B → H}.</a:t>
            </a:r>
            <a:endParaRPr lang="en-us" sz="2800" cap="none">
              <a:solidFill>
                <a:srgbClr val="000000"/>
              </a:solidFill>
            </a:endParaRPr>
          </a:p>
          <a:p>
            <a:pPr indent="0" defTabSz="914400">
              <a:lnSpc>
                <a:spcPct val="90000"/>
              </a:lnSpc>
              <a:spcBef>
                <a:spcPts val="1000"/>
              </a:spcBef>
              <a:buNone/>
              <a:tabLst>
                <a:tab pos="0" algn="l"/>
              </a:tabLst>
            </a:pPr>
            <a:r>
              <a:rPr lang="en-us" sz="2800" i="1" cap="none">
                <a:solidFill>
                  <a:srgbClr val="000000"/>
                </a:solidFill>
                <a:latin typeface="Calibri" pitchFamily="2" charset="0"/>
                <a:ea typeface="DejaVu Sans" pitchFamily="1" charset="0"/>
                <a:cs typeface="DejaVu Sans" pitchFamily="1" charset="0"/>
              </a:rPr>
              <a:t>a)Determines closure of set of functional dependencies F+.</a:t>
            </a:r>
            <a:endParaRPr lang="en-us" sz="2800" cap="none">
              <a:solidFill>
                <a:srgbClr val="000000"/>
              </a:solidFill>
            </a:endParaRPr>
          </a:p>
          <a:p>
            <a:pPr indent="0" defTabSz="914400">
              <a:lnSpc>
                <a:spcPct val="90000"/>
              </a:lnSpc>
              <a:spcBef>
                <a:spcPts val="1000"/>
              </a:spcBef>
              <a:buNone/>
              <a:tabLst>
                <a:tab pos="0" algn="l"/>
              </a:tabLst>
            </a:pPr>
            <a:r>
              <a:rPr lang="en-us" sz="2800" i="1" cap="none">
                <a:solidFill>
                  <a:srgbClr val="000000"/>
                </a:solidFill>
                <a:latin typeface="Calibri" pitchFamily="2" charset="0"/>
                <a:ea typeface="DejaVu Sans" pitchFamily="1" charset="0"/>
                <a:cs typeface="DejaVu Sans" pitchFamily="1" charset="0"/>
              </a:rPr>
              <a:t>b)Determine attribute set closure (AG)+.</a:t>
            </a:r>
            <a:endParaRPr lang="en-us" sz="2800" cap="none">
              <a:solidFill>
                <a:srgbClr val="000000"/>
              </a:solidFill>
            </a:endParaRPr>
          </a:p>
          <a:p>
            <a:pPr indent="0" defTabSz="914400">
              <a:lnSpc>
                <a:spcPct val="90000"/>
              </a:lnSpc>
              <a:spcBef>
                <a:spcPts val="1000"/>
              </a:spcBef>
              <a:buNone/>
              <a:tabLst>
                <a:tab pos="0" algn="l"/>
              </a:tabLst>
            </a:pPr>
            <a:r>
              <a:rPr lang="en-us" sz="2800" i="1" cap="none">
                <a:solidFill>
                  <a:srgbClr val="000000"/>
                </a:solidFill>
                <a:latin typeface="Calibri" pitchFamily="2" charset="0"/>
                <a:ea typeface="DejaVu Sans" pitchFamily="1" charset="0"/>
                <a:cs typeface="DejaVu Sans" pitchFamily="1" charset="0"/>
              </a:rPr>
              <a:t>c) List of Super key and candidate key.</a:t>
            </a:r>
          </a:p>
          <a:p>
            <a:pPr indent="0" defTabSz="914400">
              <a:lnSpc>
                <a:spcPct val="90000"/>
              </a:lnSpc>
              <a:spcBef>
                <a:spcPts val="1000"/>
              </a:spcBef>
              <a:buNone/>
              <a:tabLst>
                <a:tab pos="0" algn="l"/>
              </a:tabLst>
              <a:defRPr lang="en-us" sz="2800" cap="none">
                <a:solidFill>
                  <a:srgbClr val="000000"/>
                </a:solidFill>
              </a:defRPr>
            </a:pPr>
            <a:r>
              <a:t>	</a:t>
            </a:r>
          </a:p>
          <a:p>
            <a:pPr indent="0" defTabSz="914400">
              <a:lnSpc>
                <a:spcPct val="90000"/>
              </a:lnSpc>
              <a:spcBef>
                <a:spcPts val="1000"/>
              </a:spcBef>
              <a:buNone/>
              <a:tabLst>
                <a:tab pos="0" algn="l"/>
              </a:tabLst>
            </a:pPr>
            <a:r>
              <a:rPr lang="en-us" sz="2800" i="1" cap="none">
                <a:solidFill>
                  <a:srgbClr val="000000"/>
                </a:solidFill>
                <a:latin typeface="Calibri" pitchFamily="2" charset="0"/>
                <a:ea typeface="DejaVu Sans" pitchFamily="1" charset="0"/>
                <a:cs typeface="DejaVu Sans" pitchFamily="1" charset="0"/>
              </a:rPr>
              <a:t>d)Determine canonical cover or minimal cover (fc) .</a:t>
            </a:r>
            <a:endParaRPr lang="en-us" sz="2800" cap="none">
              <a:solidFill>
                <a:srgbClr val="000000"/>
              </a:solidFill>
            </a:endParaRPr>
          </a:p>
          <a:p>
            <a:pPr indent="0" defTabSz="914400">
              <a:lnSpc>
                <a:spcPct val="90000"/>
              </a:lnSpc>
              <a:spcBef>
                <a:spcPts val="1000"/>
              </a:spcBef>
              <a:buNone/>
              <a:tabLst>
                <a:tab pos="0" algn="l"/>
              </a:tabLst>
            </a:pPr>
            <a:r>
              <a:rPr lang="en-us" sz="2800" i="1" cap="none">
                <a:solidFill>
                  <a:srgbClr val="000000"/>
                </a:solidFill>
                <a:latin typeface="Calibri" pitchFamily="2" charset="0"/>
                <a:ea typeface="DejaVu Sans" pitchFamily="1" charset="0"/>
                <a:cs typeface="DejaVu Sans" pitchFamily="1" charset="0"/>
              </a:rPr>
              <a:t>	e.g f={a-&gt;b,c-&gt;b,d-&gt;abc,ac-d}</a:t>
            </a:r>
            <a:endParaRPr lang="en-us" sz="2800" cap="none">
              <a:solidFill>
                <a:srgbClr val="000000"/>
              </a:solidFill>
            </a:endParaRPr>
          </a:p>
        </p:txBody>
      </p:sp>
      <p:pic>
        <p:nvPicPr>
          <p:cNvPr id="4"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JwoAAAJFAAACEQAAJoZAAAQAAAAJgAAAAgAAAD//////////w=="/>
              </a:ext>
            </a:extLst>
          </p:cNvPicPr>
          <p:nvPr/>
        </p:nvPicPr>
        <p:blipFill>
          <a:blip r:embed="rId3"/>
          <a:stretch>
            <a:fillRect/>
          </a:stretch>
        </p:blipFill>
        <p:spPr>
          <a:xfrm>
            <a:off x="6601460" y="3256915"/>
            <a:ext cx="4457700" cy="904875"/>
          </a:xfrm>
          <a:prstGeom prst="rect">
            <a:avLst/>
          </a:prstGeom>
          <a:noFill/>
          <a:ln>
            <a:noFill/>
          </a:ln>
          <a:effectLst/>
        </p:spPr>
      </p:pic>
      <p:pic>
        <p:nvPicPr>
          <p:cNvPr id="5" name="Picture2"/>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c2AAB8GgAAGEMAABYmAAAQAAAAJgAAAAgAAAD//////////w=="/>
              </a:ext>
            </a:extLst>
          </p:cNvPicPr>
          <p:nvPr/>
        </p:nvPicPr>
        <p:blipFill>
          <a:blip r:embed="rId4"/>
          <a:stretch>
            <a:fillRect/>
          </a:stretch>
        </p:blipFill>
        <p:spPr>
          <a:xfrm>
            <a:off x="8935085" y="4305300"/>
            <a:ext cx="1971675" cy="1885950"/>
          </a:xfrm>
          <a:prstGeom prst="rect">
            <a:avLst/>
          </a:prstGeom>
          <a:noFill/>
          <a:ln>
            <a:noFill/>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cDAABZBgAAnSIAACwgAAAQAAAAJgAAAAgAAAD//////////w=="/>
              </a:ext>
            </a:extLst>
          </p:cNvPicPr>
          <p:nvPr/>
        </p:nvPicPr>
        <p:blipFill>
          <a:blip r:embed="rId3"/>
          <a:stretch>
            <a:fillRect/>
          </a:stretch>
        </p:blipFill>
        <p:spPr>
          <a:xfrm>
            <a:off x="563245" y="1031875"/>
            <a:ext cx="5063490" cy="4197985"/>
          </a:xfrm>
          <a:prstGeom prst="rect">
            <a:avLst/>
          </a:prstGeom>
          <a:noFill/>
          <a:ln>
            <a:noFill/>
          </a:ln>
          <a:effectLst/>
        </p:spPr>
      </p:pic>
      <p:pic>
        <p:nvPicPr>
          <p:cNvPr id="3" name="Picture2"/>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IoAACxCQAACz8AANwaAAAQAAAAJgAAAAgAAAD//////////w=="/>
              </a:ext>
            </a:extLst>
          </p:cNvPicPr>
          <p:nvPr/>
        </p:nvPicPr>
        <p:blipFill>
          <a:blip r:embed="rId4"/>
          <a:stretch>
            <a:fillRect/>
          </a:stretch>
        </p:blipFill>
        <p:spPr>
          <a:xfrm>
            <a:off x="6523990" y="1575435"/>
            <a:ext cx="3724275" cy="2790825"/>
          </a:xfrm>
          <a:prstGeom prst="rect">
            <a:avLst/>
          </a:prstGeom>
          <a:noFill/>
          <a:ln>
            <a:noFill/>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CNjYH/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JQRAACVCAAAUzAAAKAfAAAQAAAAJgAAAAgAAAD//////////w=="/>
              </a:ext>
            </a:extLst>
          </p:cNvPicPr>
          <p:nvPr/>
        </p:nvPicPr>
        <p:blipFill>
          <a:blip r:embed="rId3"/>
          <a:stretch>
            <a:fillRect/>
          </a:stretch>
        </p:blipFill>
        <p:spPr>
          <a:xfrm>
            <a:off x="2857500" y="1395095"/>
            <a:ext cx="4998085" cy="3745865"/>
          </a:xfrm>
          <a:prstGeom prst="rect">
            <a:avLst/>
          </a:prstGeom>
          <a:noFill/>
          <a:ln>
            <a:noFill/>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Canonical cover</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89000"/>
              </a:lnSpc>
              <a:spcBef>
                <a:spcPts val="950"/>
              </a:spcBef>
              <a:buClrTx/>
              <a:buFont typeface="Arial" pitchFamily="2" charset="0"/>
              <a:buChar char="•"/>
              <a:defRPr sz="1710" cap="none"/>
            </a:pPr>
            <a:r>
              <a:rPr lang="en-us" sz="2660" cap="none">
                <a:solidFill>
                  <a:srgbClr val="000000"/>
                </a:solidFill>
                <a:latin typeface="Calibri" pitchFamily="2" charset="0"/>
                <a:ea typeface="DejaVu Sans" pitchFamily="1" charset="0"/>
                <a:cs typeface="DejaVu Sans" pitchFamily="1" charset="0"/>
              </a:rPr>
              <a:t>A canonical cover is a simplified and reduced version of the given set of functional dependencies.</a:t>
            </a:r>
            <a:endParaRPr lang="en-us" sz="2660" cap="none">
              <a:solidFill>
                <a:srgbClr val="000000"/>
              </a:solidFill>
            </a:endParaRPr>
          </a:p>
          <a:p>
            <a:pPr marL="228600" indent="-228600">
              <a:lnSpc>
                <a:spcPct val="89000"/>
              </a:lnSpc>
              <a:spcBef>
                <a:spcPts val="950"/>
              </a:spcBef>
              <a:buClrTx/>
              <a:buFont typeface="Arial" pitchFamily="2" charset="0"/>
              <a:buChar char="•"/>
              <a:defRPr sz="1710" cap="none"/>
            </a:pPr>
            <a:r>
              <a:rPr lang="en-us" sz="2660" cap="none">
                <a:solidFill>
                  <a:srgbClr val="000000"/>
                </a:solidFill>
                <a:latin typeface="Calibri" pitchFamily="2" charset="0"/>
                <a:ea typeface="DejaVu Sans" pitchFamily="1" charset="0"/>
                <a:cs typeface="DejaVu Sans" pitchFamily="1" charset="0"/>
              </a:rPr>
              <a:t>Since it is a reduced version, it is also called as Irreducible set.</a:t>
            </a:r>
            <a:endParaRPr lang="en-us" sz="2660" cap="none">
              <a:solidFill>
                <a:srgbClr val="000000"/>
              </a:solidFill>
            </a:endParaRPr>
          </a:p>
          <a:p>
            <a:pPr marL="228600" indent="-228600">
              <a:lnSpc>
                <a:spcPct val="89000"/>
              </a:lnSpc>
              <a:spcBef>
                <a:spcPts val="950"/>
              </a:spcBef>
              <a:buClrTx/>
              <a:buFont typeface="Arial" pitchFamily="2" charset="0"/>
              <a:buChar char="•"/>
              <a:defRPr sz="1710" cap="none"/>
            </a:pPr>
            <a:r>
              <a:rPr lang="en-us" sz="2660" cap="none">
                <a:solidFill>
                  <a:srgbClr val="000000"/>
                </a:solidFill>
                <a:latin typeface="Calibri" pitchFamily="2" charset="0"/>
                <a:ea typeface="DejaVu Sans" pitchFamily="1" charset="0"/>
                <a:cs typeface="DejaVu Sans" pitchFamily="1" charset="0"/>
              </a:rPr>
              <a:t>Canonical cover is free from all the extraneous functional dependencies.</a:t>
            </a:r>
            <a:endParaRPr lang="en-us" sz="2660" cap="none">
              <a:solidFill>
                <a:srgbClr val="000000"/>
              </a:solidFill>
            </a:endParaRPr>
          </a:p>
          <a:p>
            <a:pPr marL="228600" indent="-228600">
              <a:lnSpc>
                <a:spcPct val="89000"/>
              </a:lnSpc>
              <a:spcBef>
                <a:spcPts val="950"/>
              </a:spcBef>
              <a:buClrTx/>
              <a:buFont typeface="Arial" pitchFamily="2" charset="0"/>
              <a:buChar char="•"/>
              <a:defRPr sz="1710" cap="none"/>
            </a:pPr>
            <a:r>
              <a:rPr lang="en-us" sz="2660" cap="none">
                <a:solidFill>
                  <a:srgbClr val="000000"/>
                </a:solidFill>
                <a:latin typeface="Calibri" pitchFamily="2" charset="0"/>
                <a:ea typeface="DejaVu Sans" pitchFamily="1" charset="0"/>
                <a:cs typeface="DejaVu Sans" pitchFamily="1" charset="0"/>
              </a:rPr>
              <a:t>Steps To Find Canonical Cover-</a:t>
            </a:r>
            <a:endParaRPr lang="en-us" sz="2660" cap="none">
              <a:solidFill>
                <a:srgbClr val="000000"/>
              </a:solidFill>
            </a:endParaRPr>
          </a:p>
          <a:p>
            <a:pPr marL="685800" lvl="1" indent="-228600">
              <a:lnSpc>
                <a:spcPct val="89000"/>
              </a:lnSpc>
              <a:spcBef>
                <a:spcPts val="470"/>
              </a:spcBef>
              <a:buClrTx/>
              <a:buFont typeface="Arial" pitchFamily="2" charset="0"/>
              <a:buChar char="•"/>
              <a:defRPr sz="1710" cap="none"/>
            </a:pPr>
            <a:r>
              <a:rPr lang="en-us" sz="2280" cap="none">
                <a:solidFill>
                  <a:srgbClr val="000000"/>
                </a:solidFill>
                <a:latin typeface="Calibri" pitchFamily="2" charset="0"/>
                <a:ea typeface="DejaVu Sans" pitchFamily="1" charset="0"/>
                <a:cs typeface="DejaVu Sans" pitchFamily="1" charset="0"/>
              </a:rPr>
              <a:t>Splitting rule so that in every FD right hand side has single attributes (Discard trivial FD)</a:t>
            </a:r>
            <a:endParaRPr lang="en-us" sz="2280" cap="none">
              <a:solidFill>
                <a:srgbClr val="000000"/>
              </a:solidFill>
            </a:endParaRPr>
          </a:p>
          <a:p>
            <a:pPr marL="685800" lvl="1" indent="-228600">
              <a:lnSpc>
                <a:spcPct val="89000"/>
              </a:lnSpc>
              <a:spcBef>
                <a:spcPts val="470"/>
              </a:spcBef>
              <a:buClrTx/>
              <a:buFont typeface="Arial" pitchFamily="2" charset="0"/>
              <a:buChar char="•"/>
              <a:defRPr sz="1710" cap="none"/>
            </a:pPr>
            <a:r>
              <a:rPr lang="en-us" sz="2280" cap="none">
                <a:solidFill>
                  <a:srgbClr val="000000"/>
                </a:solidFill>
                <a:latin typeface="Calibri" pitchFamily="2" charset="0"/>
                <a:ea typeface="DejaVu Sans" pitchFamily="1" charset="0"/>
                <a:cs typeface="DejaVu Sans" pitchFamily="1" charset="0"/>
              </a:rPr>
              <a:t>Remove extraneous attributes //redundant attributes (LHS remove) </a:t>
            </a:r>
            <a:endParaRPr lang="en-us" sz="2280" cap="none">
              <a:solidFill>
                <a:srgbClr val="000000"/>
              </a:solidFill>
            </a:endParaRPr>
          </a:p>
          <a:p>
            <a:pPr marL="685800" lvl="1" indent="-228600">
              <a:lnSpc>
                <a:spcPct val="89000"/>
              </a:lnSpc>
              <a:spcBef>
                <a:spcPts val="470"/>
              </a:spcBef>
              <a:buClrTx/>
              <a:buFont typeface="Arial" pitchFamily="2" charset="0"/>
              <a:buChar char="•"/>
              <a:defRPr sz="1710" cap="none"/>
            </a:pPr>
            <a:r>
              <a:rPr lang="en-us" sz="2280" cap="none">
                <a:solidFill>
                  <a:srgbClr val="000000"/>
                </a:solidFill>
                <a:latin typeface="Calibri" pitchFamily="2" charset="0"/>
                <a:ea typeface="DejaVu Sans" pitchFamily="1" charset="0"/>
                <a:cs typeface="DejaVu Sans" pitchFamily="1" charset="0"/>
              </a:rPr>
              <a:t>Remove redundant FD</a:t>
            </a:r>
          </a:p>
          <a:p>
            <a:pPr marL="685800" lvl="1" indent="-228600">
              <a:lnSpc>
                <a:spcPct val="89000"/>
              </a:lnSpc>
              <a:spcBef>
                <a:spcPts val="470"/>
              </a:spcBef>
              <a:buClrTx/>
              <a:buFont typeface="Arial" pitchFamily="2" charset="0"/>
              <a:buChar char="•"/>
              <a:defRPr sz="1710" cap="none"/>
            </a:pPr>
            <a:r>
              <a:rPr lang="en-us" sz="2185" cap="none">
                <a:solidFill>
                  <a:srgbClr val="000000"/>
                </a:solidFill>
                <a:latin typeface="Calibri" pitchFamily="2" charset="0"/>
                <a:ea typeface="Calibri" pitchFamily="2" charset="0"/>
                <a:cs typeface="Calibri" pitchFamily="2" charset="0"/>
              </a:rPr>
              <a:t>R( A, B, C, D) and set of Function Dependency FD = { B → A, AD → BC, C → ABD }.</a:t>
            </a:r>
            <a:r>
              <a:rPr lang="en-us" sz="2280" cap="none">
                <a:solidFill>
                  <a:srgbClr val="000000"/>
                </a:solidFill>
                <a:latin typeface="Calibri" pitchFamily="2" charset="0"/>
                <a:ea typeface="DejaVu Sans" pitchFamily="1" charset="0"/>
                <a:cs typeface="DejaVu Sans" pitchFamily="1" charset="0"/>
              </a:rPr>
              <a:t> </a:t>
            </a:r>
          </a:p>
          <a:p>
            <a:pPr marL="685800" lvl="1" indent="-228600">
              <a:lnSpc>
                <a:spcPct val="89000"/>
              </a:lnSpc>
              <a:spcBef>
                <a:spcPts val="470"/>
              </a:spcBef>
              <a:buClrTx/>
              <a:buFont typeface="Arial" pitchFamily="2" charset="0"/>
              <a:buChar char="•"/>
              <a:defRPr lang="en-us" sz="2280" cap="none">
                <a:solidFill>
                  <a:srgbClr val="000000"/>
                </a:solidFill>
                <a:latin typeface="Calibri" pitchFamily="2" charset="0"/>
                <a:ea typeface="DejaVu Sans" pitchFamily="1" charset="0"/>
                <a:cs typeface="DejaVu Sans" pitchFamily="1" charset="0"/>
              </a:defRPr>
            </a:pPr>
            <a:r>
              <a:rPr lang="en-us" sz="2185" cap="none"/>
              <a:t>R( A, B, C, D) and set of Function Dependency FD = { A → B, B → C, AB → D }.</a:t>
            </a:r>
            <a:r>
              <a:t> </a:t>
            </a:r>
          </a:p>
          <a:p>
            <a:pPr marL="685800" lvl="1" indent="-228600">
              <a:lnSpc>
                <a:spcPct val="89000"/>
              </a:lnSpc>
              <a:spcBef>
                <a:spcPts val="470"/>
              </a:spcBef>
              <a:buClrTx/>
              <a:buFont typeface="Arial" pitchFamily="2" charset="0"/>
              <a:buChar char="•"/>
              <a:defRPr lang="en-us" sz="2280" cap="none">
                <a:solidFill>
                  <a:srgbClr val="000000"/>
                </a:solidFill>
              </a:defRPr>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Decomposition </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Decomposition is the process of breaking down bigger relation into smaller relations. So,</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It breaks a bigger table into smaller tables in database.</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Also, there should not be any loss of information while breaking into smaller parts. i.e. We should be able to construct bigger table using smaller ones, when needed.</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If we can not construct bigger table from smaller ones, then there is loss of information.</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It is needed when relation is not in appropriate normal format.</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It is used to eliminate problems like anomalies, inconsistencies and redundancy.</a:t>
            </a:r>
            <a:endParaRPr lang="en-us" sz="2400" cap="none">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H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D0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Types of decomposition techniques</a:t>
            </a:r>
            <a:endParaRPr lang="en-us" cap="none">
              <a:solidFill>
                <a:srgbClr val="000000"/>
              </a:solidFill>
            </a:endParaRPr>
          </a:p>
        </p:txBody>
      </p:sp>
      <p:pic>
        <p:nvPicPr>
          <p:cNvPr id="3" name="Picture 2" descr="Tutorialwing Database DBMS types of decomposition types"/>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NMPAABmCgAAKjsAAIIlAAAQAAAAJgAAAAgAAAD//////////w=="/>
              </a:ext>
            </a:extLst>
          </p:cNvPicPr>
          <p:nvPr/>
        </p:nvPicPr>
        <p:blipFill>
          <a:blip r:embed="rId3"/>
          <a:stretch>
            <a:fillRect/>
          </a:stretch>
        </p:blipFill>
        <p:spPr>
          <a:xfrm>
            <a:off x="2572385" y="1690370"/>
            <a:ext cx="7045325" cy="4406900"/>
          </a:xfrm>
          <a:prstGeom prst="rect">
            <a:avLst/>
          </a:prstGeom>
          <a:noFill/>
          <a:ln>
            <a:noFill/>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Loss Less Decomposition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If the information is not lost after decomposition, then decomposition is loss less decomposition.</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If you perform natural JOIN operation on decomposed relations, resultant relation will be original relation which was decomposed.</a:t>
            </a:r>
            <a:endParaRPr lang="en-us" sz="2800" cap="none">
              <a:solidFill>
                <a:srgbClr val="000000"/>
              </a:solidFill>
            </a:endParaRPr>
          </a:p>
          <a:p>
            <a:pPr indent="0" defTabSz="914400">
              <a:lnSpc>
                <a:spcPct val="90000"/>
              </a:lnSpc>
              <a:spcBef>
                <a:spcPts val="1000"/>
              </a:spcBef>
              <a:buNone/>
              <a:tabLst>
                <a:tab pos="0" algn="l"/>
              </a:tabLst>
            </a:pPr>
            <a:endParaRPr lang="en-us" sz="2800" cap="none">
              <a:solidFill>
                <a:srgbClr val="000000"/>
              </a:solidFill>
            </a:endParaRPr>
          </a:p>
          <a:p>
            <a:pPr marL="228600" indent="-228600" defTabSz="914400">
              <a:lnSpc>
                <a:spcPct val="90000"/>
              </a:lnSpc>
              <a:spcBef>
                <a:spcPts val="1000"/>
              </a:spcBef>
              <a:buClrTx/>
              <a:buFont typeface="Arial" pitchFamily="2" charset="0"/>
              <a:buChar char="•"/>
              <a:tabLst>
                <a:tab pos="0" algn="l"/>
              </a:tabLst>
            </a:pPr>
            <a:r>
              <a:rPr lang="en-us" sz="2800" cap="none">
                <a:solidFill>
                  <a:srgbClr val="000000"/>
                </a:solidFill>
                <a:latin typeface="Calibri" pitchFamily="2" charset="0"/>
                <a:ea typeface="DejaVu Sans" pitchFamily="1" charset="0"/>
                <a:cs typeface="DejaVu Sans" pitchFamily="1" charset="0"/>
              </a:rPr>
              <a:t>2. Lossy Decomposition</a:t>
            </a:r>
            <a:endParaRPr lang="en-us" sz="2800" cap="none">
              <a:solidFill>
                <a:srgbClr val="000000"/>
              </a:solidFill>
            </a:endParaRPr>
          </a:p>
          <a:p>
            <a:pPr marL="685800" lvl="1" indent="-228600" defTabSz="914400">
              <a:lnSpc>
                <a:spcPct val="90000"/>
              </a:lnSpc>
              <a:spcBef>
                <a:spcPts val="495"/>
              </a:spcBef>
              <a:buClrTx/>
              <a:buFont typeface="Arial" pitchFamily="2" charset="0"/>
              <a:buChar char="•"/>
              <a:tabLst>
                <a:tab pos="0" algn="l"/>
              </a:tabLst>
            </a:pPr>
            <a:r>
              <a:rPr lang="en-us" sz="2400" cap="none">
                <a:solidFill>
                  <a:srgbClr val="000000"/>
                </a:solidFill>
                <a:latin typeface="Calibri" pitchFamily="2" charset="0"/>
                <a:ea typeface="DejaVu Sans" pitchFamily="1" charset="0"/>
                <a:cs typeface="DejaVu Sans" pitchFamily="1" charset="0"/>
              </a:rPr>
              <a:t>when a relation is decomposed into two or more relational schemas, the loss of information is unavoidable when the original relation is retrieved.</a:t>
            </a:r>
            <a:endParaRPr lang="en-us" sz="2400" cap="none">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LILAADiAAAA6jwAAOkmAAAQAAAAJgAAAAgAAAD//////////w=="/>
              </a:ext>
            </a:extLst>
          </p:cNvPicPr>
          <p:nvPr/>
        </p:nvPicPr>
        <p:blipFill>
          <a:blip r:embed="rId2"/>
          <a:stretch>
            <a:fillRect/>
          </a:stretch>
        </p:blipFill>
        <p:spPr>
          <a:xfrm>
            <a:off x="1901190" y="143510"/>
            <a:ext cx="8001000" cy="6181725"/>
          </a:xfrm>
          <a:prstGeom prst="rect">
            <a:avLst/>
          </a:prstGeom>
          <a:noFill/>
          <a:ln>
            <a:noFill/>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ov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eQYAABAAAAAmAAAACAAAAD0QAAD/HwAA"/>
              </a:ext>
            </a:extLst>
          </p:cNvSpPr>
          <p:nvPr>
            <p:ph type="title"/>
          </p:nvPr>
        </p:nvSpPr>
        <p:spPr>
          <a:xfrm>
            <a:off x="838200" y="365125"/>
            <a:ext cx="10514330" cy="687070"/>
          </a:xfrm>
          <a:noFill/>
          <a:ln>
            <a:noFill/>
          </a:ln>
        </p:spPr>
        <p:txBody>
          <a:bodyPr vert="horz" wrap="square" lIns="0" tIns="0" rIns="0" bIns="0"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Loss Less Decomposition</a:t>
            </a:r>
            <a:endParaRPr lang="en-us" cap="none">
              <a:solidFill>
                <a:srgbClr val="000000"/>
              </a:solidFill>
            </a:endParaRPr>
          </a:p>
        </p:txBody>
      </p:sp>
      <p:pic>
        <p:nvPicPr>
          <p:cNvPr id="3"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IIJAABVBgAAWD4AAGMVAAAQAAAAJgAAAAgAAAD//////////w=="/>
              </a:ext>
            </a:extLst>
          </p:cNvPicPr>
          <p:nvPr/>
        </p:nvPicPr>
        <p:blipFill>
          <a:blip r:embed="rId3"/>
          <a:stretch>
            <a:fillRect/>
          </a:stretch>
        </p:blipFill>
        <p:spPr>
          <a:xfrm>
            <a:off x="1545590" y="1029335"/>
            <a:ext cx="8589010" cy="2447290"/>
          </a:xfrm>
          <a:prstGeom prst="rect">
            <a:avLst/>
          </a:prstGeom>
          <a:noFill/>
          <a:ln>
            <a:noFill/>
          </a:ln>
          <a:effectLst/>
        </p:spPr>
      </p:pic>
      <p:pic>
        <p:nvPicPr>
          <p:cNvPr id="4" name="Picture 8"/>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QqAABQGgAA/UoAALQkAAAQAAAAJgAAAAgAAAD//////////w=="/>
              </a:ext>
            </a:extLst>
          </p:cNvPicPr>
          <p:nvPr/>
        </p:nvPicPr>
        <p:blipFill>
          <a:blip r:embed="rId4"/>
          <a:stretch>
            <a:fillRect/>
          </a:stretch>
        </p:blipFill>
        <p:spPr>
          <a:xfrm>
            <a:off x="6850380" y="4277360"/>
            <a:ext cx="5339715" cy="1689100"/>
          </a:xfrm>
          <a:prstGeom prst="rect">
            <a:avLst/>
          </a:prstGeom>
          <a:noFill/>
          <a:ln>
            <a:noFill/>
          </a:ln>
          <a:effectLst/>
        </p:spPr>
      </p:pic>
      <p:pic>
        <p:nvPicPr>
          <p:cNvPr id="5" name="Picture 10"/>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MCAACZGAAA3icAAOokAAAQAAAAJgAAAAgAAAD//////////w=="/>
              </a:ext>
            </a:extLst>
          </p:cNvPicPr>
          <p:nvPr/>
        </p:nvPicPr>
        <p:blipFill>
          <a:blip r:embed="rId5"/>
          <a:stretch>
            <a:fillRect/>
          </a:stretch>
        </p:blipFill>
        <p:spPr>
          <a:xfrm>
            <a:off x="347345" y="3998595"/>
            <a:ext cx="6133465" cy="2002155"/>
          </a:xfrm>
          <a:prstGeom prst="rect">
            <a:avLst/>
          </a:prstGeom>
          <a:noFill/>
          <a:ln>
            <a:noFill/>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D0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Loss Less Decomposition</a:t>
            </a:r>
            <a:endParaRPr lang="en-us" cap="none">
              <a:solidFill>
                <a:srgbClr val="000000"/>
              </a:solidFill>
            </a:endParaRPr>
          </a:p>
        </p:txBody>
      </p:sp>
      <p:pic>
        <p:nvPicPr>
          <p:cNvPr id="3" name="Picture 3"/>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DYHAADyDQAA1kUAALMmAAAQAAAAJgAAAAgAAAD//////////w=="/>
              </a:ext>
            </a:extLst>
          </p:cNvPicPr>
          <p:nvPr/>
        </p:nvPicPr>
        <p:blipFill>
          <a:blip r:embed="rId3"/>
          <a:stretch>
            <a:fillRect/>
          </a:stretch>
        </p:blipFill>
        <p:spPr>
          <a:xfrm>
            <a:off x="1172210" y="2266950"/>
            <a:ext cx="10180320" cy="4023995"/>
          </a:xfrm>
          <a:prstGeom prst="rect">
            <a:avLst/>
          </a:prstGeom>
          <a:noFill/>
          <a:ln>
            <a:noFill/>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Dependency Preserving Decomposition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Dependency Preserving Decomposition is a technique used in Database Management System (DBMS) to decompose a relation into smaller relations while preserving the functional dependencies between the attributes. </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1NF, 2NF, and 3NF are valid for dependency-preserving decomposition.</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In dependency preservation which says that after decomposing a relation R into R1 and R2, all dependencies of the original relation R must be present either in R1 or R2 or they must be derivable using the combination of functional dependencies present in R1 and R2.</a:t>
            </a:r>
            <a:endParaRPr lang="en-us" sz="2800" cap="none">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YN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Dependency Preserving Decomposition</a:t>
            </a:r>
            <a:endParaRPr lang="en-us" cap="none">
              <a:solidFill>
                <a:srgbClr val="000000"/>
              </a:solidFill>
            </a:endParaRPr>
          </a:p>
        </p:txBody>
      </p:sp>
      <p:graphicFrame>
        <p:nvGraphicFramePr>
          <p:cNvPr id="3" name="Table 2"/>
          <p:cNvGraphicFramePr>
            <a:graphicFrameLocks noGrp="1"/>
          </p:cNvGraphicFramePr>
          <p:nvPr/>
        </p:nvGraphicFramePr>
        <p:xfrm>
          <a:off x="838200" y="1825625"/>
          <a:ext cx="10515600" cy="2078990"/>
        </p:xfrm>
        <a:graphic>
          <a:graphicData uri="http://schemas.openxmlformats.org/drawingml/2006/table">
            <a:tbl>
              <a:tblPr>
                <a:noFil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415925">
                <a:tc>
                  <a:txBody>
                    <a:bodyPr/>
                    <a:lstStyle/>
                    <a:p>
                      <a:pPr marL="0" marR="0" indent="0" algn="ctr">
                        <a:lnSpc>
                          <a:spcPct val="100000"/>
                        </a:lnSpc>
                        <a:buNone/>
                      </a:pPr>
                      <a:r>
                        <a:rPr lang="en-us" b="1" cap="none">
                          <a:solidFill>
                            <a:srgbClr val="FFFFFF"/>
                          </a:solidFill>
                          <a:latin typeface="Calibri" pitchFamily="2" charset="0"/>
                          <a:ea typeface="Basic Roman" pitchFamily="1" charset="0"/>
                          <a:cs typeface="Basic Roman" pitchFamily="1" charset="0"/>
                        </a:rPr>
                        <a:t>Employee_Code</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chemeClr val="accent1"/>
                    </a:solidFill>
                  </a:tcPr>
                </a:tc>
                <a:tc>
                  <a:txBody>
                    <a:bodyPr/>
                    <a:lstStyle/>
                    <a:p>
                      <a:pPr marL="0" marR="0" indent="0" algn="ctr">
                        <a:lnSpc>
                          <a:spcPct val="100000"/>
                        </a:lnSpc>
                        <a:buNone/>
                      </a:pPr>
                      <a:r>
                        <a:rPr lang="en-us" b="1" cap="none">
                          <a:solidFill>
                            <a:srgbClr val="FFFFFF"/>
                          </a:solidFill>
                          <a:latin typeface="Calibri" pitchFamily="2" charset="0"/>
                          <a:ea typeface="Basic Roman" pitchFamily="1" charset="0"/>
                          <a:cs typeface="Basic Roman" pitchFamily="1" charset="0"/>
                        </a:rPr>
                        <a:t>Employee_Name</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chemeClr val="accent1"/>
                    </a:solidFill>
                  </a:tcPr>
                </a:tc>
                <a:tc>
                  <a:txBody>
                    <a:bodyPr/>
                    <a:lstStyle/>
                    <a:p>
                      <a:pPr marL="0" marR="0" indent="0" algn="ctr">
                        <a:lnSpc>
                          <a:spcPct val="100000"/>
                        </a:lnSpc>
                        <a:buNone/>
                      </a:pPr>
                      <a:r>
                        <a:rPr lang="en-us" b="1" cap="none">
                          <a:solidFill>
                            <a:srgbClr val="FFFFFF"/>
                          </a:solidFill>
                          <a:latin typeface="Calibri" pitchFamily="2" charset="0"/>
                          <a:ea typeface="Basic Roman" pitchFamily="1" charset="0"/>
                          <a:cs typeface="Basic Roman" pitchFamily="1" charset="0"/>
                        </a:rPr>
                        <a:t>Employee_Email</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chemeClr val="accent1"/>
                    </a:solidFill>
                  </a:tcPr>
                </a:tc>
                <a:tc>
                  <a:txBody>
                    <a:bodyPr/>
                    <a:lstStyle/>
                    <a:p>
                      <a:pPr marL="0" marR="0" indent="0" algn="ctr">
                        <a:lnSpc>
                          <a:spcPct val="100000"/>
                        </a:lnSpc>
                        <a:buNone/>
                      </a:pPr>
                      <a:r>
                        <a:rPr lang="en-us" b="1" cap="none">
                          <a:solidFill>
                            <a:srgbClr val="FFFFFF"/>
                          </a:solidFill>
                          <a:latin typeface="Calibri" pitchFamily="2" charset="0"/>
                          <a:ea typeface="Basic Roman" pitchFamily="1" charset="0"/>
                          <a:cs typeface="Basic Roman" pitchFamily="1" charset="0"/>
                        </a:rPr>
                        <a:t>Project_Name</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chemeClr val="accent1"/>
                    </a:solidFill>
                  </a:tcPr>
                </a:tc>
                <a:tc>
                  <a:txBody>
                    <a:bodyPr/>
                    <a:lstStyle/>
                    <a:p>
                      <a:pPr marL="0" marR="0" indent="0" algn="ctr">
                        <a:lnSpc>
                          <a:spcPct val="100000"/>
                        </a:lnSpc>
                        <a:buNone/>
                      </a:pPr>
                      <a:r>
                        <a:rPr lang="en-us" b="1" cap="none">
                          <a:solidFill>
                            <a:srgbClr val="FFFFFF"/>
                          </a:solidFill>
                          <a:latin typeface="Calibri" pitchFamily="2" charset="0"/>
                          <a:ea typeface="Basic Roman" pitchFamily="1" charset="0"/>
                          <a:cs typeface="Basic Roman" pitchFamily="1" charset="0"/>
                        </a:rPr>
                        <a:t>Project_ID</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chemeClr val="accent1"/>
                    </a:solidFill>
                  </a:tcPr>
                </a:tc>
                <a:extLst>
                  <a:ext uri="{0D108BD9-81ED-4DB2-BD59-A6C34878D82A}">
                    <a16:rowId xmlns:a16="http://schemas.microsoft.com/office/drawing/2014/main" val="10000"/>
                  </a:ext>
                  <a:ext uri="smNativeData">
                    <pr:rowheight xmlns:pr="smNativeData" xmlns="" xmlns:p15="http://schemas.microsoft.com/office/powerpoint/2012/main" xmlns:p14="http://schemas.microsoft.com/office/powerpoint/2010/main" xmlns:mc="http://schemas.openxmlformats.org/markup-compatibility/2006" dt="1733826717" type="min" val="415925"/>
                  </a:ext>
                </a:extLst>
              </a:tr>
              <a:tr h="415925">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101</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John</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u="sng" cap="none">
                          <a:solidFill>
                            <a:srgbClr val="000000"/>
                          </a:solidFill>
                          <a:latin typeface="Calibri" pitchFamily="2" charset="0"/>
                          <a:ea typeface="Basic Roman" pitchFamily="1" charset="0"/>
                          <a:cs typeface="Basic Roman" pitchFamily="1" charset="0"/>
                          <a:hlinkClick r:id="rId3"/>
                        </a:rPr>
                        <a:t>john@demo.com</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Project103</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P03</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extLst>
                  <a:ext uri="{0D108BD9-81ED-4DB2-BD59-A6C34878D82A}">
                    <a16:rowId xmlns:a16="http://schemas.microsoft.com/office/drawing/2014/main" val="10001"/>
                  </a:ext>
                  <a:ext uri="smNativeData">
                    <pr:rowheight xmlns:pr="smNativeData" xmlns="" xmlns:p15="http://schemas.microsoft.com/office/powerpoint/2012/main" xmlns:p14="http://schemas.microsoft.com/office/powerpoint/2010/main" xmlns:mc="http://schemas.openxmlformats.org/markup-compatibility/2006" dt="1733826717" type="min" val="415925"/>
                  </a:ext>
                </a:extLst>
              </a:tr>
              <a:tr h="415925">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101</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John</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u="sng" cap="none">
                          <a:solidFill>
                            <a:srgbClr val="000000"/>
                          </a:solidFill>
                          <a:latin typeface="Calibri" pitchFamily="2" charset="0"/>
                          <a:ea typeface="Basic Roman" pitchFamily="1" charset="0"/>
                          <a:cs typeface="Basic Roman" pitchFamily="1" charset="0"/>
                          <a:hlinkClick r:id="rId3"/>
                        </a:rPr>
                        <a:t>john@demo.com</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Project101</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P01</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extLst>
                  <a:ext uri="{0D108BD9-81ED-4DB2-BD59-A6C34878D82A}">
                    <a16:rowId xmlns:a16="http://schemas.microsoft.com/office/drawing/2014/main" val="10002"/>
                  </a:ext>
                  <a:ext uri="smNativeData">
                    <pr:rowheight xmlns:pr="smNativeData" xmlns="" xmlns:p15="http://schemas.microsoft.com/office/powerpoint/2012/main" xmlns:p14="http://schemas.microsoft.com/office/powerpoint/2010/main" xmlns:mc="http://schemas.openxmlformats.org/markup-compatibility/2006" dt="1733826717" type="min" val="415925"/>
                  </a:ext>
                </a:extLst>
              </a:tr>
              <a:tr h="415925">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102</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Ryan</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u="sng" cap="none">
                          <a:solidFill>
                            <a:srgbClr val="000000"/>
                          </a:solidFill>
                          <a:latin typeface="Calibri" pitchFamily="2" charset="0"/>
                          <a:ea typeface="Basic Roman" pitchFamily="1" charset="0"/>
                          <a:cs typeface="Basic Roman" pitchFamily="1" charset="0"/>
                          <a:hlinkClick r:id="rId4"/>
                        </a:rPr>
                        <a:t>ryan@example.com</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Project104</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P04</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CFD5E9"/>
                    </a:solidFill>
                  </a:tcPr>
                </a:tc>
                <a:extLst>
                  <a:ext uri="{0D108BD9-81ED-4DB2-BD59-A6C34878D82A}">
                    <a16:rowId xmlns:a16="http://schemas.microsoft.com/office/drawing/2014/main" val="10003"/>
                  </a:ext>
                  <a:ext uri="smNativeData">
                    <pr:rowheight xmlns:pr="smNativeData" xmlns="" xmlns:p15="http://schemas.microsoft.com/office/powerpoint/2012/main" xmlns:p14="http://schemas.microsoft.com/office/powerpoint/2010/main" xmlns:mc="http://schemas.openxmlformats.org/markup-compatibility/2006" dt="1733826717" type="min" val="415925"/>
                  </a:ext>
                </a:extLst>
              </a:tr>
              <a:tr h="415925">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103</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Stephanie</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u="sng" cap="none">
                          <a:solidFill>
                            <a:srgbClr val="000000"/>
                          </a:solidFill>
                          <a:latin typeface="Calibri" pitchFamily="2" charset="0"/>
                          <a:ea typeface="Basic Roman" pitchFamily="1" charset="0"/>
                          <a:cs typeface="Basic Roman" pitchFamily="1" charset="0"/>
                          <a:hlinkClick r:id="rId5"/>
                        </a:rPr>
                        <a:t>stephanie@abc.com</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Project102</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tc>
                  <a:txBody>
                    <a:bodyPr/>
                    <a:lstStyle/>
                    <a:p>
                      <a:pPr marL="0" marR="0" indent="0" algn="ctr">
                        <a:lnSpc>
                          <a:spcPct val="100000"/>
                        </a:lnSpc>
                        <a:buNone/>
                      </a:pPr>
                      <a:r>
                        <a:rPr lang="en-us" cap="none">
                          <a:solidFill>
                            <a:srgbClr val="000000"/>
                          </a:solidFill>
                          <a:latin typeface="Calibri" pitchFamily="2" charset="0"/>
                          <a:ea typeface="Basic Roman" pitchFamily="1" charset="0"/>
                          <a:cs typeface="Basic Roman" pitchFamily="1" charset="0"/>
                        </a:rPr>
                        <a:t>P02</a:t>
                      </a:r>
                      <a:endParaRPr lang="en-us" cap="none">
                        <a:solidFill>
                          <a:srgbClr val="000000"/>
                        </a:solidFill>
                      </a:endParaRPr>
                    </a:p>
                  </a:txBody>
                  <a:tcPr marR="-635" marT="91440" marB="-635" anchor="ctr">
                    <a:lnL>
                      <a:noFill/>
                    </a:lnL>
                    <a:lnR>
                      <a:noFill/>
                    </a:lnR>
                    <a:lnT>
                      <a:noFill/>
                    </a:lnT>
                    <a:lnB>
                      <a:noFill/>
                    </a:lnB>
                    <a:lnTlToBr>
                      <a:noFill/>
                    </a:lnTlToBr>
                    <a:lnBlToTr>
                      <a:noFill/>
                    </a:lnBlToTr>
                    <a:solidFill>
                      <a:srgbClr val="E8EBF4"/>
                    </a:solidFill>
                  </a:tcPr>
                </a:tc>
                <a:extLst>
                  <a:ext uri="{0D108BD9-81ED-4DB2-BD59-A6C34878D82A}">
                    <a16:rowId xmlns:a16="http://schemas.microsoft.com/office/drawing/2014/main" val="10004"/>
                  </a:ext>
                  <a:ext uri="smNativeData">
                    <pr:rowheight xmlns:pr="smNativeData" xmlns="" xmlns:p15="http://schemas.microsoft.com/office/powerpoint/2012/main" xmlns:p14="http://schemas.microsoft.com/office/powerpoint/2010/main" xmlns:mc="http://schemas.openxmlformats.org/markup-compatibility/2006" dt="1733826717" type="min" val="415925"/>
                  </a:ext>
                </a:extLst>
              </a:tr>
            </a:tbl>
          </a:graphicData>
        </a:graphic>
      </p:graphicFrame>
      <p:sp>
        <p:nvSpPr>
          <p:cNvPr id="4" name="TextBox 9"/>
          <p:cNvSpPr>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BMAACAcAAAyOQAAbSMAABAAAAAmAAAACAAAAP//////////"/>
              </a:ext>
            </a:extLst>
          </p:cNvSpPr>
          <p:nvPr/>
        </p:nvSpPr>
        <p:spPr>
          <a:xfrm>
            <a:off x="3200400" y="4572000"/>
            <a:ext cx="6097270" cy="1186815"/>
          </a:xfrm>
          <a:prstGeom prst="rect">
            <a:avLst/>
          </a:prstGeom>
          <a:noFill/>
          <a:ln>
            <a:noFill/>
          </a:ln>
          <a:effectLst/>
        </p:spPr>
        <p:txBody>
          <a:bodyPr vert="horz" wrap="square" lIns="90170" tIns="45085" rIns="90170" bIns="45085" numCol="1" spcCol="215900" anchor="t"/>
          <a:lstStyle/>
          <a:p>
            <a:pPr>
              <a:lnSpc>
                <a:spcPct val="100000"/>
              </a:lnSpc>
            </a:pPr>
            <a:r>
              <a:rPr lang="en-us" cap="none">
                <a:solidFill>
                  <a:srgbClr val="000000"/>
                </a:solidFill>
                <a:latin typeface="Calibri" pitchFamily="2" charset="0"/>
                <a:ea typeface="DejaVu Sans" pitchFamily="1" charset="0"/>
                <a:cs typeface="DejaVu Sans" pitchFamily="1" charset="0"/>
              </a:rPr>
              <a:t>In this relation we have the following FDs:</a:t>
            </a:r>
            <a:endParaRPr lang="en-us" cap="none">
              <a:solidFill>
                <a:srgbClr val="000000"/>
              </a:solidFill>
            </a:endParaRPr>
          </a:p>
          <a:p>
            <a:pPr>
              <a:lnSpc>
                <a:spcPct val="100000"/>
              </a:lnSpc>
            </a:pPr>
            <a:endParaRPr lang="en-us" cap="none">
              <a:solidFill>
                <a:srgbClr val="000000"/>
              </a:solidFill>
            </a:endParaRPr>
          </a:p>
          <a:p>
            <a:pPr>
              <a:lnSpc>
                <a:spcPct val="100000"/>
              </a:lnSpc>
            </a:pPr>
            <a:r>
              <a:rPr lang="en-us" cap="none">
                <a:solidFill>
                  <a:srgbClr val="000000"/>
                </a:solidFill>
                <a:latin typeface="Calibri" pitchFamily="2" charset="0"/>
                <a:ea typeface="DejaVu Sans" pitchFamily="1" charset="0"/>
                <a:cs typeface="DejaVu Sans" pitchFamily="1" charset="0"/>
              </a:rPr>
              <a:t>Employee_Code -&gt; {Employee_Name, Employee_Email}</a:t>
            </a:r>
            <a:endParaRPr lang="en-us" cap="none">
              <a:solidFill>
                <a:srgbClr val="000000"/>
              </a:solidFill>
            </a:endParaRPr>
          </a:p>
          <a:p>
            <a:pPr>
              <a:lnSpc>
                <a:spcPct val="100000"/>
              </a:lnSpc>
            </a:pPr>
            <a:r>
              <a:rPr lang="en-us" cap="none">
                <a:solidFill>
                  <a:srgbClr val="000000"/>
                </a:solidFill>
                <a:latin typeface="Calibri" pitchFamily="2" charset="0"/>
                <a:ea typeface="DejaVu Sans" pitchFamily="1" charset="0"/>
                <a:cs typeface="DejaVu Sans" pitchFamily="1" charset="0"/>
              </a:rPr>
              <a:t>Project_ID - &gt; Project_Name</a:t>
            </a:r>
            <a:endParaRPr lang="en-us" cap="none">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Dependency Preserving Decomposition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Now, after decomposing the relation into EmployeeProject and ProjectDetail as: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ProjectDetail Table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In this relation we have the following FDs:</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Project_ID - &gt; Project_Name</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EmployeeProject Table</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In this relation we have the following FDs:</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Employee_Code -&gt; {Employee_Name, Employee_Email}</a:t>
            </a:r>
            <a:endParaRPr lang="en-us" sz="2400" cap="none">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BAAAAAmAAAACAAAAAAAAAAAAAAA"/>
              </a:ext>
            </a:extLst>
          </p:cNvSpPr>
          <p:nvPr>
            <p:ph type="title"/>
          </p:nvPr>
        </p:nvSpPr>
        <p:spPr/>
        <p:txBody>
          <a:bodyPr/>
          <a:lstStyle/>
          <a:p>
            <a:r>
              <a:t>Integrity and Domain constraints</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BAAAAAmAAAACAAAAAAAAAAAAAAA"/>
              </a:ext>
            </a:extLst>
          </p:cNvSpPr>
          <p:nvPr>
            <p:ph type="body" idx="1"/>
          </p:nvPr>
        </p:nvSpPr>
        <p:spPr/>
        <p:txBody>
          <a:bodyPr/>
          <a:lstStyle/>
          <a:p>
            <a:pPr>
              <a:defRPr sz="2000" cap="none"/>
            </a:pPr>
            <a:r>
              <a:t>Domain Constraints</a:t>
            </a:r>
          </a:p>
          <a:p>
            <a:pPr marL="742950" indent="-285750">
              <a:buChar char="–"/>
              <a:defRPr sz="2000" cap="none"/>
            </a:pPr>
            <a:r>
              <a:t>Define the valid values that an attribute (column) can hold.</a:t>
            </a:r>
          </a:p>
          <a:p>
            <a:pPr lvl="1">
              <a:defRPr sz="2000" cap="none"/>
            </a:pPr>
            <a:r>
              <a:t>Specify the data type (e.g., integer, string, date) and any additional restrictions (e.g., range of values, allowed patterns).</a:t>
            </a:r>
          </a:p>
          <a:p>
            <a:pPr lvl="1">
              <a:defRPr sz="2000" cap="none"/>
            </a:pPr>
            <a:r>
              <a:t>Check ,Null</a:t>
            </a:r>
          </a:p>
          <a:p>
            <a:pPr>
              <a:defRPr sz="2000" cap="none"/>
            </a:pPr>
            <a:r>
              <a:t>Key Constraints</a:t>
            </a:r>
          </a:p>
          <a:p>
            <a:pPr lvl="1">
              <a:defRPr sz="2000" cap="none"/>
            </a:pPr>
            <a:r>
              <a:t>Primary key, unique key, foreign key</a:t>
            </a:r>
          </a:p>
          <a:p>
            <a:pPr>
              <a:defRPr sz="2000" cap="none"/>
            </a:pPr>
            <a:r>
              <a:t>Entity Integrity Constraints</a:t>
            </a:r>
          </a:p>
          <a:p>
            <a:pPr lvl="1">
              <a:defRPr sz="2000" cap="none"/>
            </a:pPr>
            <a:r>
              <a:t>the Entity Integrity Constraint reinforces the importance of non-null values within the Primary Key to maintain the uniqueness of each record in a relational database</a:t>
            </a:r>
          </a:p>
          <a:p>
            <a:pPr>
              <a:defRPr sz="2000" cap="none"/>
            </a:pPr>
            <a:r>
              <a:t>Referential Integrity Constraintsa</a:t>
            </a:r>
          </a:p>
          <a:p>
            <a:pPr lvl="1">
              <a:defRPr sz="2000" cap="none"/>
            </a:pPr>
            <a:r>
              <a:t>Referential integrity in a database is a crucial concept ensuring data consistency among related tables through primary and foreign keys.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Normalization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Normalization is the process of organizing the data in the database.</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Normalization is used to minimize the redundancy from a relation or set of relations. It is also used to eliminate undesirable characteristics like Insertion, Update, and Deletion Anomalies.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Normalization divides the larger table into smaller and links them using relationships.</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The normal form is used to reduce redundancy from the database table.</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It involves breaking down a large table into smaller, well-structured tables based on specific rules and functional dependencies.</a:t>
            </a:r>
            <a:endParaRPr lang="en-us" sz="2800" cap="none">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Ay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Normalization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Why we need this?</a:t>
            </a:r>
            <a:endParaRPr lang="en-us" sz="28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The main reason for normalizing the relations is removing these anomalies.</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 Failure to eliminate anomalies leads to data redundancy and can cause data integrity and other problems as the database grows. </a:t>
            </a:r>
            <a:endParaRPr lang="en-us" sz="2400" cap="none">
              <a:solidFill>
                <a:srgbClr val="000000"/>
              </a:solidFill>
            </a:endParaRPr>
          </a:p>
          <a:p>
            <a:pPr marL="685800" lvl="1" indent="-228600">
              <a:lnSpc>
                <a:spcPct val="90000"/>
              </a:lnSpc>
              <a:spcBef>
                <a:spcPts val="495"/>
              </a:spcBef>
              <a:buClrTx/>
              <a:buFont typeface="Arial" pitchFamily="2" charset="0"/>
              <a:buChar char="•"/>
            </a:pPr>
            <a:r>
              <a:rPr lang="en-us" sz="2400" cap="none">
                <a:solidFill>
                  <a:srgbClr val="000000"/>
                </a:solidFill>
                <a:latin typeface="Calibri" pitchFamily="2" charset="0"/>
                <a:ea typeface="DejaVu Sans" pitchFamily="1" charset="0"/>
                <a:cs typeface="DejaVu Sans" pitchFamily="1" charset="0"/>
              </a:rPr>
              <a:t>Normalization consists of a series of guidelines that helps to guide you in creating a good database structure.</a:t>
            </a:r>
            <a:endParaRPr lang="en-us" sz="24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Advantages and Disadvantages ?</a:t>
            </a:r>
            <a:endParaRPr lang="en-us" sz="2800" cap="none">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D0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defTabSz="914400">
              <a:lnSpc>
                <a:spcPct val="90000"/>
              </a:lnSpc>
              <a:buNone/>
              <a:tabLst>
                <a:tab pos="0" algn="l"/>
              </a:tabLst>
            </a:pPr>
            <a:r>
              <a:rPr lang="en-us" b="1" cap="none">
                <a:solidFill>
                  <a:srgbClr val="000000"/>
                </a:solidFill>
                <a:latin typeface="Calibri Light" charset="0"/>
                <a:ea typeface="Basic Roman" pitchFamily="1" charset="0"/>
                <a:cs typeface="Basic Roman" pitchFamily="1" charset="0"/>
              </a:rPr>
              <a:t>Types of Normalization</a:t>
            </a:r>
            <a:endParaRPr lang="en-us" cap="none">
              <a:solidFill>
                <a:srgbClr val="000000"/>
              </a:solidFill>
            </a:endParaRPr>
          </a:p>
        </p:txBody>
      </p:sp>
      <p:pic>
        <p:nvPicPr>
          <p:cNvPr id="3" name="Picture 5"/>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CgFAABwCQAAf0cAAO8nAAAQAAAAJgAAAAgAAAD//////////w=="/>
              </a:ext>
            </a:extLst>
          </p:cNvPicPr>
          <p:nvPr/>
        </p:nvPicPr>
        <p:blipFill>
          <a:blip r:embed="rId3"/>
          <a:stretch>
            <a:fillRect/>
          </a:stretch>
        </p:blipFill>
        <p:spPr>
          <a:xfrm>
            <a:off x="838200" y="1534160"/>
            <a:ext cx="10784205" cy="4957445"/>
          </a:xfrm>
          <a:prstGeom prst="rect">
            <a:avLst/>
          </a:prstGeom>
          <a:noFill/>
          <a:ln>
            <a:noFill/>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First Normal Form (1NF)</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A relation will be 1NF if it contains an atomic value.</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It states that an attribute of a table cannot hold multiple values. It must hold only single-valued attribute.</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First normal form disallows the multi-valued attribute, composite attribute, and their combinations.</a:t>
            </a:r>
            <a:endParaRPr lang="en-us" sz="2800" cap="none">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D0QAAD/HwAA"/>
              </a:ext>
            </a:extLst>
          </p:cNvSpPr>
          <p:nvPr>
            <p:ph type="title"/>
          </p:nvPr>
        </p:nvSpPr>
        <p:spPr>
          <a:xfrm>
            <a:off x="838200" y="365125"/>
            <a:ext cx="10514330" cy="1323975"/>
          </a:xfrm>
          <a:noFill/>
          <a:ln>
            <a:noFill/>
          </a:ln>
        </p:spPr>
        <p:txBody>
          <a:bodyPr vert="horz" wrap="square" lIns="0" tIns="0" rIns="0" bIns="0"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First Normal Form (1NF)</a:t>
            </a:r>
            <a:endParaRPr lang="en-us" cap="none">
              <a:solidFill>
                <a:srgbClr val="000000"/>
              </a:solidFill>
            </a:endParaRPr>
          </a:p>
        </p:txBody>
      </p:sp>
      <p:pic>
        <p:nvPicPr>
          <p:cNvPr id="3" name="Picture 4"/>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JcBAABQCAAAFyYAABAXAAAQAAAAJgAAAAgAAAD//////////w=="/>
              </a:ext>
            </a:extLst>
          </p:cNvPicPr>
          <p:nvPr/>
        </p:nvPicPr>
        <p:blipFill>
          <a:blip r:embed="rId3"/>
          <a:stretch>
            <a:fillRect/>
          </a:stretch>
        </p:blipFill>
        <p:spPr>
          <a:xfrm>
            <a:off x="258445" y="1351280"/>
            <a:ext cx="5933440" cy="2397760"/>
          </a:xfrm>
          <a:prstGeom prst="rect">
            <a:avLst/>
          </a:prstGeom>
          <a:noFill/>
          <a:ln>
            <a:noFill/>
          </a:ln>
          <a:effectLst/>
        </p:spPr>
      </p:pic>
      <p:pic>
        <p:nvPicPr>
          <p:cNvPr id="4" name="Picture 6"/>
          <p:cNvPicPr>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HsgAADYFQAAnkgAABMoAAAQAAAAJgAAAAgAAAD//////////w=="/>
              </a:ext>
            </a:extLst>
          </p:cNvPicPr>
          <p:nvPr/>
        </p:nvPicPr>
        <p:blipFill>
          <a:blip r:embed="rId4"/>
          <a:stretch>
            <a:fillRect/>
          </a:stretch>
        </p:blipFill>
        <p:spPr>
          <a:xfrm>
            <a:off x="5280025" y="3550920"/>
            <a:ext cx="6524625" cy="2963545"/>
          </a:xfrm>
          <a:prstGeom prst="rect">
            <a:avLst/>
          </a:prstGeom>
          <a:noFill/>
          <a:ln>
            <a:noFill/>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Rhc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defTabSz="914400">
              <a:lnSpc>
                <a:spcPct val="90000"/>
              </a:lnSpc>
              <a:buNone/>
              <a:tabLst>
                <a:tab pos="0" algn="l"/>
              </a:tabLst>
            </a:pPr>
            <a:r>
              <a:rPr lang="en-us" cap="none">
                <a:solidFill>
                  <a:srgbClr val="000000"/>
                </a:solidFill>
                <a:latin typeface="Calibri Light" charset="0"/>
                <a:ea typeface="Basic Roman" pitchFamily="1" charset="0"/>
                <a:cs typeface="Basic Roman" pitchFamily="1" charset="0"/>
              </a:rPr>
              <a:t>Normalization</a:t>
            </a:r>
            <a:endParaRPr lang="en-us" cap="none">
              <a:solidFill>
                <a:srgbClr val="000000"/>
              </a:solidFill>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2NF</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3NF</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BCNF(Boyce - Codd Normal Form)</a:t>
            </a:r>
            <a:endParaRPr lang="en-us" sz="2800" cap="none">
              <a:solidFill>
                <a:srgbClr val="000000"/>
              </a:solidFill>
            </a:endParaRPr>
          </a:p>
          <a:p>
            <a:pPr marL="228600" indent="-228600">
              <a:lnSpc>
                <a:spcPct val="90000"/>
              </a:lnSpc>
              <a:spcBef>
                <a:spcPts val="1000"/>
              </a:spcBef>
              <a:buClrTx/>
              <a:buFont typeface="Arial" pitchFamily="2" charset="0"/>
              <a:buChar char="•"/>
            </a:pPr>
            <a:r>
              <a:rPr lang="en-us" sz="2800" cap="none">
                <a:solidFill>
                  <a:srgbClr val="000000"/>
                </a:solidFill>
                <a:latin typeface="Calibri" pitchFamily="2" charset="0"/>
                <a:ea typeface="DejaVu Sans" pitchFamily="1" charset="0"/>
                <a:cs typeface="DejaVu Sans" pitchFamily="1" charset="0"/>
              </a:rPr>
              <a:t>Comparison of BCNF and 3NF</a:t>
            </a:r>
            <a:endParaRPr lang="en-us" sz="2800" cap="none">
              <a:solidFill>
                <a:srgbClr val="0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jgAAAEcAAACOAAAARw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8CAADWRQAAZAoAABAAAAAmAAAACAAAAL2QAAD/HwAA"/>
              </a:ext>
            </a:extLst>
          </p:cNvSpPr>
          <p:nvPr>
            <p:ph type="title"/>
          </p:nvPr>
        </p:nvSpPr>
        <p:spPr>
          <a:xfrm>
            <a:off x="838200" y="365125"/>
            <a:ext cx="10514330" cy="1323975"/>
          </a:xfrm>
          <a:noFill/>
          <a:ln>
            <a:noFill/>
          </a:ln>
        </p:spPr>
        <p:txBody>
          <a:bodyPr vert="horz" wrap="square" lIns="90170" tIns="45085" rIns="90170" bIns="45085" numCol="1" spcCol="215900" anchor="ctr">
            <a:prstTxWarp prst="textNoShape">
              <a:avLst/>
            </a:prstTxWarp>
          </a:bodyPr>
          <a:lstStyle/>
          <a:p>
            <a:pPr indent="0" algn="ctr">
              <a:buNone/>
            </a:pPr>
            <a:endParaRPr/>
          </a:p>
        </p:txBody>
      </p:sp>
      <p:sp>
        <p:nvSpPr>
          <p:cNvPr id="3" name="PlaceHolder 2"/>
          <p:cNvSpPr txBox="1">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EgAAAA0AAAAAjgAAAEcAAACOAAAARw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QAZ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KAUAADsLAADWRQAA/SUAABAAAAAmAAAACAAAAD2RAAD/HwAA"/>
              </a:ext>
            </a:extLst>
          </p:cNvSpPr>
          <p:nvPr>
            <p:ph type="body"/>
          </p:nvPr>
        </p:nvSpPr>
        <p:spPr>
          <a:xfrm>
            <a:off x="838200" y="1825625"/>
            <a:ext cx="10514330" cy="4349750"/>
          </a:xfrm>
          <a:prstGeom prst="rect">
            <a:avLst/>
          </a:prstGeom>
          <a:noFill/>
          <a:ln>
            <a:noFill/>
          </a:ln>
        </p:spPr>
        <p:txBody>
          <a:bodyPr vert="horz" wrap="square" lIns="90170" tIns="45085" rIns="90170" bIns="45085" numCol="1" spcCol="215900" anchor="t">
            <a:prstTxWarp prst="textNoShape">
              <a:avLst/>
            </a:prstTxWarp>
          </a:bodyPr>
          <a:lstStyle/>
          <a:p>
            <a:pPr marL="228600" indent="-228600">
              <a:lnSpc>
                <a:spcPct val="90000"/>
              </a:lnSpc>
              <a:spcBef>
                <a:spcPts val="1000"/>
              </a:spcBef>
              <a:buClr>
                <a:srgbClr val="000000"/>
              </a:buClr>
              <a:buFont typeface="Arial" pitchFamily="2" charset="0"/>
              <a:buChar char="•"/>
            </a:pPr>
            <a:r>
              <a:rPr lang="en-us" sz="2800" u="sng" cap="none">
                <a:solidFill>
                  <a:srgbClr val="0563C1"/>
                </a:solidFill>
                <a:latin typeface="Calibri" pitchFamily="2" charset="0"/>
                <a:ea typeface="DejaVu Sans" pitchFamily="1" charset="0"/>
                <a:cs typeface="DejaVu Sans" pitchFamily="1" charset="0"/>
                <a:hlinkClick r:id="rId3"/>
              </a:rPr>
              <a:t>Normalization in DBMS: 1NF, 2NF, 3NF and BCNF in Database (beginnersbook.com)</a:t>
            </a:r>
          </a:p>
          <a:p>
            <a:pPr marL="228600" indent="-228600">
              <a:lnSpc>
                <a:spcPct val="90000"/>
              </a:lnSpc>
              <a:spcBef>
                <a:spcPts val="1000"/>
              </a:spcBef>
              <a:buClrTx/>
              <a:buFont typeface="Arial" pitchFamily="2" charset="0"/>
              <a:buChar char="•"/>
              <a:defRPr lang="en-us" sz="2800" cap="none">
                <a:solidFill>
                  <a:srgbClr val="000000"/>
                </a:solidFill>
              </a:defRPr>
            </a:pPr>
            <a:endParaRPr lang="en-us" sz="2800" u="sng" cap="none">
              <a:solidFill>
                <a:srgbClr val="0563C1"/>
              </a:solidFill>
              <a:latin typeface="Calibri" pitchFamily="2" charset="0"/>
              <a:ea typeface="DejaVu Sans" pitchFamily="1" charset="0"/>
              <a:cs typeface="DejaVu Sans" pitchFamily="1" charset="0"/>
              <a:hlinkClick r:id="rId3"/>
            </a:endParaRPr>
          </a:p>
          <a:p>
            <a:pPr marL="228600" indent="-228600">
              <a:lnSpc>
                <a:spcPct val="90000"/>
              </a:lnSpc>
              <a:spcBef>
                <a:spcPts val="1000"/>
              </a:spcBef>
              <a:buClrTx/>
              <a:buFont typeface="Arial" pitchFamily="2" charset="0"/>
              <a:buChar char="•"/>
              <a:defRPr lang="en-us" sz="2800" cap="none">
                <a:solidFill>
                  <a:srgbClr val="000000"/>
                </a:solidFill>
                <a:hlinkClick r:id="rId4"/>
              </a:defRPr>
            </a:pPr>
            <a:r>
              <a:rPr lang="en-us">
                <a:hlinkClick r:id="rId4"/>
              </a:rPr>
              <a:t>https://popsql.com/blog/normalization-in-sqls</a:t>
            </a:r>
          </a:p>
          <a:p>
            <a:pPr marL="228600" indent="-228600">
              <a:lnSpc>
                <a:spcPct val="90000"/>
              </a:lnSpc>
              <a:spcBef>
                <a:spcPts val="1000"/>
              </a:spcBef>
              <a:buClrTx/>
              <a:buFont typeface="Arial" pitchFamily="2" charset="0"/>
              <a:buChar char="•"/>
              <a:defRPr lang="en-us" sz="2800" cap="none">
                <a:solidFill>
                  <a:srgbClr val="000000"/>
                </a:solidFill>
              </a:defRPr>
            </a:pPr>
            <a:r>
              <a:t> Multivalued Functional Dependency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AAAAAAmAAAACAAAAAEAAAAAAAAA"/>
              </a:ext>
            </a:extLst>
          </p:cNvSpPr>
          <p:nvPr>
            <p:ph type="title"/>
          </p:nvPr>
        </p:nvSpPr>
        <p:spPr>
          <a:xfrm>
            <a:off x="609600" y="273685"/>
            <a:ext cx="10972165" cy="1144905"/>
          </a:xfrm>
        </p:spPr>
        <p:txBody>
          <a:bodyPr/>
          <a:lstStyle/>
          <a:p>
            <a:r>
              <a:t>Triggers </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AAAAAAmAAAACAAAAAEAAAAAAAAA"/>
              </a:ext>
            </a:extLst>
          </p:cNvSpPr>
          <p:nvPr>
            <p:ph type="body" idx="1"/>
          </p:nvPr>
        </p:nvSpPr>
        <p:spPr>
          <a:xfrm>
            <a:off x="609600" y="1604645"/>
            <a:ext cx="10972165" cy="3977005"/>
          </a:xfrm>
        </p:spPr>
        <p:txBody>
          <a:bodyPr/>
          <a:lstStyle/>
          <a:p>
            <a:pPr>
              <a:defRPr sz="2200" cap="none"/>
            </a:pPr>
            <a:r>
              <a:t>A trigger is a set of instructions in a database that is automatically executed or fired when a certain event occurs, such as an INSERT, UPDATE, or DELETE operation on a table. Triggers help automate tasks, enforce business rules, and maintain data integrity. ==&gt;</a:t>
            </a:r>
            <a:r>
              <a:rPr b="1" cap="none"/>
              <a:t>Event , condition and Action</a:t>
            </a:r>
          </a:p>
          <a:p>
            <a:pPr>
              <a:defRPr sz="2200" cap="none"/>
            </a:pPr>
            <a:endParaRPr b="1" cap="none"/>
          </a:p>
          <a:p>
            <a:pPr>
              <a:defRPr sz="2200" cap="none"/>
            </a:pPr>
            <a:r>
              <a:t>Types of Triggers:</a:t>
            </a:r>
          </a:p>
          <a:p>
            <a:pPr>
              <a:defRPr sz="2200" cap="none"/>
            </a:pPr>
            <a:r>
              <a:t>BEFORE Trigger: Executes before the operation (e.g., before an INSERT).</a:t>
            </a:r>
          </a:p>
          <a:p>
            <a:pPr>
              <a:defRPr sz="2200" cap="none"/>
            </a:pPr>
            <a:r>
              <a:t>AFTER Trigger: Executes after the operation (e.g., after a row is deleted).</a:t>
            </a:r>
          </a:p>
          <a:p>
            <a:pPr>
              <a:defRPr sz="2200" cap="none"/>
            </a:pPr>
            <a:r>
              <a:t>INSTEAD OF Trigger: Used to override the default behavior of an operation, often for complex views.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8B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BcIAADyBwAAYjkAABQgAAAAAAAAJgAAAAgAAAD//////////w=="/>
              </a:ext>
            </a:extLst>
          </p:cNvPicPr>
          <p:nvPr/>
        </p:nvPicPr>
        <p:blipFill>
          <a:blip r:embed="rId2"/>
          <a:stretch>
            <a:fillRect/>
          </a:stretch>
        </p:blipFill>
        <p:spPr>
          <a:xfrm>
            <a:off x="1315085" y="1291590"/>
            <a:ext cx="8013065" cy="3923030"/>
          </a:xfrm>
          <a:prstGeom prst="rect">
            <a:avLst/>
          </a:prstGeom>
          <a:noFill/>
          <a:ln>
            <a:noFill/>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s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AAAAAAmAAAACAAAAAEAAAAAAAAA"/>
              </a:ext>
            </a:extLst>
          </p:cNvSpPr>
          <p:nvPr>
            <p:ph type="title"/>
          </p:nvPr>
        </p:nvSpPr>
        <p:spPr>
          <a:xfrm>
            <a:off x="609600" y="273685"/>
            <a:ext cx="10972165" cy="1144905"/>
          </a:xfrm>
        </p:spPr>
        <p:txBody>
          <a:bodyPr/>
          <a:lstStyle/>
          <a:p>
            <a:pPr>
              <a:defRPr sz="2200" cap="none"/>
            </a:pPr>
            <a:r>
              <a:t>Assertions</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DVBh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AAAAAAmAAAACAAAAAEAAAAAAAAA"/>
              </a:ext>
            </a:extLst>
          </p:cNvSpPr>
          <p:nvPr>
            <p:ph type="body" idx="1"/>
          </p:nvPr>
        </p:nvSpPr>
        <p:spPr>
          <a:xfrm>
            <a:off x="609600" y="1604645"/>
            <a:ext cx="10972165" cy="3977005"/>
          </a:xfrm>
        </p:spPr>
        <p:txBody>
          <a:bodyPr/>
          <a:lstStyle/>
          <a:p>
            <a:pPr>
              <a:defRPr sz="2200" cap="none"/>
            </a:pPr>
            <a:r>
              <a:t>Assertions are conditions or constraints that are checked periodically to ensure the database's consistency and integrity. Unlike triggers, assertions are typically more complex checks that are not tied to a specific table's operation but instead ensure that overall data integrity is maintained.</a:t>
            </a:r>
          </a:p>
          <a:p>
            <a:pPr>
              <a:defRPr sz="2200" cap="none"/>
            </a:pPr>
            <a:r>
              <a:t>Assertions can enforce more complex integrity conditions than what triggers can do alone.</a:t>
            </a:r>
          </a:p>
          <a:p>
            <a:pPr>
              <a:defRPr sz="2200" cap="none"/>
            </a:pPr>
            <a:r>
              <a:t>Not all databases support assertions natively (e.g., MySQL doesn't support assertions, but PostgreSQL does).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1"/>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nRhYZxMAAAAlAAAAEQAAAC8B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CQxFoW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RyxAX///8BAAAAAAAAAAAAAAAAAAAAAAAAAAAAAAAAAAAAAAAAAAAAAAACf39/AOfm5gPMzMwAwMD/AH9/fwAAAAAAAAAAAAAAAAD///8AAAAAACEAAAAYAAAAFAAAAFYDAAB6CwAAHz8AAFYWAAAAAAAAJgAAAAgAAAD//////////w=="/>
              </a:ext>
            </a:extLst>
          </p:cNvPicPr>
          <p:nvPr/>
        </p:nvPicPr>
        <p:blipFill>
          <a:blip r:embed="rId2"/>
          <a:stretch>
            <a:fillRect/>
          </a:stretch>
        </p:blipFill>
        <p:spPr>
          <a:xfrm>
            <a:off x="542290" y="1865630"/>
            <a:ext cx="9718675" cy="1765300"/>
          </a:xfrm>
          <a:prstGeom prst="rect">
            <a:avLst/>
          </a:prstGeom>
          <a:noFill/>
          <a:ln>
            <a:noFill/>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EAT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BAAAAAmAAAACAAAAAAAAAAAAAAA"/>
              </a:ext>
            </a:extLst>
          </p:cNvSpPr>
          <p:nvPr>
            <p:ph type="title"/>
          </p:nvPr>
        </p:nvSpPr>
        <p:spPr/>
        <p:txBody>
          <a:bodyPr/>
          <a:lstStyle/>
          <a:p>
            <a:r>
              <a:t>Feature of good relational model</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BAAAAAmAAAACAAAAAAAAAAAAAAA"/>
              </a:ext>
            </a:extLst>
          </p:cNvSpPr>
          <p:nvPr>
            <p:ph type="body" idx="1"/>
          </p:nvPr>
        </p:nvSpPr>
        <p:spPr/>
        <p:txBody>
          <a:bodyPr/>
          <a:lstStyle/>
          <a:p>
            <a:r>
              <a:t>Remove reduncany</a:t>
            </a:r>
          </a:p>
          <a:p>
            <a:pPr lvl="1"/>
            <a:r>
              <a:t>While removing redundancy:-</a:t>
            </a:r>
          </a:p>
          <a:p>
            <a:pPr lvl="2"/>
            <a:r>
              <a:t>Decomposition</a:t>
            </a:r>
          </a:p>
          <a:p>
            <a:pPr lvl="2"/>
            <a:r>
              <a:t>Lossless decomposition</a:t>
            </a:r>
          </a:p>
          <a:p>
            <a:pPr lvl="2"/>
            <a:r>
              <a:t>Normalization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K8BAAA/RwAAuggAAAAAAAAmAAAACAAAAAEAAAAAAAAA"/>
              </a:ext>
            </a:extLst>
          </p:cNvSpPr>
          <p:nvPr>
            <p:ph type="title"/>
          </p:nvPr>
        </p:nvSpPr>
        <p:spPr>
          <a:xfrm>
            <a:off x="609600" y="273685"/>
            <a:ext cx="10972165" cy="1144905"/>
          </a:xfrm>
        </p:spPr>
        <p:txBody>
          <a:bodyPr/>
          <a:lstStyle/>
          <a:p>
            <a:r>
              <a:t>Denormalization for Performance</a:t>
            </a:r>
          </a:p>
        </p:txBody>
      </p:sp>
      <p:sp>
        <p:nvSpPr>
          <p:cNvPr id="3" name="SlideText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nRhYZxMAAAAlAAAAZAAAAA0AAAAAAAAAAAAAAAAAAAAAA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RHLEBf///wEAAAAAAAAAAAAAAAAAAAAAAAAAAAAAAAAAAAAAAAAAAAAAAAJ/f38A5+bmA8zMzADAwP8Af39/AAAAAAAAAAAAAAAAAAAAAAAAAAAAIQAAABgAAAAUAAAAwAMAAN8JAAA/RwAAViIAAAAAAAAmAAAACAAAAAEAAAAAAAAA"/>
              </a:ext>
            </a:extLst>
          </p:cNvSpPr>
          <p:nvPr>
            <p:ph type="body" idx="1"/>
          </p:nvPr>
        </p:nvSpPr>
        <p:spPr>
          <a:xfrm>
            <a:off x="609600" y="1604645"/>
            <a:ext cx="10972165" cy="3977005"/>
          </a:xfrm>
        </p:spPr>
        <p:txBody>
          <a:bodyPr/>
          <a:lstStyle/>
          <a:p>
            <a:r>
              <a:t>Denormalization in database systems is the process of intentionally introducing redundancy into a normalized database to improve query performance.</a:t>
            </a:r>
          </a:p>
          <a:p>
            <a:r>
              <a:t> It involves combining tables or creating additional derived data structures to reduce the number of joins required in queries, which can be expensive in terms of computational resources.</a:t>
            </a:r>
          </a:p>
          <a:p>
            <a:endParaRPr/>
          </a:p>
          <a:p>
            <a:endParaRPr/>
          </a:p>
        </p:txBody>
      </p:sp>
    </p:spTree>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9">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0">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9">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0">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9">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0">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9">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0">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Basic Sans"/>
        <a:ea typeface="Basic Roman"/>
        <a:cs typeface="Basic Roman"/>
      </a:majorFont>
      <a:minorFont>
        <a:latin typeface="Basic Sans"/>
        <a:ea typeface="Basic Roman"/>
        <a:cs typeface="Basic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8">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9">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0">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36</Notes>
  <HiddenSlides>0</HiddenSlides>
  <ScaleCrop>false</ScaleCrop>
  <HeadingPairs>
    <vt:vector size="4" baseType="variant">
      <vt:variant>
        <vt:lpstr>Theme</vt:lpstr>
      </vt:variant>
      <vt:variant>
        <vt:i4>4</vt:i4>
      </vt:variant>
      <vt:variant>
        <vt:lpstr>Slide Titles</vt:lpstr>
      </vt:variant>
      <vt:variant>
        <vt:i4>44</vt:i4>
      </vt:variant>
    </vt:vector>
  </HeadingPairs>
  <TitlesOfParts>
    <vt:vector size="48" baseType="lpstr">
      <vt:lpstr>Presentation</vt:lpstr>
      <vt:lpstr>Presentation</vt:lpstr>
      <vt:lpstr>Presentation</vt:lpstr>
      <vt:lpstr>Presentation</vt:lpstr>
      <vt:lpstr>Relational Database Design</vt:lpstr>
      <vt:lpstr>Database anomalies</vt:lpstr>
      <vt:lpstr>Database anomalies</vt:lpstr>
      <vt:lpstr>PowerPoint Presentation</vt:lpstr>
      <vt:lpstr>Functional Dependency</vt:lpstr>
      <vt:lpstr>Functional Dependency</vt:lpstr>
      <vt:lpstr>Functional Dependency</vt:lpstr>
      <vt:lpstr>Functional Dependency</vt:lpstr>
      <vt:lpstr>Functional Dependency</vt:lpstr>
      <vt:lpstr>Functional Dependency</vt:lpstr>
      <vt:lpstr>Types of functional dependencies</vt:lpstr>
      <vt:lpstr>PowerPoint Presentation</vt:lpstr>
      <vt:lpstr>Types of functional dependencies</vt:lpstr>
      <vt:lpstr>PowerPoint Presentation</vt:lpstr>
      <vt:lpstr>Axioms or rules of FD</vt:lpstr>
      <vt:lpstr>Closure of Set of Functional Dependencies </vt:lpstr>
      <vt:lpstr>Closure of SETS Attribute</vt:lpstr>
      <vt:lpstr>Closure of Set of Functional Dependencies</vt:lpstr>
      <vt:lpstr>PowerPoint Presentation</vt:lpstr>
      <vt:lpstr>PowerPoint Presentation</vt:lpstr>
      <vt:lpstr>Canonical cover</vt:lpstr>
      <vt:lpstr>Decomposition </vt:lpstr>
      <vt:lpstr>Types of decomposition techniques</vt:lpstr>
      <vt:lpstr>Loss Less Decomposition</vt:lpstr>
      <vt:lpstr>PowerPoint Presentation</vt:lpstr>
      <vt:lpstr>Loss Less Decomposition</vt:lpstr>
      <vt:lpstr>Loss Less Decomposition</vt:lpstr>
      <vt:lpstr>Dependency Preserving Decomposition</vt:lpstr>
      <vt:lpstr>Dependency Preserving Decomposition</vt:lpstr>
      <vt:lpstr>Dependency Preserving Decomposition</vt:lpstr>
      <vt:lpstr>Integrity and Domain constraints</vt:lpstr>
      <vt:lpstr>Normalization</vt:lpstr>
      <vt:lpstr>Normalization</vt:lpstr>
      <vt:lpstr>Types of Normalization</vt:lpstr>
      <vt:lpstr>First Normal Form (1NF)</vt:lpstr>
      <vt:lpstr>First Normal Form (1NF)</vt:lpstr>
      <vt:lpstr>Normalization</vt:lpstr>
      <vt:lpstr>PowerPoint Presentation</vt:lpstr>
      <vt:lpstr>Triggers </vt:lpstr>
      <vt:lpstr>PowerPoint Presentation</vt:lpstr>
      <vt:lpstr>Assertions</vt:lpstr>
      <vt:lpstr>PowerPoint Presentation</vt:lpstr>
      <vt:lpstr>Feature of good relational model</vt:lpstr>
      <vt:lpstr>Denormalization for Performance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 Design</dc:title>
  <dc:subject/>
  <dc:creator>shiva pathak</dc:creator>
  <cp:keywords/>
  <dc:description/>
  <cp:lastModifiedBy>cva</cp:lastModifiedBy>
  <cp:revision>1</cp:revision>
  <dcterms:created xsi:type="dcterms:W3CDTF">2023-06-15T02:06:25Z</dcterms:created>
  <dcterms:modified xsi:type="dcterms:W3CDTF">2026-02-14T15:23:21Z</dcterms:modified>
</cp:coreProperties>
</file>
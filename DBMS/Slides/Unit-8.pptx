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73"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88512-6911-4ADE-8A68-D43E86149374}" type="datetimeFigureOut">
              <a:rPr lang="en-GB" smtClean="0"/>
              <a:t>14/02/2026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50B91-C043-4F35-9893-C0B97B2CF155}" type="slidenum">
              <a:rPr lang="en-GB" smtClean="0"/>
              <a:t>‹#›</a:t>
            </a:fld>
            <a:endParaRPr lang="en-GB"/>
          </a:p>
        </p:txBody>
      </p:sp>
    </p:spTree>
    <p:extLst>
      <p:ext uri="{BB962C8B-B14F-4D97-AF65-F5344CB8AC3E}">
        <p14:creationId xmlns:p14="http://schemas.microsoft.com/office/powerpoint/2010/main" val="426127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8" name="PlaceHolder 1"/>
          <p:cNvSpPr>
            <a:spLocks noGrp="1" noRot="1" noChangeAspect="1"/>
          </p:cNvSpPr>
          <p:nvPr>
            <p:ph type="sldImg"/>
          </p:nvPr>
        </p:nvSpPr>
        <p:spPr bwMode="auto">
          <a:xfrm>
            <a:off x="685800" y="1143000"/>
            <a:ext cx="5485680" cy="3085560"/>
          </a:xfrm>
          <a:prstGeom prst="rect">
            <a:avLst/>
          </a:prstGeom>
          <a:ln w="0">
            <a:noFill/>
          </a:ln>
        </p:spPr>
      </p:sp>
      <p:sp>
        <p:nvSpPr>
          <p:cNvPr id="209"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1800" b="0" strike="noStrike" spc="-1">
                <a:solidFill>
                  <a:srgbClr val="000000"/>
                </a:solidFill>
                <a:latin typeface="Arial"/>
              </a:rPr>
              <a:t>1.Money transfer example : A-&gt; B R(A) W(B) atomic in nature A=A-10</a:t>
            </a:r>
            <a:endParaRPr lang="en-US" sz="2000" b="0" strike="noStrike" spc="-1">
              <a:solidFill>
                <a:srgbClr val="000000"/>
              </a:solidFill>
              <a:latin typeface="Arial"/>
            </a:endParaRPr>
          </a:p>
          <a:p>
            <a:pPr marL="216000" indent="0">
              <a:lnSpc>
                <a:spcPct val="100000"/>
              </a:lnSpc>
              <a:buNone/>
              <a:tabLst>
                <a:tab pos="0" algn="l"/>
              </a:tabLst>
              <a:defRPr/>
            </a:pPr>
            <a:endParaRPr lang="en-US" sz="2000" b="0" strike="noStrike" spc="-1">
              <a:solidFill>
                <a:srgbClr val="000000"/>
              </a:solidFill>
              <a:latin typeface="Arial"/>
            </a:endParaRPr>
          </a:p>
        </p:txBody>
      </p:sp>
      <p:sp>
        <p:nvSpPr>
          <p:cNvPr id="210" name="PlaceHolder 3"/>
          <p:cNvSpPr>
            <a:spLocks noGrp="1"/>
          </p:cNvSpPr>
          <p:nvPr>
            <p:ph type="sldNum" idx="16"/>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defRPr/>
            </a:pPr>
            <a:fld id="{2A145A37-54EC-4917-84D7-D800F27B9F52}" type="slidenum">
              <a:rPr lang="en-US" sz="1200" b="0" strike="noStrike" spc="-1">
                <a:solidFill>
                  <a:srgbClr val="000000"/>
                </a:solidFill>
                <a:latin typeface="Times New Roman"/>
              </a:rPr>
              <a:t>3</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 name="PlaceHolder 1"/>
          <p:cNvSpPr>
            <a:spLocks noGrp="1" noRot="1" noChangeAspect="1"/>
          </p:cNvSpPr>
          <p:nvPr>
            <p:ph type="sldImg"/>
          </p:nvPr>
        </p:nvSpPr>
        <p:spPr bwMode="auto">
          <a:xfrm>
            <a:off x="685800" y="1143000"/>
            <a:ext cx="5485680" cy="3085560"/>
          </a:xfrm>
          <a:prstGeom prst="rect">
            <a:avLst/>
          </a:prstGeom>
          <a:ln w="0">
            <a:noFill/>
          </a:ln>
        </p:spPr>
      </p:sp>
      <p:sp>
        <p:nvSpPr>
          <p:cNvPr id="212"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Arial"/>
              </a:rPr>
              <a:t>Money transfer to start so rollback , no resume -&gt;no like download</a:t>
            </a:r>
          </a:p>
        </p:txBody>
      </p:sp>
      <p:sp>
        <p:nvSpPr>
          <p:cNvPr id="213" name="PlaceHolder 3"/>
          <p:cNvSpPr>
            <a:spLocks noGrp="1"/>
          </p:cNvSpPr>
          <p:nvPr>
            <p:ph type="sldNum" idx="17"/>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defRPr/>
            </a:pPr>
            <a:fld id="{E8DECC4C-4A2E-4F0E-A79F-E61462AD99D3}" type="slidenum">
              <a:rPr lang="en-US" sz="1200" b="0" strike="noStrike" spc="-1">
                <a:solidFill>
                  <a:srgbClr val="000000"/>
                </a:solidFill>
                <a:latin typeface="Times New Roman"/>
              </a:rPr>
              <a:t>4</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4" name="PlaceHolder 1"/>
          <p:cNvSpPr>
            <a:spLocks noGrp="1" noRot="1" noChangeAspect="1"/>
          </p:cNvSpPr>
          <p:nvPr>
            <p:ph type="sldImg"/>
          </p:nvPr>
        </p:nvSpPr>
        <p:spPr bwMode="auto">
          <a:xfrm>
            <a:off x="685800" y="1143000"/>
            <a:ext cx="5486400" cy="3086100"/>
          </a:xfrm>
          <a:prstGeom prst="rect">
            <a:avLst/>
          </a:prstGeom>
          <a:ln w="0">
            <a:noFill/>
          </a:ln>
        </p:spPr>
      </p:sp>
      <p:sp>
        <p:nvSpPr>
          <p:cNvPr id="215"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Arial"/>
              </a:rPr>
              <a:t>2. A=2000 B=3000 B=4000 A=1000 commit; ATM money =&gt; cash</a:t>
            </a:r>
          </a:p>
          <a:p>
            <a:pPr marL="216000" indent="0">
              <a:lnSpc>
                <a:spcPct val="100000"/>
              </a:lnSpc>
              <a:buNone/>
              <a:tabLst>
                <a:tab pos="0" algn="l"/>
              </a:tabLst>
              <a:defRPr/>
            </a:pPr>
            <a:r>
              <a:rPr lang="en-US" sz="2000" b="0" strike="noStrike" spc="-1">
                <a:solidFill>
                  <a:srgbClr val="000000"/>
                </a:solidFill>
                <a:latin typeface="Arial"/>
              </a:rPr>
              <a:t>4.permanent</a:t>
            </a:r>
          </a:p>
          <a:p>
            <a:pPr marL="216000" indent="0">
              <a:lnSpc>
                <a:spcPct val="100000"/>
              </a:lnSpc>
              <a:buNone/>
              <a:tabLst>
                <a:tab pos="0" algn="l"/>
              </a:tabLst>
              <a:defRPr/>
            </a:pPr>
            <a:endParaRPr lang="en-US" sz="2000" b="0" strike="noStrike" spc="-1">
              <a:solidFill>
                <a:srgbClr val="000000"/>
              </a:solidFill>
              <a:latin typeface="Arial"/>
            </a:endParaRPr>
          </a:p>
        </p:txBody>
      </p:sp>
      <p:sp>
        <p:nvSpPr>
          <p:cNvPr id="216" name="PlaceHolder 3"/>
          <p:cNvSpPr>
            <a:spLocks noGrp="1"/>
          </p:cNvSpPr>
          <p:nvPr>
            <p:ph type="sldNum" idx="18"/>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defRPr/>
            </a:pPr>
            <a:fld id="{CC028189-165F-4F28-9A7A-094E3C826159}" type="slidenum">
              <a:rPr lang="en-US" sz="1200" b="0" strike="noStrike" spc="-1">
                <a:solidFill>
                  <a:srgbClr val="000000"/>
                </a:solidFill>
                <a:latin typeface="Times New Roman"/>
              </a:rPr>
              <a:t>5</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A7D71CB-D500-198D-80C0-2689D945BABE}" type="slidenum">
              <a:r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D1CBAF-E002-3DC9-9D3F-95DAAE91FC40}" type="slidenum">
              <a:r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282A056-8A59-34A1-88A1-28783C8E97D7}" type="slidenum">
              <a:rPr/>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0" name="PlaceHolder 1"/>
          <p:cNvSpPr>
            <a:spLocks noGrp="1" noRot="1" noChangeAspect="1"/>
          </p:cNvSpPr>
          <p:nvPr>
            <p:ph type="sldImg"/>
          </p:nvPr>
        </p:nvSpPr>
        <p:spPr bwMode="auto">
          <a:xfrm>
            <a:off x="685800" y="1143000"/>
            <a:ext cx="5485680" cy="3085560"/>
          </a:xfrm>
          <a:prstGeom prst="rect">
            <a:avLst/>
          </a:prstGeom>
          <a:ln w="0">
            <a:noFill/>
          </a:ln>
        </p:spPr>
      </p:sp>
      <p:sp>
        <p:nvSpPr>
          <p:cNvPr id="221"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Wingdings"/>
              </a:rPr>
              <a:t></a:t>
            </a:r>
            <a:r>
              <a:rPr lang="en-US" sz="2000" b="0" strike="noStrike" spc="-1">
                <a:solidFill>
                  <a:srgbClr val="000000"/>
                </a:solidFill>
                <a:latin typeface="Times New Roman"/>
              </a:rPr>
              <a:t> Active Ram initialized.</a:t>
            </a:r>
            <a:endParaRPr lang="en-US" sz="2000" b="0" strike="noStrike" spc="-1">
              <a:solidFill>
                <a:srgbClr val="000000"/>
              </a:solidFill>
              <a:latin typeface="Arial"/>
            </a:endParaRPr>
          </a:p>
          <a:p>
            <a:pPr marL="216000" indent="0">
              <a:lnSpc>
                <a:spcPct val="100000"/>
              </a:lnSpc>
              <a:buNone/>
              <a:tabLst>
                <a:tab pos="0" algn="l"/>
              </a:tabLst>
              <a:defRPr/>
            </a:pPr>
            <a:r>
              <a:rPr lang="en-US" sz="2000" b="0" strike="noStrike" spc="-1">
                <a:solidFill>
                  <a:srgbClr val="000000"/>
                </a:solidFill>
                <a:latin typeface="Wingdings"/>
              </a:rPr>
              <a:t></a:t>
            </a:r>
            <a:r>
              <a:rPr lang="en-US" sz="2000" b="0" strike="noStrike" spc="-1">
                <a:solidFill>
                  <a:srgbClr val="000000"/>
                </a:solidFill>
                <a:latin typeface="Times New Roman"/>
              </a:rPr>
              <a:t> All operation perform</a:t>
            </a:r>
            <a:endParaRPr lang="en-US" sz="2000" b="0" strike="noStrike" spc="-1">
              <a:solidFill>
                <a:srgbClr val="000000"/>
              </a:solidFill>
              <a:latin typeface="Arial"/>
            </a:endParaRPr>
          </a:p>
          <a:p>
            <a:pPr marL="216000" indent="0">
              <a:lnSpc>
                <a:spcPct val="100000"/>
              </a:lnSpc>
              <a:buNone/>
              <a:tabLst>
                <a:tab pos="0" algn="l"/>
              </a:tabLst>
              <a:defRPr/>
            </a:pPr>
            <a:r>
              <a:rPr lang="en-US" sz="2000" b="0" strike="noStrike" spc="-1">
                <a:solidFill>
                  <a:srgbClr val="000000"/>
                </a:solidFill>
                <a:latin typeface="Wingdings"/>
              </a:rPr>
              <a:t></a:t>
            </a:r>
            <a:r>
              <a:rPr lang="en-US" sz="2000" b="0" strike="noStrike" spc="-1">
                <a:solidFill>
                  <a:srgbClr val="000000"/>
                </a:solidFill>
                <a:latin typeface="Times New Roman"/>
              </a:rPr>
              <a:t>permanent save</a:t>
            </a:r>
            <a:endParaRPr lang="en-US" sz="2000" b="0" strike="noStrike" spc="-1">
              <a:solidFill>
                <a:srgbClr val="000000"/>
              </a:solidFill>
              <a:latin typeface="Arial"/>
            </a:endParaRPr>
          </a:p>
          <a:p>
            <a:pPr marL="171360" indent="-171360">
              <a:lnSpc>
                <a:spcPct val="100000"/>
              </a:lnSpc>
              <a:buClr>
                <a:srgbClr val="000000"/>
              </a:buClr>
              <a:buFont typeface="Wingdings"/>
              <a:buChar char=""/>
              <a:tabLst>
                <a:tab pos="0" algn="l"/>
              </a:tabLst>
              <a:defRPr/>
            </a:pPr>
            <a:r>
              <a:rPr lang="en-US" sz="2000" b="0" strike="noStrike" spc="-1">
                <a:solidFill>
                  <a:srgbClr val="000000"/>
                </a:solidFill>
                <a:latin typeface="Times New Roman"/>
              </a:rPr>
              <a:t>Free resources , use by other</a:t>
            </a:r>
            <a:endParaRPr lang="en-US" sz="2000" b="0" strike="noStrike" spc="-1">
              <a:solidFill>
                <a:srgbClr val="000000"/>
              </a:solidFill>
              <a:latin typeface="Arial"/>
            </a:endParaRPr>
          </a:p>
          <a:p>
            <a:pPr marL="171360" indent="-171360">
              <a:lnSpc>
                <a:spcPct val="100000"/>
              </a:lnSpc>
              <a:buClr>
                <a:srgbClr val="000000"/>
              </a:buClr>
              <a:buFont typeface="Wingdings"/>
              <a:buChar char=""/>
              <a:tabLst>
                <a:tab pos="0" algn="l"/>
              </a:tabLst>
              <a:defRPr/>
            </a:pPr>
            <a:r>
              <a:rPr lang="en-US" sz="2000" b="0" strike="noStrike" spc="-1">
                <a:solidFill>
                  <a:srgbClr val="000000"/>
                </a:solidFill>
                <a:latin typeface="Times New Roman"/>
              </a:rPr>
              <a:t>Any problem (only fail in active, partially committed)</a:t>
            </a:r>
            <a:endParaRPr lang="en-US" sz="2000" b="0" strike="noStrike" spc="-1">
              <a:solidFill>
                <a:srgbClr val="000000"/>
              </a:solidFill>
              <a:latin typeface="Arial"/>
            </a:endParaRPr>
          </a:p>
          <a:p>
            <a:pPr indent="0">
              <a:lnSpc>
                <a:spcPct val="100000"/>
              </a:lnSpc>
              <a:buNone/>
              <a:tabLst>
                <a:tab pos="0" algn="l"/>
              </a:tabLst>
              <a:defRPr/>
            </a:pPr>
            <a:endParaRPr lang="en-US" sz="2000" b="0" strike="noStrike" spc="-1">
              <a:solidFill>
                <a:srgbClr val="000000"/>
              </a:solidFill>
              <a:latin typeface="Arial"/>
            </a:endParaRPr>
          </a:p>
          <a:p>
            <a:pPr indent="0">
              <a:lnSpc>
                <a:spcPct val="100000"/>
              </a:lnSpc>
              <a:buNone/>
              <a:tabLst>
                <a:tab pos="0" algn="l"/>
              </a:tabLst>
              <a:defRPr/>
            </a:pPr>
            <a:endParaRPr lang="en-US" sz="2000" b="0" strike="noStrike" spc="-1">
              <a:solidFill>
                <a:srgbClr val="000000"/>
              </a:solidFill>
              <a:latin typeface="Arial"/>
            </a:endParaRPr>
          </a:p>
          <a:p>
            <a:pPr indent="0">
              <a:lnSpc>
                <a:spcPct val="100000"/>
              </a:lnSpc>
              <a:buNone/>
              <a:tabLst>
                <a:tab pos="0" algn="l"/>
              </a:tabLst>
              <a:defRPr/>
            </a:pPr>
            <a:endParaRPr lang="en-US" sz="2000" b="0" strike="noStrike" spc="-1">
              <a:solidFill>
                <a:srgbClr val="000000"/>
              </a:solidFill>
              <a:latin typeface="Arial"/>
            </a:endParaRPr>
          </a:p>
        </p:txBody>
      </p:sp>
      <p:sp>
        <p:nvSpPr>
          <p:cNvPr id="222" name="PlaceHolder 3"/>
          <p:cNvSpPr>
            <a:spLocks noGrp="1"/>
          </p:cNvSpPr>
          <p:nvPr>
            <p:ph type="sldNum" idx="20"/>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defRPr/>
            </a:pPr>
            <a:fld id="{54341CD3-4877-42F9-8F28-D761C7BF5D4E}" type="slidenum">
              <a:rPr lang="en-US" sz="1200" b="0" strike="noStrike" spc="-1">
                <a:solidFill>
                  <a:srgbClr val="000000"/>
                </a:solidFill>
                <a:latin typeface="Times New Roman"/>
              </a:rPr>
              <a:t>9</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74E6D4-63FC-31D2-BCB3-2FDD6C25704A}" type="slidenum">
              <a:rPr/>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3" name="PlaceHolder 1"/>
          <p:cNvSpPr>
            <a:spLocks noGrp="1" noRot="1" noChangeAspect="1"/>
          </p:cNvSpPr>
          <p:nvPr>
            <p:ph type="sldImg"/>
          </p:nvPr>
        </p:nvSpPr>
        <p:spPr bwMode="auto">
          <a:xfrm>
            <a:off x="380880" y="694800"/>
            <a:ext cx="6095160" cy="3428280"/>
          </a:xfrm>
          <a:prstGeom prst="rect">
            <a:avLst/>
          </a:prstGeom>
          <a:ln w="0">
            <a:noFill/>
          </a:ln>
        </p:spPr>
      </p:sp>
      <p:sp>
        <p:nvSpPr>
          <p:cNvPr id="224" name="PlaceHolder 2"/>
          <p:cNvSpPr>
            <a:spLocks noGrp="1"/>
          </p:cNvSpPr>
          <p:nvPr>
            <p:ph type="body"/>
          </p:nvPr>
        </p:nvSpPr>
        <p:spPr bwMode="auto">
          <a:xfrm>
            <a:off x="685800" y="4343400"/>
            <a:ext cx="5485680" cy="411408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Arial"/>
              </a:rPr>
              <a:t>--Dirty Read</a:t>
            </a:r>
          </a:p>
          <a:p>
            <a:pPr marL="216000" indent="0">
              <a:lnSpc>
                <a:spcPct val="100000"/>
              </a:lnSpc>
              <a:buNone/>
              <a:tabLst>
                <a:tab pos="0" algn="l"/>
              </a:tabLst>
              <a:defRPr/>
            </a:pPr>
            <a:r>
              <a:rPr lang="en-US" sz="2000" b="0" strike="noStrike" spc="-1">
                <a:solidFill>
                  <a:srgbClr val="000000"/>
                </a:solidFill>
                <a:latin typeface="Arial"/>
              </a:rPr>
              <a:t>-- Phanton</a:t>
            </a:r>
            <a:endParaRPr lang="en-US" sz="2000" b="0" strike="noStrike" spc="0">
              <a:solidFill>
                <a:srgbClr val="000000"/>
              </a:solidFill>
              <a:latin typeface="Arial"/>
            </a:endParaRPr>
          </a:p>
          <a:p>
            <a:pPr marL="216000" indent="0">
              <a:lnSpc>
                <a:spcPct val="100000"/>
              </a:lnSpc>
              <a:buNone/>
              <a:tabLst>
                <a:tab pos="0" algn="l"/>
              </a:tabLst>
              <a:defRPr/>
            </a:pPr>
            <a:r>
              <a:rPr lang="en-US" sz="2000" b="0" strike="noStrike" spc="0">
                <a:solidFill>
                  <a:srgbClr val="000000"/>
                </a:solidFill>
                <a:latin typeface="Arial"/>
              </a:rPr>
              <a:t>—for this chapter see notes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5" name="PlaceHolder 1"/>
          <p:cNvSpPr>
            <a:spLocks noGrp="1" noRot="1" noChangeAspect="1"/>
          </p:cNvSpPr>
          <p:nvPr>
            <p:ph type="sldImg"/>
          </p:nvPr>
        </p:nvSpPr>
        <p:spPr bwMode="auto">
          <a:xfrm>
            <a:off x="216000" y="812520"/>
            <a:ext cx="7126920" cy="4008600"/>
          </a:xfrm>
          <a:prstGeom prst="rect">
            <a:avLst/>
          </a:prstGeom>
          <a:ln w="0">
            <a:noFill/>
          </a:ln>
        </p:spPr>
      </p:sp>
      <p:sp>
        <p:nvSpPr>
          <p:cNvPr id="226" name="PlaceHolder 2"/>
          <p:cNvSpPr>
            <a:spLocks noGrp="1"/>
          </p:cNvSpPr>
          <p:nvPr>
            <p:ph type="body"/>
          </p:nvPr>
        </p:nvSpPr>
        <p:spPr bwMode="auto">
          <a:xfrm>
            <a:off x="756000" y="5078520"/>
            <a:ext cx="6047280" cy="481068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Arial"/>
              </a:rPr>
              <a:t>--Dirty Read</a:t>
            </a:r>
          </a:p>
          <a:p>
            <a:pPr marL="216000" indent="0">
              <a:lnSpc>
                <a:spcPct val="100000"/>
              </a:lnSpc>
              <a:buNone/>
              <a:tabLst>
                <a:tab pos="0" algn="l"/>
              </a:tabLst>
              <a:defRPr/>
            </a:pPr>
            <a:r>
              <a:rPr lang="en-US" sz="2000" b="0" strike="noStrike" spc="-1">
                <a:solidFill>
                  <a:srgbClr val="000000"/>
                </a:solidFill>
                <a:latin typeface="Arial"/>
              </a:rPr>
              <a:t>-- Phanton</a:t>
            </a:r>
          </a:p>
          <a:p>
            <a:pPr marL="216000" indent="0">
              <a:lnSpc>
                <a:spcPct val="100000"/>
              </a:lnSpc>
              <a:buNone/>
              <a:tabLst>
                <a:tab pos="0" algn="l"/>
              </a:tabLst>
              <a:defRPr/>
            </a:pPr>
            <a:endParaRPr lang="en-US" sz="2000" b="0" strike="noStrike" spc="-1">
              <a:solidFill>
                <a:srgbClr val="000000"/>
              </a:solidFill>
              <a:latin typeface="Arial"/>
            </a:endParaRPr>
          </a:p>
          <a:p>
            <a:pPr marL="216000" indent="0">
              <a:lnSpc>
                <a:spcPct val="100000"/>
              </a:lnSpc>
              <a:buNone/>
              <a:tabLst>
                <a:tab pos="0" algn="l"/>
              </a:tabLst>
              <a:defRPr/>
            </a:pPr>
            <a:r>
              <a:rPr lang="en-US" sz="2000" b="0" strike="noStrike" spc="-1">
                <a:solidFill>
                  <a:srgbClr val="000000"/>
                </a:solidFill>
                <a:latin typeface="Arial"/>
              </a:rPr>
              <a:t>-----Prefer teaching from notes-------</a:t>
            </a:r>
          </a:p>
          <a:p>
            <a:pPr marL="216000" indent="0">
              <a:lnSpc>
                <a:spcPct val="100000"/>
              </a:lnSpc>
              <a:buNone/>
              <a:tabLst>
                <a:tab pos="0" algn="l"/>
              </a:tabLst>
              <a:defRPr/>
            </a:pPr>
            <a:endParaRPr lang="en-US" sz="2000" b="0" strike="noStrike" spc="-1">
              <a:solidFill>
                <a:srgbClr val="000000"/>
              </a:solidFill>
              <a:latin typeface="Arial"/>
            </a:endParaRPr>
          </a:p>
          <a:p>
            <a:pPr marL="216000" indent="0">
              <a:lnSpc>
                <a:spcPct val="90000"/>
              </a:lnSpc>
              <a:buNone/>
              <a:tabLst>
                <a:tab pos="0" algn="l"/>
              </a:tabLst>
              <a:defRPr/>
            </a:pPr>
            <a:r>
              <a:rPr lang="en-US" sz="2000" b="0" strike="noStrike" spc="-1">
                <a:solidFill>
                  <a:srgbClr val="000000"/>
                </a:solidFill>
                <a:latin typeface="Arial"/>
                <a:ea typeface="Noto Sans CJK SC"/>
              </a:rPr>
              <a:t>If we have developed schedule from transaction we verify those schedule if it is conflict or not using Serializability either it is ok to use or not and concurrency control used to make schedule that’s not going to conflict</a:t>
            </a:r>
            <a:endParaRPr lang="en-US" sz="2000" b="0" strike="noStrike" spc="-1">
              <a:solidFill>
                <a:srgbClr val="000000"/>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E5CA14-83B2-9E38-88D8-3EFE8357444E}" type="slidenum">
              <a:rPr/>
              <a:t>14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1719FFA-EC57-8E8A-F672-6EA7491E22FC}" type="slidenum">
              <a:rPr/>
              <a:t>15</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t>Precedence graph== R-W,W-R,W-W //see notes</a:t>
            </a:r>
          </a:p>
          <a:p>
            <a:pPr>
              <a:defRPr/>
            </a:pPr>
            <a:r>
              <a:t>No loop graph =&gt;CS=&gt; serial=&gt; consistence</a:t>
            </a:r>
          </a:p>
        </p:txBody>
      </p:sp>
      <p:sp>
        <p:nvSpPr>
          <p:cNvPr id="4" name="Slide Number Placeholder 3"/>
          <p:cNvSpPr>
            <a:spLocks noGrp="1"/>
          </p:cNvSpPr>
          <p:nvPr>
            <p:ph type="sldNum" sz="quarter" idx="10"/>
          </p:nvPr>
        </p:nvSpPr>
        <p:spPr bwMode="auto"/>
        <p:txBody>
          <a:bodyPr/>
          <a:lstStyle/>
          <a:p>
            <a:pPr>
              <a:defRPr/>
            </a:pPr>
            <a:fld id="{FAED2B03-D195-6732-A4F5-44DB36F0A443}" type="slidenum">
              <a:rPr/>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7" name="PlaceHolder 1"/>
          <p:cNvSpPr>
            <a:spLocks noGrp="1" noRot="1" noChangeAspect="1"/>
          </p:cNvSpPr>
          <p:nvPr>
            <p:ph type="sldImg"/>
          </p:nvPr>
        </p:nvSpPr>
        <p:spPr bwMode="auto">
          <a:xfrm>
            <a:off x="685800" y="1143000"/>
            <a:ext cx="5485680" cy="3085560"/>
          </a:xfrm>
          <a:prstGeom prst="rect">
            <a:avLst/>
          </a:prstGeom>
          <a:ln w="0">
            <a:noFill/>
          </a:ln>
        </p:spPr>
      </p:sp>
      <p:sp>
        <p:nvSpPr>
          <p:cNvPr id="228" name="PlaceHolder 2"/>
          <p:cNvSpPr>
            <a:spLocks noGrp="1"/>
          </p:cNvSpPr>
          <p:nvPr>
            <p:ph type="body"/>
          </p:nvPr>
        </p:nvSpPr>
        <p:spPr bwMode="auto">
          <a:xfrm>
            <a:off x="685800" y="4400640"/>
            <a:ext cx="5485680" cy="3599640"/>
          </a:xfrm>
          <a:prstGeom prst="rect">
            <a:avLst/>
          </a:prstGeom>
          <a:noFill/>
          <a:ln w="0">
            <a:noFill/>
          </a:ln>
        </p:spPr>
        <p:txBody>
          <a:bodyPr lIns="0" tIns="0" rIns="0" bIns="0" anchor="t">
            <a:noAutofit/>
          </a:bodyPr>
          <a:lstStyle/>
          <a:p>
            <a:pPr marL="216000" indent="0">
              <a:lnSpc>
                <a:spcPct val="100000"/>
              </a:lnSpc>
              <a:buNone/>
              <a:tabLst>
                <a:tab pos="0" algn="l"/>
              </a:tabLst>
              <a:defRPr/>
            </a:pPr>
            <a:r>
              <a:rPr lang="en-US" sz="2000" b="0" strike="noStrike" spc="-1">
                <a:solidFill>
                  <a:srgbClr val="000000"/>
                </a:solidFill>
                <a:latin typeface="Arial"/>
              </a:rPr>
              <a:t>Different condition should apply</a:t>
            </a:r>
          </a:p>
        </p:txBody>
      </p:sp>
      <p:sp>
        <p:nvSpPr>
          <p:cNvPr id="229" name="PlaceHolder 3"/>
          <p:cNvSpPr>
            <a:spLocks noGrp="1"/>
          </p:cNvSpPr>
          <p:nvPr>
            <p:ph type="sldNum" idx="21"/>
          </p:nvPr>
        </p:nvSpPr>
        <p:spPr bwMode="auto">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Times New Roman"/>
              </a:defRPr>
            </a:lvl1pPr>
          </a:lstStyle>
          <a:p>
            <a:pPr indent="0" algn="r">
              <a:lnSpc>
                <a:spcPct val="100000"/>
              </a:lnSpc>
              <a:buNone/>
              <a:tabLst>
                <a:tab pos="0" algn="l"/>
              </a:tabLst>
              <a:defRPr/>
            </a:pPr>
            <a:fld id="{170E0043-7A84-461A-90BE-EE36ACD27526}" type="slidenum">
              <a:rPr lang="en-US" sz="1200" b="0" strike="noStrike" spc="-1">
                <a:solidFill>
                  <a:srgbClr val="000000"/>
                </a:solidFill>
                <a:latin typeface="Times New Roman"/>
              </a:rPr>
              <a:t>17</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8C73-A129-F6BD-2013-8E1D5DF50D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B4D6926-195E-3052-3D86-7CCC03A9E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980BFE0-AA40-922C-EAF1-BA172863BE1B}"/>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85240AFD-A093-8C86-5278-959AC1F7F3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01EAF9-A28D-F176-FC23-3BEC0074E2FE}"/>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421078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E4CF-C56A-95A9-1569-5E1DADE8E30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3F120F-AF7C-5E50-9FF4-F0D364636D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20E808-CF9B-9967-060D-CFE86418E54A}"/>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B61DF2FD-0D52-DA28-3239-7CB8C0D889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0B45ABC-7ABC-DC9A-424E-CE7793AE0E8B}"/>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3180109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AD270-FAA7-1835-8D0B-A52A4047A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B007590-0952-7B65-78FD-EC4F2622F7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3C7DC-B836-9DAD-772D-B7BEED08E8F5}"/>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92070706-77DD-C421-E1A4-B725914EF58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ECB881-E81E-95FB-40A0-3E8671AE0502}"/>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2070158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CB89-3791-610A-B6D4-99848083A46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4DC3900-CCB1-0E10-5933-78D2FDE451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4CAE61D-30A4-BB26-A4F9-1E2FC6296C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54B784F-21DB-FB12-F6EE-D9685549C6A8}"/>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6" name="Footer Placeholder 5">
            <a:extLst>
              <a:ext uri="{FF2B5EF4-FFF2-40B4-BE49-F238E27FC236}">
                <a16:creationId xmlns:a16="http://schemas.microsoft.com/office/drawing/2014/main" id="{E25AEF84-EF39-86BE-3297-C9C379F459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961829-7505-E02E-39F3-F7AF39BCD2E7}"/>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206590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5151-5149-9693-0DC4-4B1930258B8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F465B0-B703-3E1D-9836-B5F34533C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BE5895-45A0-2CE8-5DB7-2B0AFBB0CC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18C1C97-2BC0-1529-6D0D-F796F19785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B6150C-DA43-E192-88A7-15865D8F1D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4C383A0-8D9E-56D3-AB6B-86CFFE88D635}"/>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8" name="Footer Placeholder 7">
            <a:extLst>
              <a:ext uri="{FF2B5EF4-FFF2-40B4-BE49-F238E27FC236}">
                <a16:creationId xmlns:a16="http://schemas.microsoft.com/office/drawing/2014/main" id="{75451D43-B274-690D-E253-FC0DCB44C0B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524F088-87EC-9E62-2754-F499BBEB7D3E}"/>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837130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47258-17B5-919E-3DEC-A5667FA803D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3E6DF97-73CE-4D7B-D9C9-F82A82F6DD20}"/>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4" name="Footer Placeholder 3">
            <a:extLst>
              <a:ext uri="{FF2B5EF4-FFF2-40B4-BE49-F238E27FC236}">
                <a16:creationId xmlns:a16="http://schemas.microsoft.com/office/drawing/2014/main" id="{4E6D1771-6F53-C074-7EBE-E54C448B27C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6E54FE6-CDD5-E012-9D0F-4CA8992B6644}"/>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1522495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8C3B9B-0201-028A-E693-39B8C33FEDD5}"/>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3" name="Footer Placeholder 2">
            <a:extLst>
              <a:ext uri="{FF2B5EF4-FFF2-40B4-BE49-F238E27FC236}">
                <a16:creationId xmlns:a16="http://schemas.microsoft.com/office/drawing/2014/main" id="{F969B13A-D300-1BFF-D135-82AE4BDAEBD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C87EFCA-B38A-1B27-1180-727483628D7C}"/>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2896743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DF993-314F-9A02-004E-8E04C7722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361A2B1-296E-4068-422C-E21E2E2C0A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30AD67A-85E0-925E-CC06-D687EAE527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495EB-53F5-0508-4D91-1C59173F96E8}"/>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6" name="Footer Placeholder 5">
            <a:extLst>
              <a:ext uri="{FF2B5EF4-FFF2-40B4-BE49-F238E27FC236}">
                <a16:creationId xmlns:a16="http://schemas.microsoft.com/office/drawing/2014/main" id="{2D6CA068-03C0-36DE-1FA1-E572F24AA9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351293-9501-89A2-DE7B-8DE51FBFF62F}"/>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119175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5AB50-A551-1442-6937-C1DE3526B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CFD84D-3505-F406-96FE-9483290AA8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3DB67B7-2840-670C-B4FC-7B58185CA7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9D7E3-737B-D23D-7512-98323CAFDCB7}"/>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6" name="Footer Placeholder 5">
            <a:extLst>
              <a:ext uri="{FF2B5EF4-FFF2-40B4-BE49-F238E27FC236}">
                <a16:creationId xmlns:a16="http://schemas.microsoft.com/office/drawing/2014/main" id="{ABCED8F1-98C9-98C4-2C19-5996E671210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7C961B-DEE5-9CA0-78DE-9596D8ABC2B8}"/>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3317303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66AF9-5342-80EC-CD8A-25D1E8B684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B86D718-5135-8904-8876-24418CD05F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EFE3C3-EEAF-ECA6-0C21-A287D11301F6}"/>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376A12D5-30D0-CC29-2598-A54EE9F2B9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AA20DE-2452-D486-8974-B867B31A7E9D}"/>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356955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9E92A3-6B5C-0E9F-A7FF-22B2F27824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CBC8596-9446-1E44-4016-A7299C2B9B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FC07A-E5BD-735B-31F6-289B76B8233F}"/>
              </a:ext>
            </a:extLst>
          </p:cNvPr>
          <p:cNvSpPr>
            <a:spLocks noGrp="1"/>
          </p:cNvSpPr>
          <p:nvPr>
            <p:ph type="dt" sz="half" idx="10"/>
          </p:nvPr>
        </p:nvSpPr>
        <p:spPr/>
        <p:txBody>
          <a:body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7577ABF5-7323-E021-7A2E-BCD73A36B7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00D164-8989-516D-4FAD-447A12C2DD73}"/>
              </a:ext>
            </a:extLst>
          </p:cNvPr>
          <p:cNvSpPr>
            <a:spLocks noGrp="1"/>
          </p:cNvSpPr>
          <p:nvPr>
            <p:ph type="sldNum" sz="quarter" idx="12"/>
          </p:nvPr>
        </p:nvSpPr>
        <p:spPr/>
        <p:txBody>
          <a:bodyPr/>
          <a:lstStyle/>
          <a:p>
            <a:fld id="{9BB19793-9262-4E54-8783-FB12ECFDCD75}" type="slidenum">
              <a:rPr lang="en-GB" smtClean="0"/>
              <a:t>‹#›</a:t>
            </a:fld>
            <a:endParaRPr lang="en-GB"/>
          </a:p>
        </p:txBody>
      </p:sp>
    </p:spTree>
    <p:extLst>
      <p:ext uri="{BB962C8B-B14F-4D97-AF65-F5344CB8AC3E}">
        <p14:creationId xmlns:p14="http://schemas.microsoft.com/office/powerpoint/2010/main" val="2637080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35E74-1BC4-9E35-2000-F477394451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A3A1C6B-AE95-C757-F1B2-0E34EC4C4B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E531C7-C40E-D8CD-5619-C30CFC4DE8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4D6B17-46C1-46FC-BC19-4BFC4E610E7F}" type="datetimeFigureOut">
              <a:rPr lang="en-GB" smtClean="0"/>
              <a:t>14/02/2026</a:t>
            </a:fld>
            <a:endParaRPr lang="en-GB"/>
          </a:p>
        </p:txBody>
      </p:sp>
      <p:sp>
        <p:nvSpPr>
          <p:cNvPr id="5" name="Footer Placeholder 4">
            <a:extLst>
              <a:ext uri="{FF2B5EF4-FFF2-40B4-BE49-F238E27FC236}">
                <a16:creationId xmlns:a16="http://schemas.microsoft.com/office/drawing/2014/main" id="{491C7144-116D-E26B-BF3E-B235097DF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8414369-11CB-21CE-C4BF-F763EF3162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B19793-9262-4E54-8783-FB12ECFDCD75}" type="slidenum">
              <a:rPr lang="en-GB" smtClean="0"/>
              <a:t>‹#›</a:t>
            </a:fld>
            <a:endParaRPr lang="en-GB"/>
          </a:p>
        </p:txBody>
      </p:sp>
    </p:spTree>
    <p:extLst>
      <p:ext uri="{BB962C8B-B14F-4D97-AF65-F5344CB8AC3E}">
        <p14:creationId xmlns:p14="http://schemas.microsoft.com/office/powerpoint/2010/main" val="3939861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DEFA-B51D-B77F-334E-3E8EDDA860BF}"/>
              </a:ext>
            </a:extLst>
          </p:cNvPr>
          <p:cNvSpPr>
            <a:spLocks noGrp="1"/>
          </p:cNvSpPr>
          <p:nvPr>
            <p:ph type="ctrTitle"/>
          </p:nvPr>
        </p:nvSpPr>
        <p:spPr/>
        <p:txBody>
          <a:bodyPr/>
          <a:lstStyle/>
          <a:p>
            <a:r>
              <a:rPr lang="en-GB" dirty="0"/>
              <a:t>Transaction and Concurrency Control </a:t>
            </a:r>
          </a:p>
        </p:txBody>
      </p:sp>
      <p:sp>
        <p:nvSpPr>
          <p:cNvPr id="3" name="Subtitle 2">
            <a:extLst>
              <a:ext uri="{FF2B5EF4-FFF2-40B4-BE49-F238E27FC236}">
                <a16:creationId xmlns:a16="http://schemas.microsoft.com/office/drawing/2014/main" id="{393D1EE8-2EDB-657D-9954-A2727344BC45}"/>
              </a:ext>
            </a:extLst>
          </p:cNvPr>
          <p:cNvSpPr>
            <a:spLocks noGrp="1"/>
          </p:cNvSpPr>
          <p:nvPr>
            <p:ph type="subTitle" idx="1"/>
          </p:nvPr>
        </p:nvSpPr>
        <p:spPr/>
        <p:txBody>
          <a:bodyPr/>
          <a:lstStyle/>
          <a:p>
            <a:r>
              <a:rPr lang="en-US" dirty="0"/>
              <a:t>Unit-8</a:t>
            </a:r>
            <a:endParaRPr lang="en-GB" dirty="0"/>
          </a:p>
        </p:txBody>
      </p:sp>
    </p:spTree>
    <p:extLst>
      <p:ext uri="{BB962C8B-B14F-4D97-AF65-F5344CB8AC3E}">
        <p14:creationId xmlns:p14="http://schemas.microsoft.com/office/powerpoint/2010/main" val="2165993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38CC-E27B-D1C6-A7BE-D7E55CCEDCE8}"/>
              </a:ext>
            </a:extLst>
          </p:cNvPr>
          <p:cNvSpPr>
            <a:spLocks noGrp="1"/>
          </p:cNvSpPr>
          <p:nvPr>
            <p:ph type="title"/>
          </p:nvPr>
        </p:nvSpPr>
        <p:spPr/>
        <p:txBody>
          <a:bodyPr/>
          <a:lstStyle/>
          <a:p>
            <a:r>
              <a:rPr lang="en-GB" dirty="0"/>
              <a:t>Introduction to Transaction</a:t>
            </a:r>
          </a:p>
        </p:txBody>
      </p:sp>
      <p:sp>
        <p:nvSpPr>
          <p:cNvPr id="3" name="Content Placeholder 2">
            <a:extLst>
              <a:ext uri="{FF2B5EF4-FFF2-40B4-BE49-F238E27FC236}">
                <a16:creationId xmlns:a16="http://schemas.microsoft.com/office/drawing/2014/main" id="{7D583849-9DC6-0EE8-3154-5ABF4529B5CE}"/>
              </a:ext>
            </a:extLst>
          </p:cNvPr>
          <p:cNvSpPr>
            <a:spLocks noGrp="1"/>
          </p:cNvSpPr>
          <p:nvPr>
            <p:ph idx="1"/>
          </p:nvPr>
        </p:nvSpPr>
        <p:spPr/>
        <p:txBody>
          <a:bodyPr/>
          <a:lstStyle/>
          <a:p>
            <a:r>
              <a:rPr lang="en-GB" dirty="0"/>
              <a:t>A transaction is a single, logical unit of work that consists of one or more related tasks.</a:t>
            </a:r>
          </a:p>
          <a:p>
            <a:r>
              <a:rPr lang="en-GB" dirty="0"/>
              <a:t>A transaction is treated as a single, indivisible operation, which means that either all the tasks within the transaction are executed successfully, or none are.</a:t>
            </a:r>
          </a:p>
          <a:p>
            <a:endParaRPr lang="en-GB" dirty="0"/>
          </a:p>
        </p:txBody>
      </p:sp>
    </p:spTree>
    <p:extLst>
      <p:ext uri="{BB962C8B-B14F-4D97-AF65-F5344CB8AC3E}">
        <p14:creationId xmlns:p14="http://schemas.microsoft.com/office/powerpoint/2010/main" val="925482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2"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Transaction</a:t>
            </a:r>
            <a:endParaRPr lang="en-US" sz="4400" b="0" strike="noStrike" spc="-1">
              <a:solidFill>
                <a:srgbClr val="000000"/>
              </a:solidFill>
              <a:latin typeface="Arial"/>
            </a:endParaRPr>
          </a:p>
        </p:txBody>
      </p:sp>
      <p:sp>
        <p:nvSpPr>
          <p:cNvPr id="173"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Transactions refer to a set of operations that are used for performing a set of logical work.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Usually, a transaction means the data present in the DB has changed.</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 Protecting the user data from system failures is one of the primary uses of DBMS.</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This “all-or-none” property is referred to as atomicity.</a:t>
            </a:r>
            <a:endParaRPr lang="en-US" sz="28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ACID Properties</a:t>
            </a:r>
            <a:endParaRPr lang="en-US" sz="4400" b="0" strike="noStrike" spc="-1">
              <a:solidFill>
                <a:srgbClr val="000000"/>
              </a:solidFill>
              <a:latin typeface="Arial"/>
            </a:endParaRPr>
          </a:p>
        </p:txBody>
      </p:sp>
      <p:sp>
        <p:nvSpPr>
          <p:cNvPr id="175"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ACID is an acronym that stands for Atomicity, Consistency, Isolation, and Durability.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These properties are fundamental in database systems and ensure reliable and consistent transactions.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Atomicity: Atomicity guarantees that a transaction is treated as a single, indivisible unit of work. It means that either all the operations within a transaction are successfully completed, or none of them take effect at all. If any part of the transaction fails, the entire transaction is rolled back, and the database is restored to its previous state.</a:t>
            </a:r>
            <a:endParaRPr lang="en-US" sz="2800" b="0" strike="noStrike" spc="-1">
              <a:solidFill>
                <a:srgbClr val="000000"/>
              </a:solidFill>
              <a:latin typeface="Arial"/>
            </a:endParaRPr>
          </a:p>
          <a:p>
            <a:pPr indent="0">
              <a:lnSpc>
                <a:spcPct val="90000"/>
              </a:lnSpc>
              <a:spcBef>
                <a:spcPts val="1001"/>
              </a:spcBef>
              <a:buNone/>
              <a:tabLst>
                <a:tab pos="0" algn="l"/>
              </a:tabLst>
              <a:defRPr/>
            </a:pPr>
            <a:endParaRPr lang="en-US" sz="2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6"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ACID Properties</a:t>
            </a:r>
            <a:endParaRPr lang="en-US" sz="4400" b="0" strike="noStrike" spc="-1">
              <a:solidFill>
                <a:srgbClr val="000000"/>
              </a:solidFill>
              <a:latin typeface="Arial"/>
            </a:endParaRPr>
          </a:p>
        </p:txBody>
      </p:sp>
      <p:sp>
        <p:nvSpPr>
          <p:cNvPr id="177"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fontScale="86500" lnSpcReduction="20000"/>
          </a:bodyPr>
          <a:lstStyle/>
          <a:p>
            <a:pPr marL="212040" indent="-212040">
              <a:lnSpc>
                <a:spcPct val="90000"/>
              </a:lnSpc>
              <a:spcBef>
                <a:spcPts val="1001"/>
              </a:spcBef>
              <a:buClr>
                <a:srgbClr val="000000"/>
              </a:buClr>
              <a:buFont typeface="Arial"/>
              <a:buChar char="•"/>
              <a:defRPr/>
            </a:pPr>
            <a:r>
              <a:rPr lang="en-US" sz="2800" b="0" strike="noStrike" spc="-1">
                <a:solidFill>
                  <a:srgbClr val="000000"/>
                </a:solidFill>
                <a:latin typeface="Calibri"/>
              </a:rPr>
              <a:t>Consistency: Consistency ensures that a transaction brings the database from one consistent state to another consistent state. It means that a transaction must adhere to all the defined integrity constraints, business rules, and validation rules of the database. If a transaction violates any of these constraints, it is rolled back to maintain data consistency.</a:t>
            </a:r>
            <a:endParaRPr lang="en-US" sz="2800" b="0" strike="noStrike" spc="-1">
              <a:solidFill>
                <a:srgbClr val="000000"/>
              </a:solidFill>
              <a:latin typeface="Arial"/>
            </a:endParaRPr>
          </a:p>
          <a:p>
            <a:pPr marL="212040" indent="-212040">
              <a:lnSpc>
                <a:spcPct val="90000"/>
              </a:lnSpc>
              <a:spcBef>
                <a:spcPts val="1001"/>
              </a:spcBef>
              <a:buClr>
                <a:srgbClr val="000000"/>
              </a:buClr>
              <a:buFont typeface="Arial"/>
              <a:buChar char="•"/>
              <a:defRPr/>
            </a:pPr>
            <a:r>
              <a:rPr lang="en-US" sz="2800" b="0" strike="noStrike" spc="-1">
                <a:solidFill>
                  <a:srgbClr val="000000"/>
                </a:solidFill>
                <a:latin typeface="Calibri"/>
              </a:rPr>
              <a:t>Isolation: Isolation guarantees that each transaction is executed in isolation from other concurrent transactions. It ensures that the intermediate states of a transaction are not visible to other transactions until the transaction is committed. Isolation prevents interference and conflicts between concurrent transactions and maintains data integrity.</a:t>
            </a:r>
            <a:endParaRPr lang="en-US" sz="2800" b="0" strike="noStrike" spc="-1">
              <a:solidFill>
                <a:srgbClr val="000000"/>
              </a:solidFill>
              <a:latin typeface="Arial"/>
            </a:endParaRPr>
          </a:p>
          <a:p>
            <a:pPr marL="212040" indent="-212040">
              <a:lnSpc>
                <a:spcPct val="90000"/>
              </a:lnSpc>
              <a:spcBef>
                <a:spcPts val="1001"/>
              </a:spcBef>
              <a:buClr>
                <a:srgbClr val="000000"/>
              </a:buClr>
              <a:buFont typeface="Arial"/>
              <a:buChar char="•"/>
              <a:defRPr/>
            </a:pPr>
            <a:r>
              <a:rPr lang="en-US" sz="2800" b="0" strike="noStrike" spc="-1">
                <a:solidFill>
                  <a:srgbClr val="000000"/>
                </a:solidFill>
                <a:latin typeface="Calibri"/>
              </a:rPr>
              <a:t>Durability: Durability ensures that once a transaction is committed, its changes are permanently stored in the database and survive any subsequent failures or system crashes. The changes made by a committed transaction should persist even in the event of power loss or system failures.</a:t>
            </a:r>
            <a:endParaRPr lang="en-US" sz="2800" b="0" strike="noStrike" spc="-1">
              <a:solidFill>
                <a:srgbClr val="000000"/>
              </a:solidFill>
              <a:latin typeface="Arial"/>
            </a:endParaRPr>
          </a:p>
          <a:p>
            <a:pPr indent="0">
              <a:lnSpc>
                <a:spcPct val="90000"/>
              </a:lnSpc>
              <a:spcBef>
                <a:spcPts val="1001"/>
              </a:spcBef>
              <a:buNone/>
              <a:tabLst>
                <a:tab pos="0" algn="l"/>
              </a:tabLst>
              <a:defRPr/>
            </a:pPr>
            <a:endParaRPr lang="en-US" sz="2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178" name="Picture 2"/>
          <p:cNvPicPr/>
          <p:nvPr/>
        </p:nvPicPr>
        <p:blipFill>
          <a:blip r:embed="rId3"/>
          <a:stretch/>
        </p:blipFill>
        <p:spPr bwMode="auto">
          <a:xfrm>
            <a:off x="0" y="0"/>
            <a:ext cx="12191400" cy="685728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Simple Transaction Model</a:t>
            </a:r>
            <a:endParaRPr lang="en-US" sz="4400" b="0" strike="noStrike" spc="-1">
              <a:solidFill>
                <a:srgbClr val="000000"/>
              </a:solidFill>
              <a:latin typeface="Arial"/>
            </a:endParaRPr>
          </a:p>
        </p:txBody>
      </p:sp>
      <p:sp>
        <p:nvSpPr>
          <p:cNvPr id="180"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Transactions with a simple database language that focuses on when data are moved from disk to main memory and from main memory to disk.</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Transactions access data using two operations:</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read(X), which transfers the data item X from the database to a variable, also called X, in a buffer in main memory belonging to the transaction that executed the read operation.</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write(X), which transfers the value in the variable X in the main-memory buffer of the transaction that executed the write to the data item X in the database.</a:t>
            </a:r>
            <a:endParaRPr lang="en-US" sz="24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1"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Simple Transaction Model</a:t>
            </a:r>
            <a:endParaRPr lang="en-US" sz="4400" b="0" strike="noStrike" spc="-1">
              <a:solidFill>
                <a:srgbClr val="000000"/>
              </a:solidFill>
              <a:latin typeface="Arial"/>
            </a:endParaRPr>
          </a:p>
        </p:txBody>
      </p:sp>
      <p:sp>
        <p:nvSpPr>
          <p:cNvPr id="182"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Ti : read(A);</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 := A − 50;</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write(A);</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read(B);</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B := B + 50;</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write(B).</a:t>
            </a:r>
            <a:endParaRPr lang="en-US" sz="28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5"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Transaction Atomicity and Durability</a:t>
            </a:r>
            <a:endParaRPr lang="en-US" sz="4400" b="0" strike="noStrike" spc="-1">
              <a:solidFill>
                <a:srgbClr val="000000"/>
              </a:solidFill>
              <a:latin typeface="Arial"/>
            </a:endParaRPr>
          </a:p>
        </p:txBody>
      </p:sp>
      <p:sp>
        <p:nvSpPr>
          <p:cNvPr id="186"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 transaction must be in one of the following states:</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1" strike="noStrike" spc="-1">
                <a:solidFill>
                  <a:srgbClr val="000000"/>
                </a:solidFill>
                <a:latin typeface="Calibri"/>
              </a:rPr>
              <a:t>Active</a:t>
            </a:r>
            <a:r>
              <a:rPr lang="en-US" sz="2800" b="0" strike="noStrike" spc="-1">
                <a:solidFill>
                  <a:srgbClr val="000000"/>
                </a:solidFill>
                <a:latin typeface="Calibri"/>
              </a:rPr>
              <a:t>, the initial state; the transaction stays in this state while it is executing.</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1" strike="noStrike" spc="-1">
                <a:solidFill>
                  <a:srgbClr val="000000"/>
                </a:solidFill>
                <a:latin typeface="Calibri"/>
              </a:rPr>
              <a:t>Partially committed</a:t>
            </a:r>
            <a:r>
              <a:rPr lang="en-US" sz="2800" b="0" strike="noStrike" spc="-1">
                <a:solidFill>
                  <a:srgbClr val="000000"/>
                </a:solidFill>
                <a:latin typeface="Calibri"/>
              </a:rPr>
              <a:t>, after the final statement has been executed.</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1" strike="noStrike" spc="-1">
                <a:solidFill>
                  <a:srgbClr val="000000"/>
                </a:solidFill>
                <a:latin typeface="Calibri"/>
              </a:rPr>
              <a:t>Failed</a:t>
            </a:r>
            <a:r>
              <a:rPr lang="en-US" sz="2800" b="0" strike="noStrike" spc="-1">
                <a:solidFill>
                  <a:srgbClr val="000000"/>
                </a:solidFill>
                <a:latin typeface="Calibri"/>
              </a:rPr>
              <a:t>, after the discovery that normal execution can no longer proceed.</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1" strike="noStrike" spc="-1">
                <a:solidFill>
                  <a:srgbClr val="000000"/>
                </a:solidFill>
                <a:latin typeface="Calibri"/>
              </a:rPr>
              <a:t>Aborted</a:t>
            </a:r>
            <a:r>
              <a:rPr lang="en-US" sz="2800" b="0" strike="noStrike" spc="-1">
                <a:solidFill>
                  <a:srgbClr val="000000"/>
                </a:solidFill>
                <a:latin typeface="Calibri"/>
              </a:rPr>
              <a:t>, after the transaction has been rolled back and the database has been restored to its state prior to the start of the transaction.</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1" strike="noStrike" spc="-1">
                <a:solidFill>
                  <a:srgbClr val="000000"/>
                </a:solidFill>
                <a:latin typeface="Calibri"/>
              </a:rPr>
              <a:t>Committed</a:t>
            </a:r>
            <a:r>
              <a:rPr lang="en-US" sz="2800" b="0" strike="noStrike" spc="-1">
                <a:solidFill>
                  <a:srgbClr val="000000"/>
                </a:solidFill>
                <a:latin typeface="Calibri"/>
              </a:rPr>
              <a:t>, after successful completion.</a:t>
            </a:r>
            <a:endParaRPr lang="en-US" sz="28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 name="PlaceHolder 1"/>
          <p:cNvSpPr>
            <a:spLocks noGrp="1"/>
          </p:cNvSpPr>
          <p:nvPr>
            <p:ph type="title"/>
          </p:nvPr>
        </p:nvSpPr>
        <p:spPr bwMode="auto">
          <a:xfrm>
            <a:off x="838080" y="365040"/>
            <a:ext cx="10514880" cy="1324800"/>
          </a:xfrm>
          <a:prstGeom prst="rect">
            <a:avLst/>
          </a:prstGeom>
          <a:noFill/>
          <a:ln w="0">
            <a:noFill/>
          </a:ln>
        </p:spPr>
        <p:txBody>
          <a:bodyPr lIns="0" tIns="0" rIns="0" bIns="0" anchor="ctr">
            <a:noAutofit/>
          </a:bodyPr>
          <a:lstStyle/>
          <a:p>
            <a:pPr indent="0">
              <a:lnSpc>
                <a:spcPct val="90000"/>
              </a:lnSpc>
              <a:buNone/>
              <a:tabLst>
                <a:tab pos="0" algn="l"/>
              </a:tabLst>
              <a:defRPr/>
            </a:pPr>
            <a:r>
              <a:rPr lang="en-US" sz="4400" b="1" strike="noStrike" spc="-1">
                <a:solidFill>
                  <a:srgbClr val="000000"/>
                </a:solidFill>
                <a:latin typeface="Calibri Light"/>
              </a:rPr>
              <a:t>Transaction Atomicity and Durability</a:t>
            </a:r>
            <a:endParaRPr lang="en-US" sz="4400" b="0" strike="noStrike" spc="-1">
              <a:solidFill>
                <a:srgbClr val="000000"/>
              </a:solidFill>
              <a:latin typeface="Arial"/>
            </a:endParaRPr>
          </a:p>
        </p:txBody>
      </p:sp>
      <p:pic>
        <p:nvPicPr>
          <p:cNvPr id="188" name="Picture 5"/>
          <p:cNvPicPr/>
          <p:nvPr/>
        </p:nvPicPr>
        <p:blipFill>
          <a:blip r:embed="rId3"/>
          <a:stretch/>
        </p:blipFill>
        <p:spPr bwMode="auto">
          <a:xfrm>
            <a:off x="2057400" y="1690560"/>
            <a:ext cx="6929640" cy="472320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9"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Transaction Isolation</a:t>
            </a:r>
            <a:endParaRPr lang="en-US" sz="4400" b="0" strike="noStrike" spc="-1">
              <a:solidFill>
                <a:srgbClr val="000000"/>
              </a:solidFill>
              <a:latin typeface="Arial"/>
            </a:endParaRPr>
          </a:p>
        </p:txBody>
      </p:sp>
      <p:sp>
        <p:nvSpPr>
          <p:cNvPr id="190"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Transaction-processing systems usually allow multiple transactions to run concurrently.</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Allowing multiple transactions to update data concurrently causes several complications with consistency of the data.</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consistency in spite of concurrent execution of transactions requires extra work;</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it is far easier to insist that transactions run </a:t>
            </a:r>
            <a:r>
              <a:rPr lang="en-US" sz="2800" b="1" strike="noStrike" spc="-1">
                <a:solidFill>
                  <a:srgbClr val="000000"/>
                </a:solidFill>
                <a:latin typeface="Calibri"/>
              </a:rPr>
              <a:t>serially</a:t>
            </a:r>
            <a:r>
              <a:rPr lang="en-US" sz="2800" b="0" strike="noStrike" spc="-1">
                <a:solidFill>
                  <a:srgbClr val="000000"/>
                </a:solidFill>
                <a:latin typeface="Calibri"/>
              </a:rPr>
              <a:t>—that is, one at a time, each starting only after the previous one has completed.</a:t>
            </a:r>
            <a:endParaRPr lang="en-US" sz="28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Transaction Isolation</a:t>
            </a:r>
            <a:endParaRPr lang="en-US" sz="4400" b="0" strike="noStrike" spc="-1">
              <a:solidFill>
                <a:srgbClr val="000000"/>
              </a:solidFill>
              <a:latin typeface="Arial"/>
            </a:endParaRPr>
          </a:p>
        </p:txBody>
      </p:sp>
      <p:sp>
        <p:nvSpPr>
          <p:cNvPr id="192"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dirty="0">
                <a:solidFill>
                  <a:srgbClr val="000000"/>
                </a:solidFill>
                <a:latin typeface="Calibri"/>
              </a:rPr>
              <a:t>There are two good reasons for allowing concurrency:</a:t>
            </a:r>
            <a:endParaRPr lang="en-US" sz="2800" b="0" strike="noStrike" spc="-1" dirty="0">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1" i="1" strike="noStrike" spc="-1" dirty="0">
                <a:solidFill>
                  <a:srgbClr val="000000"/>
                </a:solidFill>
                <a:latin typeface="Calibri"/>
              </a:rPr>
              <a:t>Improved throughput and resource utilization.</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1" i="1" strike="noStrike" spc="-1" dirty="0">
                <a:solidFill>
                  <a:srgbClr val="000000"/>
                </a:solidFill>
                <a:latin typeface="Calibri"/>
              </a:rPr>
              <a:t>Reduced waiting time.</a:t>
            </a:r>
            <a:endParaRPr lang="en-US" sz="2400" b="0" strike="noStrike" spc="-1" dirty="0">
              <a:solidFill>
                <a:srgbClr val="000000"/>
              </a:solidFill>
              <a:latin typeface="Arial"/>
            </a:endParaRPr>
          </a:p>
          <a:p>
            <a:pPr marL="685800" indent="0">
              <a:lnSpc>
                <a:spcPct val="90000"/>
              </a:lnSpc>
              <a:spcBef>
                <a:spcPts val="499"/>
              </a:spcBef>
              <a:buNone/>
              <a:tabLst>
                <a:tab pos="0" algn="l"/>
              </a:tabLst>
              <a:defRPr/>
            </a:pPr>
            <a:endParaRPr lang="en-US" sz="24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94C0-70A8-3309-A129-A25F5490D5A9}"/>
              </a:ext>
            </a:extLst>
          </p:cNvPr>
          <p:cNvSpPr>
            <a:spLocks noGrp="1"/>
          </p:cNvSpPr>
          <p:nvPr>
            <p:ph type="title"/>
          </p:nvPr>
        </p:nvSpPr>
        <p:spPr/>
        <p:txBody>
          <a:bodyPr/>
          <a:lstStyle/>
          <a:p>
            <a:r>
              <a:rPr lang="en-GB" dirty="0"/>
              <a:t>Concurrent Executions</a:t>
            </a:r>
          </a:p>
        </p:txBody>
      </p:sp>
      <p:sp>
        <p:nvSpPr>
          <p:cNvPr id="3" name="Content Placeholder 2">
            <a:extLst>
              <a:ext uri="{FF2B5EF4-FFF2-40B4-BE49-F238E27FC236}">
                <a16:creationId xmlns:a16="http://schemas.microsoft.com/office/drawing/2014/main" id="{0F2AD17F-5A26-EEE6-922F-9C6EE69D71A8}"/>
              </a:ext>
            </a:extLst>
          </p:cNvPr>
          <p:cNvSpPr>
            <a:spLocks noGrp="1"/>
          </p:cNvSpPr>
          <p:nvPr>
            <p:ph idx="1"/>
          </p:nvPr>
        </p:nvSpPr>
        <p:spPr/>
        <p:txBody>
          <a:bodyPr/>
          <a:lstStyle/>
          <a:p>
            <a:r>
              <a:rPr lang="en-GB" dirty="0"/>
              <a:t>https://studyglance.in/dbms/display.php?tno=40&amp;topic=Concurrent-Executions-in-DBMS</a:t>
            </a:r>
          </a:p>
        </p:txBody>
      </p:sp>
    </p:spTree>
    <p:extLst>
      <p:ext uri="{BB962C8B-B14F-4D97-AF65-F5344CB8AC3E}">
        <p14:creationId xmlns:p14="http://schemas.microsoft.com/office/powerpoint/2010/main" val="3046628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3"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Serializability</a:t>
            </a:r>
            <a:endParaRPr lang="en-US" sz="4400" b="0" strike="noStrike" spc="-1">
              <a:solidFill>
                <a:srgbClr val="000000"/>
              </a:solidFill>
              <a:latin typeface="Arial"/>
            </a:endParaRPr>
          </a:p>
        </p:txBody>
      </p:sp>
      <p:sp>
        <p:nvSpPr>
          <p:cNvPr id="194"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When multiple transactions are running concurrently then there is a possibility that the database may be left in an inconsistent state.</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 Serializability is a concept that helps us to check which </a:t>
            </a:r>
            <a:r>
              <a:rPr lang="en-US" sz="2800" b="1" strike="noStrike" spc="-1">
                <a:solidFill>
                  <a:srgbClr val="000000"/>
                </a:solidFill>
                <a:latin typeface="Calibri"/>
              </a:rPr>
              <a:t>schedules</a:t>
            </a:r>
            <a:r>
              <a:rPr lang="en-US" sz="2800" b="0" strike="noStrike" spc="-1">
                <a:solidFill>
                  <a:srgbClr val="000000"/>
                </a:solidFill>
                <a:latin typeface="Calibri"/>
              </a:rPr>
              <a:t> are serializable. </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sequence of operations is known as Schedule.</a:t>
            </a:r>
            <a:endParaRPr lang="en-US" sz="24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 serializable schedule is the one that always leaves the database in consistent state.</a:t>
            </a:r>
            <a:endParaRPr lang="en-US" sz="28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gn="ctr">
              <a:lnSpc>
                <a:spcPct val="90000"/>
              </a:lnSpc>
              <a:buNone/>
              <a:tabLst>
                <a:tab pos="0" algn="l"/>
              </a:tabLst>
              <a:defRPr/>
            </a:pPr>
            <a:r>
              <a:rPr lang="en-US" sz="4400" b="1" strike="noStrike" spc="-1">
                <a:solidFill>
                  <a:srgbClr val="000000"/>
                </a:solidFill>
                <a:latin typeface="Calibri Light"/>
              </a:rPr>
              <a:t>Serializable schedule</a:t>
            </a:r>
            <a:endParaRPr lang="en-US" sz="4400" b="0" strike="noStrike" spc="-1">
              <a:solidFill>
                <a:srgbClr val="000000"/>
              </a:solidFill>
              <a:latin typeface="Arial"/>
            </a:endParaRPr>
          </a:p>
        </p:txBody>
      </p:sp>
      <p:sp>
        <p:nvSpPr>
          <p:cNvPr id="196"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 serializable schedule always leaves the database in consistent state.</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 A serial schedule is always a serializable schedule, because in serial schedule</a:t>
            </a:r>
            <a:r>
              <a:rPr lang="en-US" sz="2800" b="1" strike="noStrike" spc="-1">
                <a:solidFill>
                  <a:srgbClr val="000000"/>
                </a:solidFill>
                <a:latin typeface="Calibri"/>
              </a:rPr>
              <a:t>, a transaction only starts when the other transaction finished execution. </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However a non-serial schedule needs to be checked for Serializability.</a:t>
            </a:r>
            <a:endParaRPr lang="en-US" sz="2800" b="0" strike="noStrike" spc="-1">
              <a:solidFill>
                <a:srgbClr val="000000"/>
              </a:solidFill>
              <a:latin typeface="Arial"/>
            </a:endParaRPr>
          </a:p>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A serial schedule doesn’t allow concurrency, only one transaction executes at a time and the other starts when the already running transaction finished.</a:t>
            </a:r>
            <a:endParaRPr lang="en-US" sz="280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7"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a:solidFill>
                  <a:srgbClr val="000000"/>
                </a:solidFill>
                <a:latin typeface="Calibri Light"/>
              </a:rPr>
              <a:t>Types of Serializability</a:t>
            </a:r>
            <a:endParaRPr lang="en-US" sz="4400" b="0" strike="noStrike" spc="-1">
              <a:solidFill>
                <a:srgbClr val="000000"/>
              </a:solidFill>
              <a:latin typeface="Arial"/>
            </a:endParaRPr>
          </a:p>
        </p:txBody>
      </p:sp>
      <p:sp>
        <p:nvSpPr>
          <p:cNvPr id="198" name="PlaceHolder 2"/>
          <p:cNvSpPr>
            <a:spLocks noGrp="1"/>
          </p:cNvSpPr>
          <p:nvPr>
            <p:ph/>
          </p:nvPr>
        </p:nvSpPr>
        <p:spPr bwMode="auto">
          <a:xfrm>
            <a:off x="838080" y="14349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a:solidFill>
                  <a:srgbClr val="000000"/>
                </a:solidFill>
                <a:latin typeface="Calibri"/>
              </a:rPr>
              <a:t>Conflict Serializability</a:t>
            </a:r>
            <a:endParaRPr lang="en-US" sz="28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It can be used to check whether a non-serial schedule is conflict serializable or not.</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A schedule is called conflict serializable if we can convert it into a serial schedule after swapping its non-conflicting operations.</a:t>
            </a:r>
            <a:endParaRPr lang="en-US" sz="2400" b="0" strike="noStrike" spc="-1">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The two operations become conflicting if all conditions satisfy:</a:t>
            </a:r>
            <a:endParaRPr lang="en-US" sz="2400" b="0" strike="noStrike" spc="-1">
              <a:solidFill>
                <a:srgbClr val="000000"/>
              </a:solidFill>
              <a:latin typeface="Arial"/>
            </a:endParaRPr>
          </a:p>
          <a:p>
            <a:pPr marL="1143000" lvl="2" indent="-228600">
              <a:lnSpc>
                <a:spcPct val="90000"/>
              </a:lnSpc>
              <a:spcBef>
                <a:spcPts val="499"/>
              </a:spcBef>
              <a:buClr>
                <a:srgbClr val="000000"/>
              </a:buClr>
              <a:buFont typeface="Arial"/>
              <a:buChar char="•"/>
              <a:defRPr/>
            </a:pPr>
            <a:r>
              <a:rPr lang="en-US" sz="2000" b="0" strike="noStrike" spc="-1">
                <a:solidFill>
                  <a:srgbClr val="000000"/>
                </a:solidFill>
                <a:latin typeface="Calibri"/>
              </a:rPr>
              <a:t>Both belong to separate transactions.</a:t>
            </a:r>
            <a:endParaRPr lang="en-US" sz="2000" b="0" strike="noStrike" spc="-1">
              <a:solidFill>
                <a:srgbClr val="000000"/>
              </a:solidFill>
              <a:latin typeface="Arial"/>
            </a:endParaRPr>
          </a:p>
          <a:p>
            <a:pPr marL="1143000" lvl="2" indent="-228600">
              <a:lnSpc>
                <a:spcPct val="90000"/>
              </a:lnSpc>
              <a:spcBef>
                <a:spcPts val="499"/>
              </a:spcBef>
              <a:buClr>
                <a:srgbClr val="000000"/>
              </a:buClr>
              <a:buFont typeface="Arial"/>
              <a:buChar char="•"/>
              <a:defRPr/>
            </a:pPr>
            <a:r>
              <a:rPr lang="en-US" sz="2000" b="0" strike="noStrike" spc="-1">
                <a:solidFill>
                  <a:srgbClr val="000000"/>
                </a:solidFill>
                <a:latin typeface="Calibri"/>
              </a:rPr>
              <a:t>They have the same data item.</a:t>
            </a:r>
            <a:endParaRPr lang="en-US" sz="2000" b="0" strike="noStrike" spc="-1">
              <a:solidFill>
                <a:srgbClr val="000000"/>
              </a:solidFill>
              <a:latin typeface="Arial"/>
            </a:endParaRPr>
          </a:p>
          <a:p>
            <a:pPr marL="1143000" lvl="2" indent="-228600">
              <a:lnSpc>
                <a:spcPct val="90000"/>
              </a:lnSpc>
              <a:spcBef>
                <a:spcPts val="499"/>
              </a:spcBef>
              <a:buClr>
                <a:srgbClr val="000000"/>
              </a:buClr>
              <a:buFont typeface="Arial"/>
              <a:buChar char="•"/>
              <a:defRPr/>
            </a:pPr>
            <a:r>
              <a:rPr lang="en-US" sz="2000" b="0" strike="noStrike" spc="-1">
                <a:solidFill>
                  <a:srgbClr val="000000"/>
                </a:solidFill>
                <a:latin typeface="Calibri"/>
              </a:rPr>
              <a:t>They contain at least one write operation.</a:t>
            </a:r>
            <a:endParaRPr lang="en-US" sz="2000" b="0" strike="noStrike" spc="-1">
              <a:solidFill>
                <a:srgbClr val="000000"/>
              </a:solidFill>
              <a:latin typeface="Arial"/>
            </a:endParaRPr>
          </a:p>
        </p:txBody>
      </p:sp>
      <p:pic>
        <p:nvPicPr>
          <p:cNvPr id="199" name="Picture 5"/>
          <p:cNvPicPr/>
          <p:nvPr/>
        </p:nvPicPr>
        <p:blipFill>
          <a:blip r:embed="rId3"/>
          <a:stretch/>
        </p:blipFill>
        <p:spPr bwMode="auto">
          <a:xfrm>
            <a:off x="6805800" y="3747600"/>
            <a:ext cx="4959000" cy="288180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 name="PlaceHolder 1"/>
          <p:cNvSpPr>
            <a:spLocks noGrp="1"/>
          </p:cNvSpPr>
          <p:nvPr>
            <p:ph type="title"/>
          </p:nvPr>
        </p:nvSpPr>
        <p:spPr bwMode="auto">
          <a:xfrm>
            <a:off x="838080" y="365040"/>
            <a:ext cx="10514880" cy="1324800"/>
          </a:xfrm>
          <a:prstGeom prst="rect">
            <a:avLst/>
          </a:prstGeom>
          <a:noFill/>
          <a:ln w="0">
            <a:noFill/>
          </a:ln>
        </p:spPr>
        <p:txBody>
          <a:bodyPr lIns="90000" tIns="45000" rIns="90000" bIns="45000" anchor="ctr">
            <a:noAutofit/>
          </a:bodyPr>
          <a:lstStyle/>
          <a:p>
            <a:pPr indent="0">
              <a:lnSpc>
                <a:spcPct val="90000"/>
              </a:lnSpc>
              <a:buNone/>
              <a:tabLst>
                <a:tab pos="0" algn="l"/>
              </a:tabLst>
              <a:defRPr/>
            </a:pPr>
            <a:r>
              <a:rPr lang="en-US" sz="4400" b="1" strike="noStrike" spc="-1" dirty="0">
                <a:solidFill>
                  <a:srgbClr val="000000"/>
                </a:solidFill>
                <a:latin typeface="Calibri Light"/>
              </a:rPr>
              <a:t>Types of Serializability</a:t>
            </a:r>
            <a:endParaRPr lang="en-US" sz="4400" b="0" strike="noStrike" spc="-1" dirty="0">
              <a:solidFill>
                <a:srgbClr val="000000"/>
              </a:solidFill>
              <a:latin typeface="Arial"/>
            </a:endParaRPr>
          </a:p>
        </p:txBody>
      </p:sp>
      <p:sp>
        <p:nvSpPr>
          <p:cNvPr id="201" name="PlaceHolder 2"/>
          <p:cNvSpPr>
            <a:spLocks noGrp="1"/>
          </p:cNvSpPr>
          <p:nvPr>
            <p:ph/>
          </p:nvPr>
        </p:nvSpPr>
        <p:spPr bwMode="auto">
          <a:xfrm>
            <a:off x="838080" y="1825560"/>
            <a:ext cx="10514880" cy="4350600"/>
          </a:xfrm>
          <a:prstGeom prst="rect">
            <a:avLst/>
          </a:prstGeom>
          <a:noFill/>
          <a:ln w="0">
            <a:noFill/>
          </a:ln>
        </p:spPr>
        <p:txBody>
          <a:bodyPr lIns="90000" tIns="45000" rIns="90000" bIns="45000" anchor="t">
            <a:noAutofit/>
          </a:bodyPr>
          <a:lstStyle/>
          <a:p>
            <a:pPr marL="228600" indent="-228600">
              <a:lnSpc>
                <a:spcPct val="90000"/>
              </a:lnSpc>
              <a:spcBef>
                <a:spcPts val="1001"/>
              </a:spcBef>
              <a:buClr>
                <a:srgbClr val="000000"/>
              </a:buClr>
              <a:buFont typeface="Arial"/>
              <a:buChar char="•"/>
              <a:defRPr/>
            </a:pPr>
            <a:r>
              <a:rPr lang="en-US" sz="2800" b="0" strike="noStrike" spc="-1" dirty="0">
                <a:solidFill>
                  <a:srgbClr val="000000"/>
                </a:solidFill>
                <a:latin typeface="Calibri"/>
              </a:rPr>
              <a:t>View Serializability</a:t>
            </a:r>
            <a:endParaRPr lang="en-US" sz="2800" b="0" strike="noStrike" spc="-1" dirty="0">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dirty="0">
                <a:solidFill>
                  <a:srgbClr val="000000"/>
                </a:solidFill>
                <a:latin typeface="Calibri"/>
              </a:rPr>
              <a:t>View Serializability is a process to find out that a given schedule is view serializable or not.</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dirty="0">
                <a:solidFill>
                  <a:srgbClr val="000000"/>
                </a:solidFill>
                <a:latin typeface="Calibri"/>
              </a:rPr>
              <a:t>To check whether a given schedule is view serializable, we need to check whether the given schedule is View Equivalent to its serial schedule.</a:t>
            </a:r>
            <a:endParaRPr lang="en-US" sz="2400" b="0" strike="noStrike" spc="-1" dirty="0">
              <a:solidFill>
                <a:srgbClr val="000000"/>
              </a:solidFill>
              <a:latin typeface="Arial"/>
            </a:endParaRPr>
          </a:p>
          <a:p>
            <a:pPr marL="685800" lvl="1" indent="-228600">
              <a:lnSpc>
                <a:spcPct val="90000"/>
              </a:lnSpc>
              <a:spcBef>
                <a:spcPts val="499"/>
              </a:spcBef>
              <a:buClr>
                <a:srgbClr val="000000"/>
              </a:buClr>
              <a:buFont typeface="Arial"/>
              <a:buChar char="•"/>
              <a:defRPr/>
            </a:pPr>
            <a:r>
              <a:rPr lang="en-US" sz="2400" b="0" strike="noStrike" spc="-1">
                <a:solidFill>
                  <a:srgbClr val="000000"/>
                </a:solidFill>
                <a:latin typeface="Calibri"/>
              </a:rPr>
              <a:t>View serializability is not used in practice due to its high degree of computational complexity</a:t>
            </a:r>
            <a:endParaRPr lang="en-US" sz="2400" b="0" strike="noStrike" spc="-1">
              <a:solidFill>
                <a:srgbClr val="000000"/>
              </a:solidFill>
              <a:latin typeface="Arial"/>
            </a:endParaRPr>
          </a:p>
          <a:p>
            <a:pPr indent="0">
              <a:lnSpc>
                <a:spcPct val="90000"/>
              </a:lnSpc>
              <a:spcBef>
                <a:spcPts val="1001"/>
              </a:spcBef>
              <a:buNone/>
              <a:tabLst>
                <a:tab pos="0" algn="l"/>
              </a:tabLst>
              <a:defRPr/>
            </a:pPr>
            <a:endParaRPr lang="en-US" sz="28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1174</Words>
  <Application>Microsoft Office PowerPoint</Application>
  <PresentationFormat>Widescreen</PresentationFormat>
  <Paragraphs>106</Paragraphs>
  <Slides>17</Slides>
  <Notes>14</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Transaction and Concurrency Control </vt:lpstr>
      <vt:lpstr>Introduction to Transaction</vt:lpstr>
      <vt:lpstr>Transaction</vt:lpstr>
      <vt:lpstr>ACID Properties</vt:lpstr>
      <vt:lpstr>ACID Properties</vt:lpstr>
      <vt:lpstr>PowerPoint Presentation</vt:lpstr>
      <vt:lpstr>Simple Transaction Model</vt:lpstr>
      <vt:lpstr>Simple Transaction Model</vt:lpstr>
      <vt:lpstr>Transaction Atomicity and Durability</vt:lpstr>
      <vt:lpstr>Transaction Atomicity and Durability</vt:lpstr>
      <vt:lpstr>Transaction Isolation</vt:lpstr>
      <vt:lpstr>Transaction Isolation</vt:lpstr>
      <vt:lpstr>Concurrent Executions</vt:lpstr>
      <vt:lpstr>Serializability</vt:lpstr>
      <vt:lpstr>Serializable schedule</vt:lpstr>
      <vt:lpstr>Types of Serializability</vt:lpstr>
      <vt:lpstr>Types of Serializability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pathak</dc:creator>
  <cp:lastModifiedBy>shiva pathak</cp:lastModifiedBy>
  <cp:revision>7</cp:revision>
  <dcterms:created xsi:type="dcterms:W3CDTF">2025-01-05T14:30:27Z</dcterms:created>
  <dcterms:modified xsi:type="dcterms:W3CDTF">2026-02-14T15:25:44Z</dcterms:modified>
</cp:coreProperties>
</file>
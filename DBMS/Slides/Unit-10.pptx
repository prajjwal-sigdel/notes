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3" r:id="rId7"/>
    <p:sldId id="264" r:id="rId8"/>
    <p:sldId id="272" r:id="rId9"/>
    <p:sldId id="273" r:id="rId10"/>
    <p:sldId id="274" r:id="rId11"/>
    <p:sldId id="276" r:id="rId12"/>
    <p:sldId id="275" r:id="rId13"/>
    <p:sldId id="277" r:id="rId14"/>
    <p:sldId id="269" r:id="rId15"/>
    <p:sldId id="270" r:id="rId16"/>
    <p:sldId id="271" r:id="rId17"/>
    <p:sldId id="278" r:id="rId18"/>
    <p:sldId id="279" r:id="rId19"/>
    <p:sldId id="280" r:id="rId20"/>
    <p:sldId id="281" r:id="rId21"/>
    <p:sldId id="282" r:id="rId22"/>
    <p:sldId id="286" r:id="rId23"/>
    <p:sldId id="284" r:id="rId24"/>
    <p:sldId id="283" r:id="rId25"/>
    <p:sldId id="285" r:id="rId26"/>
    <p:sldId id="287" r:id="rId27"/>
    <p:sldId id="28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1481" autoAdjust="0"/>
  </p:normalViewPr>
  <p:slideViewPr>
    <p:cSldViewPr snapToGrid="0">
      <p:cViewPr varScale="1">
        <p:scale>
          <a:sx n="56" d="100"/>
          <a:sy n="56" d="100"/>
        </p:scale>
        <p:origin x="129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69E3B5-FB0E-4718-8A57-28A4B2DA5028}" type="datetimeFigureOut">
              <a:rPr lang="en-GB" smtClean="0"/>
              <a:t>14/02/2026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0F4395-E6B9-4A0E-8DF9-FE86A07227C1}" type="slidenum">
              <a:rPr lang="en-GB" smtClean="0"/>
              <a:t>‹#›</a:t>
            </a:fld>
            <a:endParaRPr lang="en-GB"/>
          </a:p>
        </p:txBody>
      </p:sp>
    </p:spTree>
    <p:extLst>
      <p:ext uri="{BB962C8B-B14F-4D97-AF65-F5344CB8AC3E}">
        <p14:creationId xmlns:p14="http://schemas.microsoft.com/office/powerpoint/2010/main" val="2284855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GemStone</a:t>
            </a:r>
            <a:r>
              <a:rPr lang="en-GB" dirty="0"/>
              <a:t>/S,</a:t>
            </a:r>
            <a:r>
              <a:rPr lang="en-GB" b="1" dirty="0"/>
              <a:t> db4o</a:t>
            </a:r>
            <a:r>
              <a:rPr lang="en-GB" dirty="0"/>
              <a:t> (Database for Objects),</a:t>
            </a:r>
            <a:r>
              <a:rPr lang="en-GB" dirty="0" err="1"/>
              <a:t>ObjectDB</a:t>
            </a:r>
            <a:r>
              <a:rPr lang="en-GB" dirty="0"/>
              <a:t>,</a:t>
            </a:r>
            <a:r>
              <a:rPr lang="en-GB" b="0" i="0" dirty="0">
                <a:solidFill>
                  <a:srgbClr val="222222"/>
                </a:solidFill>
                <a:effectLst/>
                <a:latin typeface="-apple-system"/>
              </a:rPr>
              <a:t> Versant</a:t>
            </a:r>
          </a:p>
          <a:p>
            <a:endParaRPr lang="en-GB" dirty="0"/>
          </a:p>
        </p:txBody>
      </p:sp>
      <p:sp>
        <p:nvSpPr>
          <p:cNvPr id="4" name="Slide Number Placeholder 3"/>
          <p:cNvSpPr>
            <a:spLocks noGrp="1"/>
          </p:cNvSpPr>
          <p:nvPr>
            <p:ph type="sldNum" sz="quarter" idx="5"/>
          </p:nvPr>
        </p:nvSpPr>
        <p:spPr/>
        <p:txBody>
          <a:bodyPr/>
          <a:lstStyle/>
          <a:p>
            <a:fld id="{FD0F4395-E6B9-4A0E-8DF9-FE86A07227C1}" type="slidenum">
              <a:rPr lang="en-GB" smtClean="0"/>
              <a:t>2</a:t>
            </a:fld>
            <a:endParaRPr lang="en-GB"/>
          </a:p>
        </p:txBody>
      </p:sp>
    </p:spTree>
    <p:extLst>
      <p:ext uri="{BB962C8B-B14F-4D97-AF65-F5344CB8AC3E}">
        <p14:creationId xmlns:p14="http://schemas.microsoft.com/office/powerpoint/2010/main" val="2313394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6FD01-32B8-1D67-8F2F-033212C578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7A587D4-4C38-624A-2C06-A3D3355223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6CB00BD-0AB3-1F2B-3DA5-E83500CDEB6A}"/>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5" name="Footer Placeholder 4">
            <a:extLst>
              <a:ext uri="{FF2B5EF4-FFF2-40B4-BE49-F238E27FC236}">
                <a16:creationId xmlns:a16="http://schemas.microsoft.com/office/drawing/2014/main" id="{28E84C52-4581-8D22-D50E-ADC455A078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60F15B-EC3B-4403-EF6E-BE0100769165}"/>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857254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CF7A3-6086-9A90-10FA-59CAD40A1B2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50A8A46-76B5-CCAB-F1CE-0B494E0110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CB808D-7F48-A4FA-E67D-890695891955}"/>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5" name="Footer Placeholder 4">
            <a:extLst>
              <a:ext uri="{FF2B5EF4-FFF2-40B4-BE49-F238E27FC236}">
                <a16:creationId xmlns:a16="http://schemas.microsoft.com/office/drawing/2014/main" id="{495F958D-11CE-F823-03B7-9685452BC2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BDE587-0762-DA3C-514C-8FA604FC171D}"/>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151917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6FFB9-DE8F-28F5-9918-31FE227B2B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549F839-124E-3959-58DA-39FF02F053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B5AD52-EC19-CE4C-AC86-069BC42C7118}"/>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5" name="Footer Placeholder 4">
            <a:extLst>
              <a:ext uri="{FF2B5EF4-FFF2-40B4-BE49-F238E27FC236}">
                <a16:creationId xmlns:a16="http://schemas.microsoft.com/office/drawing/2014/main" id="{ED5F196F-11D0-0753-87DA-7D5E7F0484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6390EB3-F5C2-17CD-EEA0-EAE51ED8F944}"/>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1522416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0CB6E-B28E-768A-AB41-BD757A6FA26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90C9D4D-6690-8734-B315-AC186B0A26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DA06886-E6D3-F901-BFF5-AF9B28F47F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1573C9A-7C51-7C78-5AFC-BC1C9E49D59B}"/>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6" name="Footer Placeholder 5">
            <a:extLst>
              <a:ext uri="{FF2B5EF4-FFF2-40B4-BE49-F238E27FC236}">
                <a16:creationId xmlns:a16="http://schemas.microsoft.com/office/drawing/2014/main" id="{BDF7EC05-78C6-E57A-75EC-4360C963EFE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92CB64C-734D-F4FF-0DAC-0C64B9B82842}"/>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1453580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81A79-1230-C017-827B-C815954F370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B470C66-8EF5-8758-4181-7735680A82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B41F9F-8F7E-B7A6-212C-2C0A202642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E2132EF-D0A2-DC84-3A25-5D4B99CB26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79B896-4D6F-A098-1232-CC5AF6A026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C3D0D0E-5C3B-135A-57BF-79288BF39C16}"/>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8" name="Footer Placeholder 7">
            <a:extLst>
              <a:ext uri="{FF2B5EF4-FFF2-40B4-BE49-F238E27FC236}">
                <a16:creationId xmlns:a16="http://schemas.microsoft.com/office/drawing/2014/main" id="{3A9A7F7E-FF32-4F71-9F4C-92FE308F95A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0B0B238-F139-62B0-4B54-C5C31367F3D3}"/>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2736312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66A59-6AA4-D5BC-74B5-71045FAF421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2C09E6E-C535-35FC-8B1C-9472D49410AE}"/>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4" name="Footer Placeholder 3">
            <a:extLst>
              <a:ext uri="{FF2B5EF4-FFF2-40B4-BE49-F238E27FC236}">
                <a16:creationId xmlns:a16="http://schemas.microsoft.com/office/drawing/2014/main" id="{16709EDF-6B3F-A684-B289-5BDDB687E7F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9E7E43B-2D64-2E10-E6E0-41B94CE39D9B}"/>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3400785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1C3C73-ECF4-C464-2BC5-BCA2B974C866}"/>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3" name="Footer Placeholder 2">
            <a:extLst>
              <a:ext uri="{FF2B5EF4-FFF2-40B4-BE49-F238E27FC236}">
                <a16:creationId xmlns:a16="http://schemas.microsoft.com/office/drawing/2014/main" id="{60A96118-5F05-1311-8B4D-A85AB9C2FA8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2253E21-0336-3D6D-997F-26388AAD29B4}"/>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2633498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7BA27-AFAD-2111-AA90-C7B6F97F0E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768D5CD-4900-12F2-B707-7246A10413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4DB8332-0BEA-261F-7B09-1E0FCDCDC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4CD8B0-13C8-BD8A-3045-164247CA772F}"/>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6" name="Footer Placeholder 5">
            <a:extLst>
              <a:ext uri="{FF2B5EF4-FFF2-40B4-BE49-F238E27FC236}">
                <a16:creationId xmlns:a16="http://schemas.microsoft.com/office/drawing/2014/main" id="{7951E6A5-87CD-019B-5BE4-8D49272D5D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B2DA50E-FD94-363F-B466-F8B15EBD883D}"/>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1966130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AE8B2-4570-00D2-977C-0CA22A16F5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5A2D3C8-C9F0-FEB4-473A-8528908391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319B016-3E42-2FE5-97A4-61D57812C6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5A9114-F853-7B6E-E282-056983240420}"/>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6" name="Footer Placeholder 5">
            <a:extLst>
              <a:ext uri="{FF2B5EF4-FFF2-40B4-BE49-F238E27FC236}">
                <a16:creationId xmlns:a16="http://schemas.microsoft.com/office/drawing/2014/main" id="{C0CC45B0-8DCA-E199-D7D0-3803B23B05A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5145F64-DDD9-410E-660B-5063D994B2D9}"/>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3666696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956EE-9173-7622-525C-318ECDBDDD2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E17F7E-784F-81A7-A879-127B5A7895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8883B1-0072-4A71-39C0-BA4A13AFA902}"/>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5" name="Footer Placeholder 4">
            <a:extLst>
              <a:ext uri="{FF2B5EF4-FFF2-40B4-BE49-F238E27FC236}">
                <a16:creationId xmlns:a16="http://schemas.microsoft.com/office/drawing/2014/main" id="{7E493543-1D83-1565-14F3-9CACCB7CF01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E04574-2A43-31A9-3FE5-D02672A09B1E}"/>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2545939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3B74DE-9DD7-5B68-AD76-92A459196B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32D3A74-EAA2-3E33-A393-ECBB69ECD1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3EA3923-4F50-DFC6-F80C-5DD00174FDE3}"/>
              </a:ext>
            </a:extLst>
          </p:cNvPr>
          <p:cNvSpPr>
            <a:spLocks noGrp="1"/>
          </p:cNvSpPr>
          <p:nvPr>
            <p:ph type="dt" sz="half" idx="10"/>
          </p:nvPr>
        </p:nvSpPr>
        <p:spPr/>
        <p:txBody>
          <a:bodyPr/>
          <a:lstStyle/>
          <a:p>
            <a:fld id="{6F77F431-449C-4C7E-B5D2-72FA882412CA}" type="datetimeFigureOut">
              <a:rPr lang="en-GB" smtClean="0"/>
              <a:t>14/02/2026</a:t>
            </a:fld>
            <a:endParaRPr lang="en-GB"/>
          </a:p>
        </p:txBody>
      </p:sp>
      <p:sp>
        <p:nvSpPr>
          <p:cNvPr id="5" name="Footer Placeholder 4">
            <a:extLst>
              <a:ext uri="{FF2B5EF4-FFF2-40B4-BE49-F238E27FC236}">
                <a16:creationId xmlns:a16="http://schemas.microsoft.com/office/drawing/2014/main" id="{A0682FBE-3D6C-F204-3BA8-F421AC6CD2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9ABD7B-8556-97F2-E38A-338A729CBB45}"/>
              </a:ext>
            </a:extLst>
          </p:cNvPr>
          <p:cNvSpPr>
            <a:spLocks noGrp="1"/>
          </p:cNvSpPr>
          <p:nvPr>
            <p:ph type="sldNum" sz="quarter" idx="12"/>
          </p:nvPr>
        </p:nvSpPr>
        <p:spPr/>
        <p:txBody>
          <a:bodyPr/>
          <a:lstStyle/>
          <a:p>
            <a:fld id="{D9247AD5-0B64-4686-91FB-FB6542E56162}" type="slidenum">
              <a:rPr lang="en-GB" smtClean="0"/>
              <a:t>‹#›</a:t>
            </a:fld>
            <a:endParaRPr lang="en-GB"/>
          </a:p>
        </p:txBody>
      </p:sp>
    </p:spTree>
    <p:extLst>
      <p:ext uri="{BB962C8B-B14F-4D97-AF65-F5344CB8AC3E}">
        <p14:creationId xmlns:p14="http://schemas.microsoft.com/office/powerpoint/2010/main" val="1506798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42D0F7-A9C2-044F-321D-5238020D63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83C868D-2A73-3B75-1BCE-F814580E7D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FA2CF6-2FBC-070F-75D5-EED04CE77E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77F431-449C-4C7E-B5D2-72FA882412CA}" type="datetimeFigureOut">
              <a:rPr lang="en-GB" smtClean="0"/>
              <a:t>14/02/2026</a:t>
            </a:fld>
            <a:endParaRPr lang="en-GB"/>
          </a:p>
        </p:txBody>
      </p:sp>
      <p:sp>
        <p:nvSpPr>
          <p:cNvPr id="5" name="Footer Placeholder 4">
            <a:extLst>
              <a:ext uri="{FF2B5EF4-FFF2-40B4-BE49-F238E27FC236}">
                <a16:creationId xmlns:a16="http://schemas.microsoft.com/office/drawing/2014/main" id="{3FCF584A-905C-DC7E-0AD8-754B4AACC2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61307E1-3931-BEB7-F6BD-31CD3C89E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247AD5-0B64-4686-91FB-FB6542E56162}" type="slidenum">
              <a:rPr lang="en-GB" smtClean="0"/>
              <a:t>‹#›</a:t>
            </a:fld>
            <a:endParaRPr lang="en-GB"/>
          </a:p>
        </p:txBody>
      </p:sp>
    </p:spTree>
    <p:extLst>
      <p:ext uri="{BB962C8B-B14F-4D97-AF65-F5344CB8AC3E}">
        <p14:creationId xmlns:p14="http://schemas.microsoft.com/office/powerpoint/2010/main" val="3427386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www.mongodb.com/cloud-databas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1C687-1D30-B904-BAC4-433CD9EE74BB}"/>
              </a:ext>
            </a:extLst>
          </p:cNvPr>
          <p:cNvSpPr>
            <a:spLocks noGrp="1"/>
          </p:cNvSpPr>
          <p:nvPr>
            <p:ph type="ctrTitle"/>
          </p:nvPr>
        </p:nvSpPr>
        <p:spPr/>
        <p:txBody>
          <a:bodyPr/>
          <a:lstStyle/>
          <a:p>
            <a:r>
              <a:rPr lang="en-GB"/>
              <a:t>Emerging Trends In Database</a:t>
            </a:r>
            <a:endParaRPr lang="en-GB" dirty="0"/>
          </a:p>
        </p:txBody>
      </p:sp>
      <p:sp>
        <p:nvSpPr>
          <p:cNvPr id="3" name="Subtitle 2">
            <a:extLst>
              <a:ext uri="{FF2B5EF4-FFF2-40B4-BE49-F238E27FC236}">
                <a16:creationId xmlns:a16="http://schemas.microsoft.com/office/drawing/2014/main" id="{F4D7986B-3CFA-B40B-8E98-56D378E2D515}"/>
              </a:ext>
            </a:extLst>
          </p:cNvPr>
          <p:cNvSpPr>
            <a:spLocks noGrp="1"/>
          </p:cNvSpPr>
          <p:nvPr>
            <p:ph type="subTitle" idx="1"/>
          </p:nvPr>
        </p:nvSpPr>
        <p:spPr/>
        <p:txBody>
          <a:bodyPr/>
          <a:lstStyle/>
          <a:p>
            <a:r>
              <a:rPr lang="en-US" dirty="0"/>
              <a:t>Unit-10</a:t>
            </a:r>
            <a:endParaRPr lang="en-GB" dirty="0"/>
          </a:p>
        </p:txBody>
      </p:sp>
    </p:spTree>
    <p:extLst>
      <p:ext uri="{BB962C8B-B14F-4D97-AF65-F5344CB8AC3E}">
        <p14:creationId xmlns:p14="http://schemas.microsoft.com/office/powerpoint/2010/main" val="2850547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9BAA6-1176-0863-F2F9-681520722CD3}"/>
              </a:ext>
            </a:extLst>
          </p:cNvPr>
          <p:cNvSpPr>
            <a:spLocks noGrp="1"/>
          </p:cNvSpPr>
          <p:nvPr>
            <p:ph type="title"/>
          </p:nvPr>
        </p:nvSpPr>
        <p:spPr/>
        <p:txBody>
          <a:bodyPr/>
          <a:lstStyle/>
          <a:p>
            <a:r>
              <a:rPr lang="en-GB" dirty="0"/>
              <a:t>Introduction of OODMS</a:t>
            </a:r>
          </a:p>
        </p:txBody>
      </p:sp>
      <p:sp>
        <p:nvSpPr>
          <p:cNvPr id="3" name="Content Placeholder 2">
            <a:extLst>
              <a:ext uri="{FF2B5EF4-FFF2-40B4-BE49-F238E27FC236}">
                <a16:creationId xmlns:a16="http://schemas.microsoft.com/office/drawing/2014/main" id="{1A8A4574-6236-396C-8232-40425FBCBF9A}"/>
              </a:ext>
            </a:extLst>
          </p:cNvPr>
          <p:cNvSpPr>
            <a:spLocks noGrp="1"/>
          </p:cNvSpPr>
          <p:nvPr>
            <p:ph idx="1"/>
          </p:nvPr>
        </p:nvSpPr>
        <p:spPr/>
        <p:txBody>
          <a:bodyPr>
            <a:normAutofit lnSpcReduction="10000"/>
          </a:bodyPr>
          <a:lstStyle/>
          <a:p>
            <a:r>
              <a:rPr lang="en-GB" b="0" i="0" dirty="0">
                <a:effectLst/>
                <a:latin typeface="Akzidenz Grotesk BQ Light"/>
              </a:rPr>
              <a:t>An object-oriented database stores data as objects, similar to how certain programming languages manage data.</a:t>
            </a:r>
          </a:p>
          <a:p>
            <a:r>
              <a:rPr lang="en-GB" b="0" i="0" dirty="0">
                <a:effectLst/>
                <a:latin typeface="Akzidenz Grotesk BQ Light"/>
              </a:rPr>
              <a:t> Instead of tables with rows and columns like traditional databases, object databases use complex data structures to represent data.</a:t>
            </a:r>
          </a:p>
          <a:p>
            <a:r>
              <a:rPr lang="en-GB" dirty="0"/>
              <a:t>Object-oriented data model (OODM)</a:t>
            </a:r>
          </a:p>
          <a:p>
            <a:pPr lvl="1"/>
            <a:r>
              <a:rPr lang="en-GB" dirty="0"/>
              <a:t>A logical data model of objects supported in object-oriented programming</a:t>
            </a:r>
          </a:p>
          <a:p>
            <a:r>
              <a:rPr lang="en-GB" dirty="0"/>
              <a:t>Object-oriented database (OODB)</a:t>
            </a:r>
          </a:p>
          <a:p>
            <a:pPr lvl="1"/>
            <a:r>
              <a:rPr lang="en-GB" dirty="0"/>
              <a:t>A persistent and sharable collection of objects defined by an OODM</a:t>
            </a:r>
          </a:p>
          <a:p>
            <a:r>
              <a:rPr lang="en-GB" dirty="0"/>
              <a:t>Object-oriented DBMS (OODBMS)</a:t>
            </a:r>
          </a:p>
          <a:p>
            <a:pPr lvl="1"/>
            <a:r>
              <a:rPr lang="en-GB" dirty="0"/>
              <a:t>The manager of an OODB</a:t>
            </a:r>
          </a:p>
          <a:p>
            <a:endParaRPr lang="en-GB" dirty="0"/>
          </a:p>
        </p:txBody>
      </p:sp>
    </p:spTree>
    <p:extLst>
      <p:ext uri="{BB962C8B-B14F-4D97-AF65-F5344CB8AC3E}">
        <p14:creationId xmlns:p14="http://schemas.microsoft.com/office/powerpoint/2010/main" val="100222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8A98C-5D0D-E912-129F-59178B6AEB96}"/>
              </a:ext>
            </a:extLst>
          </p:cNvPr>
          <p:cNvSpPr>
            <a:spLocks noGrp="1"/>
          </p:cNvSpPr>
          <p:nvPr>
            <p:ph type="title"/>
          </p:nvPr>
        </p:nvSpPr>
        <p:spPr/>
        <p:txBody>
          <a:bodyPr/>
          <a:lstStyle/>
          <a:p>
            <a:r>
              <a:rPr lang="en-US" altLang="en-US" dirty="0"/>
              <a:t>Definition of an object</a:t>
            </a:r>
            <a:endParaRPr lang="en-GB" dirty="0"/>
          </a:p>
        </p:txBody>
      </p:sp>
      <p:sp>
        <p:nvSpPr>
          <p:cNvPr id="3" name="Content Placeholder 2">
            <a:extLst>
              <a:ext uri="{FF2B5EF4-FFF2-40B4-BE49-F238E27FC236}">
                <a16:creationId xmlns:a16="http://schemas.microsoft.com/office/drawing/2014/main" id="{1D9E3608-E2EC-A2B2-9F26-AD58CECA87AD}"/>
              </a:ext>
            </a:extLst>
          </p:cNvPr>
          <p:cNvSpPr>
            <a:spLocks noGrp="1"/>
          </p:cNvSpPr>
          <p:nvPr>
            <p:ph idx="1"/>
          </p:nvPr>
        </p:nvSpPr>
        <p:spPr/>
        <p:txBody>
          <a:bodyPr>
            <a:normAutofit fontScale="92500" lnSpcReduction="20000"/>
          </a:bodyPr>
          <a:lstStyle/>
          <a:p>
            <a:r>
              <a:rPr lang="en-GB" dirty="0"/>
              <a:t>Objects – User defined complex data types</a:t>
            </a:r>
          </a:p>
          <a:p>
            <a:r>
              <a:rPr lang="en-GB" dirty="0"/>
              <a:t>An object has structure or state (variables) and methods (behaviour/operations)</a:t>
            </a:r>
          </a:p>
          <a:p>
            <a:pPr lvl="1"/>
            <a:r>
              <a:rPr lang="en-GB" dirty="0"/>
              <a:t>Data: This is the stored information. For example, a customer data “object” would include details like the customer's name, address, phone number, and email.</a:t>
            </a:r>
          </a:p>
          <a:p>
            <a:pPr lvl="1"/>
            <a:r>
              <a:rPr lang="en-GB" dirty="0"/>
              <a:t>Actions (methods): Actions are the things that can be done with the data. For example, there may be specific actions needed to update the customer's address or to retrieve their order history.</a:t>
            </a:r>
          </a:p>
          <a:p>
            <a:r>
              <a:rPr lang="en-GB" dirty="0"/>
              <a:t>An object is described by four characteristics</a:t>
            </a:r>
          </a:p>
          <a:p>
            <a:pPr lvl="1"/>
            <a:r>
              <a:rPr lang="en-GB" dirty="0"/>
              <a:t>Identifier: a system-wide unique id for an object</a:t>
            </a:r>
          </a:p>
          <a:p>
            <a:pPr lvl="1"/>
            <a:r>
              <a:rPr lang="en-GB" dirty="0"/>
              <a:t>Name: an object may also have a unique name in DB (optional)</a:t>
            </a:r>
          </a:p>
          <a:p>
            <a:pPr lvl="1"/>
            <a:r>
              <a:rPr lang="en-GB" dirty="0"/>
              <a:t>Lifetime: determines if the object is persistent or transient</a:t>
            </a:r>
          </a:p>
          <a:p>
            <a:pPr lvl="1"/>
            <a:r>
              <a:rPr lang="en-GB" dirty="0"/>
              <a:t>Structure: Construction of objects using type constructors</a:t>
            </a:r>
          </a:p>
          <a:p>
            <a:endParaRPr lang="en-GB" dirty="0"/>
          </a:p>
        </p:txBody>
      </p:sp>
    </p:spTree>
    <p:extLst>
      <p:ext uri="{BB962C8B-B14F-4D97-AF65-F5344CB8AC3E}">
        <p14:creationId xmlns:p14="http://schemas.microsoft.com/office/powerpoint/2010/main" val="3643989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7302-8C74-2A48-AA2E-27A55926EC6A}"/>
              </a:ext>
            </a:extLst>
          </p:cNvPr>
          <p:cNvSpPr>
            <a:spLocks noGrp="1"/>
          </p:cNvSpPr>
          <p:nvPr>
            <p:ph type="title"/>
          </p:nvPr>
        </p:nvSpPr>
        <p:spPr/>
        <p:txBody>
          <a:bodyPr/>
          <a:lstStyle/>
          <a:p>
            <a:r>
              <a:rPr lang="en-US" dirty="0"/>
              <a:t>OOPS</a:t>
            </a:r>
            <a:endParaRPr lang="en-GB" dirty="0"/>
          </a:p>
        </p:txBody>
      </p:sp>
      <p:sp>
        <p:nvSpPr>
          <p:cNvPr id="3" name="Content Placeholder 2">
            <a:extLst>
              <a:ext uri="{FF2B5EF4-FFF2-40B4-BE49-F238E27FC236}">
                <a16:creationId xmlns:a16="http://schemas.microsoft.com/office/drawing/2014/main" id="{623515F1-0964-3E30-1643-1F93B1AE3A9D}"/>
              </a:ext>
            </a:extLst>
          </p:cNvPr>
          <p:cNvSpPr>
            <a:spLocks noGrp="1"/>
          </p:cNvSpPr>
          <p:nvPr>
            <p:ph idx="1"/>
          </p:nvPr>
        </p:nvSpPr>
        <p:spPr/>
        <p:txBody>
          <a:bodyPr/>
          <a:lstStyle/>
          <a:p>
            <a:pPr>
              <a:lnSpc>
                <a:spcPct val="80000"/>
              </a:lnSpc>
              <a:buSzPct val="75000"/>
              <a:buFont typeface="Wingdings" panose="05000000000000000000" pitchFamily="2" charset="2"/>
              <a:buChar char="§"/>
            </a:pPr>
            <a:r>
              <a:rPr lang="en-US" altLang="en-US" dirty="0"/>
              <a:t>Abstract Data Types </a:t>
            </a:r>
          </a:p>
          <a:p>
            <a:pPr lvl="1">
              <a:lnSpc>
                <a:spcPct val="80000"/>
              </a:lnSpc>
              <a:buSzPct val="75000"/>
              <a:buFont typeface="Wingdings" panose="05000000000000000000" pitchFamily="2" charset="2"/>
              <a:buChar char="§"/>
            </a:pPr>
            <a:r>
              <a:rPr lang="en-US" altLang="en-US" sz="2400" dirty="0"/>
              <a:t>Class definition, provides extension to complex attribute types</a:t>
            </a:r>
            <a:endParaRPr lang="en-US" altLang="en-US" dirty="0"/>
          </a:p>
          <a:p>
            <a:pPr>
              <a:lnSpc>
                <a:spcPct val="80000"/>
              </a:lnSpc>
              <a:buSzPct val="75000"/>
              <a:buFont typeface="Wingdings" panose="05000000000000000000" pitchFamily="2" charset="2"/>
              <a:buChar char="§"/>
            </a:pPr>
            <a:r>
              <a:rPr lang="en-US" altLang="en-US" dirty="0"/>
              <a:t>Encapsulation</a:t>
            </a:r>
          </a:p>
          <a:p>
            <a:pPr lvl="1">
              <a:lnSpc>
                <a:spcPct val="80000"/>
              </a:lnSpc>
              <a:buSzPct val="75000"/>
              <a:buFont typeface="Wingdings" panose="05000000000000000000" pitchFamily="2" charset="2"/>
              <a:buChar char="§"/>
            </a:pPr>
            <a:r>
              <a:rPr lang="en-US" altLang="en-US" sz="2400" dirty="0"/>
              <a:t>Implementation of operations and object structure hidden</a:t>
            </a:r>
          </a:p>
          <a:p>
            <a:pPr>
              <a:lnSpc>
                <a:spcPct val="80000"/>
              </a:lnSpc>
              <a:buSzPct val="75000"/>
              <a:buFont typeface="Wingdings" panose="05000000000000000000" pitchFamily="2" charset="2"/>
              <a:buChar char="§"/>
            </a:pPr>
            <a:r>
              <a:rPr lang="en-US" altLang="en-US" dirty="0"/>
              <a:t>Inheritance</a:t>
            </a:r>
          </a:p>
          <a:p>
            <a:pPr lvl="1">
              <a:lnSpc>
                <a:spcPct val="80000"/>
              </a:lnSpc>
              <a:buSzPct val="75000"/>
              <a:buFont typeface="Wingdings" panose="05000000000000000000" pitchFamily="2" charset="2"/>
              <a:buChar char="§"/>
            </a:pPr>
            <a:r>
              <a:rPr lang="en-US" altLang="en-US" sz="2400" dirty="0"/>
              <a:t>Sharing of data within hierarchy scope, supports code reusability</a:t>
            </a:r>
          </a:p>
          <a:p>
            <a:pPr>
              <a:lnSpc>
                <a:spcPct val="80000"/>
              </a:lnSpc>
              <a:buSzPct val="75000"/>
              <a:buFont typeface="Wingdings" panose="05000000000000000000" pitchFamily="2" charset="2"/>
              <a:buChar char="§"/>
            </a:pPr>
            <a:r>
              <a:rPr lang="en-US" altLang="en-US" dirty="0"/>
              <a:t>Polymorphism</a:t>
            </a:r>
          </a:p>
          <a:p>
            <a:pPr lvl="1">
              <a:lnSpc>
                <a:spcPct val="80000"/>
              </a:lnSpc>
              <a:buSzPct val="75000"/>
              <a:buFont typeface="Wingdings" panose="05000000000000000000" pitchFamily="2" charset="2"/>
              <a:buChar char="§"/>
            </a:pPr>
            <a:r>
              <a:rPr lang="en-US" altLang="en-US" sz="2400" dirty="0"/>
              <a:t>Operator overloading</a:t>
            </a:r>
            <a:endParaRPr lang="en-US" altLang="en-US" dirty="0"/>
          </a:p>
          <a:p>
            <a:pPr>
              <a:lnSpc>
                <a:spcPct val="80000"/>
              </a:lnSpc>
              <a:buSzPct val="75000"/>
              <a:buFont typeface="Wingdings" panose="05000000000000000000" pitchFamily="2" charset="2"/>
              <a:buChar char="§"/>
            </a:pPr>
            <a:r>
              <a:rPr lang="en-US" altLang="en-US" dirty="0"/>
              <a:t>Objects and classes</a:t>
            </a:r>
          </a:p>
          <a:p>
            <a:endParaRPr lang="en-GB" dirty="0"/>
          </a:p>
        </p:txBody>
      </p:sp>
    </p:spTree>
    <p:extLst>
      <p:ext uri="{BB962C8B-B14F-4D97-AF65-F5344CB8AC3E}">
        <p14:creationId xmlns:p14="http://schemas.microsoft.com/office/powerpoint/2010/main" val="1491574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EA252-BB82-0752-9024-4765068AB795}"/>
              </a:ext>
            </a:extLst>
          </p:cNvPr>
          <p:cNvSpPr>
            <a:spLocks noGrp="1"/>
          </p:cNvSpPr>
          <p:nvPr>
            <p:ph type="title"/>
          </p:nvPr>
        </p:nvSpPr>
        <p:spPr/>
        <p:txBody>
          <a:bodyPr>
            <a:normAutofit fontScale="90000"/>
          </a:bodyPr>
          <a:lstStyle/>
          <a:p>
            <a:r>
              <a:rPr lang="en-GB" b="0" i="0" dirty="0">
                <a:effectLst/>
                <a:latin typeface="Euclid Circular A"/>
              </a:rPr>
              <a:t>object-oriented databases vs relational databases</a:t>
            </a:r>
            <a:br>
              <a:rPr lang="en-GB" b="0" i="0" dirty="0">
                <a:effectLst/>
                <a:latin typeface="Euclid Circular A"/>
              </a:rPr>
            </a:br>
            <a:endParaRPr lang="en-GB" dirty="0"/>
          </a:p>
        </p:txBody>
      </p:sp>
      <p:sp>
        <p:nvSpPr>
          <p:cNvPr id="3" name="Content Placeholder 2">
            <a:extLst>
              <a:ext uri="{FF2B5EF4-FFF2-40B4-BE49-F238E27FC236}">
                <a16:creationId xmlns:a16="http://schemas.microsoft.com/office/drawing/2014/main" id="{05D40A76-128B-A6D9-E146-99FA73F2545C}"/>
              </a:ext>
            </a:extLst>
          </p:cNvPr>
          <p:cNvSpPr>
            <a:spLocks noGrp="1"/>
          </p:cNvSpPr>
          <p:nvPr>
            <p:ph idx="1"/>
          </p:nvPr>
        </p:nvSpPr>
        <p:spPr/>
        <p:txBody>
          <a:bodyPr/>
          <a:lstStyle/>
          <a:p>
            <a:r>
              <a:rPr lang="en-GB" dirty="0"/>
              <a:t>Relational databases : These databases use a structured format with tables, rows, and columns. Each table represents a different entity (like customers or products), and the rows in these tables are individual records. Columns represent the attributes of these records.</a:t>
            </a:r>
          </a:p>
          <a:p>
            <a:endParaRPr lang="en-GB" dirty="0"/>
          </a:p>
          <a:p>
            <a:r>
              <a:rPr lang="en-GB" dirty="0"/>
              <a:t>Object-oriented databases: In contrast, OODBs store data as objects. An object can encapsulate complex data structures and their associated actions.</a:t>
            </a:r>
          </a:p>
        </p:txBody>
      </p:sp>
    </p:spTree>
    <p:extLst>
      <p:ext uri="{BB962C8B-B14F-4D97-AF65-F5344CB8AC3E}">
        <p14:creationId xmlns:p14="http://schemas.microsoft.com/office/powerpoint/2010/main" val="1196397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DA24AB3-92DD-EB00-1E43-69527005B4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9056" y="562412"/>
            <a:ext cx="9758597" cy="5733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375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Visual comparison of objects and tables">
            <a:extLst>
              <a:ext uri="{FF2B5EF4-FFF2-40B4-BE49-F238E27FC236}">
                <a16:creationId xmlns:a16="http://schemas.microsoft.com/office/drawing/2014/main" id="{6998E519-3CCF-C3E6-7679-7A0496FF3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3186" y="1214203"/>
            <a:ext cx="8825628" cy="4081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8057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2F04A-3F90-FD42-105D-D2D63E0E9414}"/>
              </a:ext>
            </a:extLst>
          </p:cNvPr>
          <p:cNvSpPr>
            <a:spLocks noGrp="1"/>
          </p:cNvSpPr>
          <p:nvPr>
            <p:ph type="title"/>
          </p:nvPr>
        </p:nvSpPr>
        <p:spPr/>
        <p:txBody>
          <a:bodyPr/>
          <a:lstStyle/>
          <a:p>
            <a:r>
              <a:rPr lang="en-GB"/>
              <a:t>What is ORDBMS?</a:t>
            </a:r>
          </a:p>
        </p:txBody>
      </p:sp>
      <p:sp>
        <p:nvSpPr>
          <p:cNvPr id="3" name="Content Placeholder 2">
            <a:extLst>
              <a:ext uri="{FF2B5EF4-FFF2-40B4-BE49-F238E27FC236}">
                <a16:creationId xmlns:a16="http://schemas.microsoft.com/office/drawing/2014/main" id="{25D538A9-775C-2E2D-ED3F-D763EAC59022}"/>
              </a:ext>
            </a:extLst>
          </p:cNvPr>
          <p:cNvSpPr>
            <a:spLocks noGrp="1"/>
          </p:cNvSpPr>
          <p:nvPr>
            <p:ph idx="1"/>
          </p:nvPr>
        </p:nvSpPr>
        <p:spPr/>
        <p:txBody>
          <a:bodyPr/>
          <a:lstStyle/>
          <a:p>
            <a:r>
              <a:rPr lang="en-GB" dirty="0"/>
              <a:t>ORDBMS stands for Object-Relational Database Management System. It provides all the facilities of RDBMS with the additional support of object oriented concepts.</a:t>
            </a:r>
          </a:p>
        </p:txBody>
      </p:sp>
      <p:pic>
        <p:nvPicPr>
          <p:cNvPr id="5" name="Picture 4">
            <a:extLst>
              <a:ext uri="{FF2B5EF4-FFF2-40B4-BE49-F238E27FC236}">
                <a16:creationId xmlns:a16="http://schemas.microsoft.com/office/drawing/2014/main" id="{7ADDC476-FCBB-F3F7-B0CA-1558BC970D5E}"/>
              </a:ext>
            </a:extLst>
          </p:cNvPr>
          <p:cNvPicPr>
            <a:picLocks noChangeAspect="1"/>
          </p:cNvPicPr>
          <p:nvPr/>
        </p:nvPicPr>
        <p:blipFill>
          <a:blip r:embed="rId2"/>
          <a:stretch>
            <a:fillRect/>
          </a:stretch>
        </p:blipFill>
        <p:spPr>
          <a:xfrm>
            <a:off x="4960628" y="2653629"/>
            <a:ext cx="6943315" cy="3839245"/>
          </a:xfrm>
          <a:prstGeom prst="rect">
            <a:avLst/>
          </a:prstGeom>
        </p:spPr>
      </p:pic>
    </p:spTree>
    <p:extLst>
      <p:ext uri="{BB962C8B-B14F-4D97-AF65-F5344CB8AC3E}">
        <p14:creationId xmlns:p14="http://schemas.microsoft.com/office/powerpoint/2010/main" val="2634624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25F58-047B-7A0C-061B-24D428921C6B}"/>
              </a:ext>
            </a:extLst>
          </p:cNvPr>
          <p:cNvSpPr>
            <a:spLocks noGrp="1"/>
          </p:cNvSpPr>
          <p:nvPr>
            <p:ph type="title"/>
          </p:nvPr>
        </p:nvSpPr>
        <p:spPr/>
        <p:txBody>
          <a:bodyPr/>
          <a:lstStyle/>
          <a:p>
            <a:r>
              <a:rPr lang="en-GB" dirty="0"/>
              <a:t>NoSQL databases</a:t>
            </a:r>
          </a:p>
        </p:txBody>
      </p:sp>
      <p:sp>
        <p:nvSpPr>
          <p:cNvPr id="3" name="Content Placeholder 2">
            <a:extLst>
              <a:ext uri="{FF2B5EF4-FFF2-40B4-BE49-F238E27FC236}">
                <a16:creationId xmlns:a16="http://schemas.microsoft.com/office/drawing/2014/main" id="{7D62C545-90E6-7488-9085-912F8DAD8647}"/>
              </a:ext>
            </a:extLst>
          </p:cNvPr>
          <p:cNvSpPr>
            <a:spLocks noGrp="1"/>
          </p:cNvSpPr>
          <p:nvPr>
            <p:ph idx="1"/>
          </p:nvPr>
        </p:nvSpPr>
        <p:spPr/>
        <p:txBody>
          <a:bodyPr/>
          <a:lstStyle/>
          <a:p>
            <a:r>
              <a:rPr lang="en-GB" b="1" dirty="0"/>
              <a:t>NoSQL databases (AKA "not only SQL") </a:t>
            </a:r>
            <a:r>
              <a:rPr lang="en-GB" dirty="0"/>
              <a:t>store data differently than relational tables. NoSQL databases come in a variety of types based on their data model. </a:t>
            </a:r>
          </a:p>
          <a:p>
            <a:r>
              <a:rPr lang="en-GB" dirty="0"/>
              <a:t>The main types are: document, key-value, wide-column, and graph.</a:t>
            </a:r>
          </a:p>
          <a:p>
            <a:r>
              <a:rPr lang="en-GB" dirty="0"/>
              <a:t> They provide flexible schemas and scale easily with large amounts of big data and high user loads.</a:t>
            </a:r>
          </a:p>
          <a:p>
            <a:r>
              <a:rPr lang="en-GB" dirty="0"/>
              <a:t>Over time, four major types of NoSQL databases have emerged: </a:t>
            </a:r>
            <a:r>
              <a:rPr lang="en-GB" b="1" dirty="0"/>
              <a:t>document databases, key-value databases , wide-column stores, and graph databases</a:t>
            </a:r>
            <a:r>
              <a:rPr lang="en-GB" dirty="0"/>
              <a:t>.</a:t>
            </a:r>
          </a:p>
        </p:txBody>
      </p:sp>
    </p:spTree>
    <p:extLst>
      <p:ext uri="{BB962C8B-B14F-4D97-AF65-F5344CB8AC3E}">
        <p14:creationId xmlns:p14="http://schemas.microsoft.com/office/powerpoint/2010/main" val="3087051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B97E5-6C9A-E7DE-24DE-2E76BC02EE05}"/>
              </a:ext>
            </a:extLst>
          </p:cNvPr>
          <p:cNvSpPr>
            <a:spLocks noGrp="1"/>
          </p:cNvSpPr>
          <p:nvPr>
            <p:ph type="title"/>
          </p:nvPr>
        </p:nvSpPr>
        <p:spPr/>
        <p:txBody>
          <a:bodyPr/>
          <a:lstStyle/>
          <a:p>
            <a:r>
              <a:rPr lang="en-GB" dirty="0"/>
              <a:t>Characteristics of NoSQL Database</a:t>
            </a:r>
          </a:p>
        </p:txBody>
      </p:sp>
      <p:sp>
        <p:nvSpPr>
          <p:cNvPr id="3" name="Content Placeholder 2">
            <a:extLst>
              <a:ext uri="{FF2B5EF4-FFF2-40B4-BE49-F238E27FC236}">
                <a16:creationId xmlns:a16="http://schemas.microsoft.com/office/drawing/2014/main" id="{23FE0F3C-0691-4631-6065-96F011FEDC73}"/>
              </a:ext>
            </a:extLst>
          </p:cNvPr>
          <p:cNvSpPr>
            <a:spLocks noGrp="1"/>
          </p:cNvSpPr>
          <p:nvPr>
            <p:ph idx="1"/>
          </p:nvPr>
        </p:nvSpPr>
        <p:spPr/>
        <p:txBody>
          <a:bodyPr>
            <a:noAutofit/>
          </a:bodyPr>
          <a:lstStyle/>
          <a:p>
            <a:r>
              <a:rPr lang="en-GB" sz="2000" dirty="0"/>
              <a:t>1 - Flexible Data Model: NoSQL databases allow for flexible data models, meaning you can store unstructured, semi structured, and structured data without the need to define a rigid schema.</a:t>
            </a:r>
          </a:p>
          <a:p>
            <a:endParaRPr lang="en-GB" sz="2000" dirty="0"/>
          </a:p>
          <a:p>
            <a:r>
              <a:rPr lang="en-GB" sz="2000" dirty="0"/>
              <a:t>2) Scalability: NoSQL databases are designed to scale horizontally, which means you can easily add more servers to handle increased load, making them suitable for handling large amounts of data and high traffic.</a:t>
            </a:r>
          </a:p>
          <a:p>
            <a:endParaRPr lang="en-GB" sz="2000" dirty="0"/>
          </a:p>
          <a:p>
            <a:r>
              <a:rPr lang="en-GB" sz="2000" dirty="0"/>
              <a:t>3) High Performance: NoSQL databases are optimized for high performance and can deliver low latency responses, making them ideal for real time applications and large scale systems.</a:t>
            </a:r>
          </a:p>
          <a:p>
            <a:endParaRPr lang="en-GB" sz="2000" dirty="0"/>
          </a:p>
          <a:p>
            <a:r>
              <a:rPr lang="en-GB" sz="2000" dirty="0"/>
              <a:t>4) Replication and Fault Tolerance: NoSQL databases typically support automatic data replication and have built in fault tolerance mechanisms, ensuring data durability and high availability even in the event of server failures.</a:t>
            </a:r>
          </a:p>
        </p:txBody>
      </p:sp>
    </p:spTree>
    <p:extLst>
      <p:ext uri="{BB962C8B-B14F-4D97-AF65-F5344CB8AC3E}">
        <p14:creationId xmlns:p14="http://schemas.microsoft.com/office/powerpoint/2010/main" val="377445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4A817-1466-33B1-130D-370CE0304786}"/>
              </a:ext>
            </a:extLst>
          </p:cNvPr>
          <p:cNvSpPr>
            <a:spLocks noGrp="1"/>
          </p:cNvSpPr>
          <p:nvPr>
            <p:ph type="title"/>
          </p:nvPr>
        </p:nvSpPr>
        <p:spPr/>
        <p:txBody>
          <a:bodyPr/>
          <a:lstStyle/>
          <a:p>
            <a:r>
              <a:rPr lang="en-GB" dirty="0"/>
              <a:t>Characteristics of NoSQL Database</a:t>
            </a:r>
          </a:p>
        </p:txBody>
      </p:sp>
      <p:sp>
        <p:nvSpPr>
          <p:cNvPr id="3" name="Content Placeholder 2">
            <a:extLst>
              <a:ext uri="{FF2B5EF4-FFF2-40B4-BE49-F238E27FC236}">
                <a16:creationId xmlns:a16="http://schemas.microsoft.com/office/drawing/2014/main" id="{9F63CA99-1D25-934E-E0F0-E53226FBC16B}"/>
              </a:ext>
            </a:extLst>
          </p:cNvPr>
          <p:cNvSpPr>
            <a:spLocks noGrp="1"/>
          </p:cNvSpPr>
          <p:nvPr>
            <p:ph idx="1"/>
          </p:nvPr>
        </p:nvSpPr>
        <p:spPr/>
        <p:txBody>
          <a:bodyPr>
            <a:noAutofit/>
          </a:bodyPr>
          <a:lstStyle/>
          <a:p>
            <a:r>
              <a:rPr lang="en-GB" sz="2000" dirty="0"/>
              <a:t>5) Distributed Computing: NoSQL databases are designed for distributed computing environments, allowing data to be distributed across multiple nodes in a cluster, which improves data access speed and fault tolerance.</a:t>
            </a:r>
          </a:p>
          <a:p>
            <a:r>
              <a:rPr lang="en-GB" sz="2000" dirty="0"/>
              <a:t>6) Schema less Design: NoSQL databases do not require a fixed schema, allowing for dynamic and evolving data structures, which is particularly useful in scenarios where the data model may change frequently.</a:t>
            </a:r>
          </a:p>
          <a:p>
            <a:r>
              <a:rPr lang="en-GB" sz="2000" dirty="0"/>
              <a:t>7) Support for Big Data: NoSQL databases are well suited for handling large volumes of data, making them a popular choice for big data applications and analytics.</a:t>
            </a:r>
          </a:p>
          <a:p>
            <a:r>
              <a:rPr lang="en-GB" sz="2000" dirty="0"/>
              <a:t>8) Automatic Data Sharding: Many NoSQL databases support automatic data sharding, which allows data to be partitioned and distributed across multiple servers, enabling horizontal scaling and improved performance.</a:t>
            </a:r>
          </a:p>
          <a:p>
            <a:r>
              <a:rPr lang="en-GB" sz="2000" dirty="0"/>
              <a:t>9) Developer friendly: NoSQL databases are often developer friendly, offering flexible APIs, query languages, and data manipulation tools that simplify application development and integration.</a:t>
            </a:r>
          </a:p>
        </p:txBody>
      </p:sp>
    </p:spTree>
    <p:extLst>
      <p:ext uri="{BB962C8B-B14F-4D97-AF65-F5344CB8AC3E}">
        <p14:creationId xmlns:p14="http://schemas.microsoft.com/office/powerpoint/2010/main" val="4197219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AEAF46-9DA6-5E66-F00E-864CF37FB243}"/>
              </a:ext>
            </a:extLst>
          </p:cNvPr>
          <p:cNvPicPr>
            <a:picLocks noChangeAspect="1"/>
          </p:cNvPicPr>
          <p:nvPr/>
        </p:nvPicPr>
        <p:blipFill>
          <a:blip r:embed="rId2"/>
          <a:stretch>
            <a:fillRect/>
          </a:stretch>
        </p:blipFill>
        <p:spPr>
          <a:xfrm>
            <a:off x="307761" y="914400"/>
            <a:ext cx="11576478" cy="5727939"/>
          </a:xfrm>
          <a:prstGeom prst="rect">
            <a:avLst/>
          </a:prstGeom>
        </p:spPr>
      </p:pic>
      <p:sp>
        <p:nvSpPr>
          <p:cNvPr id="6" name="TextBox 5">
            <a:extLst>
              <a:ext uri="{FF2B5EF4-FFF2-40B4-BE49-F238E27FC236}">
                <a16:creationId xmlns:a16="http://schemas.microsoft.com/office/drawing/2014/main" id="{450F1EDB-68F6-E881-32CE-6F496596C5E0}"/>
              </a:ext>
            </a:extLst>
          </p:cNvPr>
          <p:cNvSpPr txBox="1"/>
          <p:nvPr/>
        </p:nvSpPr>
        <p:spPr>
          <a:xfrm>
            <a:off x="4675517" y="310551"/>
            <a:ext cx="2674189" cy="461665"/>
          </a:xfrm>
          <a:prstGeom prst="rect">
            <a:avLst/>
          </a:prstGeom>
          <a:noFill/>
        </p:spPr>
        <p:txBody>
          <a:bodyPr wrap="square" rtlCol="0">
            <a:spAutoFit/>
          </a:bodyPr>
          <a:lstStyle/>
          <a:p>
            <a:r>
              <a:rPr lang="en-US" sz="2400" b="1" dirty="0"/>
              <a:t>Advantages</a:t>
            </a:r>
            <a:endParaRPr lang="en-GB" sz="2400" b="1" dirty="0"/>
          </a:p>
        </p:txBody>
      </p:sp>
    </p:spTree>
    <p:extLst>
      <p:ext uri="{BB962C8B-B14F-4D97-AF65-F5344CB8AC3E}">
        <p14:creationId xmlns:p14="http://schemas.microsoft.com/office/powerpoint/2010/main" val="3506988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C92E8E-2C42-119B-7A6B-F4CE8CE02EE4}"/>
              </a:ext>
            </a:extLst>
          </p:cNvPr>
          <p:cNvPicPr>
            <a:picLocks noChangeAspect="1"/>
          </p:cNvPicPr>
          <p:nvPr/>
        </p:nvPicPr>
        <p:blipFill>
          <a:blip r:embed="rId2"/>
          <a:stretch>
            <a:fillRect/>
          </a:stretch>
        </p:blipFill>
        <p:spPr>
          <a:xfrm>
            <a:off x="624052" y="396815"/>
            <a:ext cx="10900839" cy="6040511"/>
          </a:xfrm>
          <a:prstGeom prst="rect">
            <a:avLst/>
          </a:prstGeom>
        </p:spPr>
      </p:pic>
    </p:spTree>
    <p:extLst>
      <p:ext uri="{BB962C8B-B14F-4D97-AF65-F5344CB8AC3E}">
        <p14:creationId xmlns:p14="http://schemas.microsoft.com/office/powerpoint/2010/main" val="454582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8E832-C862-0837-A4E2-4C93C13EB007}"/>
              </a:ext>
            </a:extLst>
          </p:cNvPr>
          <p:cNvSpPr>
            <a:spLocks noGrp="1"/>
          </p:cNvSpPr>
          <p:nvPr>
            <p:ph type="title"/>
          </p:nvPr>
        </p:nvSpPr>
        <p:spPr/>
        <p:txBody>
          <a:bodyPr/>
          <a:lstStyle/>
          <a:p>
            <a:r>
              <a:rPr lang="en-US" dirty="0"/>
              <a:t>NoSQL vs SQL</a:t>
            </a:r>
            <a:endParaRPr lang="en-GB" dirty="0"/>
          </a:p>
        </p:txBody>
      </p:sp>
      <p:pic>
        <p:nvPicPr>
          <p:cNvPr id="7170" name="Picture 2" descr="NoSQL vs. SQL ">
            <a:extLst>
              <a:ext uri="{FF2B5EF4-FFF2-40B4-BE49-F238E27FC236}">
                <a16:creationId xmlns:a16="http://schemas.microsoft.com/office/drawing/2014/main" id="{2CCD5F59-2628-31D0-C307-626E9000AD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 y="2085526"/>
            <a:ext cx="11601450" cy="406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365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SQL and NoSQL">
            <a:extLst>
              <a:ext uri="{FF2B5EF4-FFF2-40B4-BE49-F238E27FC236}">
                <a16:creationId xmlns:a16="http://schemas.microsoft.com/office/drawing/2014/main" id="{753366C5-01FC-2347-495B-C1E4CF0C4736}"/>
              </a:ext>
            </a:extLst>
          </p:cNvPr>
          <p:cNvSpPr>
            <a:spLocks noChangeAspect="1" noChangeArrowheads="1"/>
          </p:cNvSpPr>
          <p:nvPr/>
        </p:nvSpPr>
        <p:spPr bwMode="auto">
          <a:xfrm>
            <a:off x="2656936" y="-10064"/>
            <a:ext cx="3591464" cy="359146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Picture 5">
            <a:extLst>
              <a:ext uri="{FF2B5EF4-FFF2-40B4-BE49-F238E27FC236}">
                <a16:creationId xmlns:a16="http://schemas.microsoft.com/office/drawing/2014/main" id="{61C0EEBE-F006-149D-D6E3-8D7467610C2B}"/>
              </a:ext>
            </a:extLst>
          </p:cNvPr>
          <p:cNvPicPr>
            <a:picLocks noChangeAspect="1"/>
          </p:cNvPicPr>
          <p:nvPr/>
        </p:nvPicPr>
        <p:blipFill>
          <a:blip r:embed="rId2"/>
          <a:stretch>
            <a:fillRect/>
          </a:stretch>
        </p:blipFill>
        <p:spPr>
          <a:xfrm>
            <a:off x="3795623" y="442598"/>
            <a:ext cx="8160588" cy="6415402"/>
          </a:xfrm>
          <a:prstGeom prst="rect">
            <a:avLst/>
          </a:prstGeom>
        </p:spPr>
      </p:pic>
      <p:sp>
        <p:nvSpPr>
          <p:cNvPr id="2" name="TextBox 1">
            <a:extLst>
              <a:ext uri="{FF2B5EF4-FFF2-40B4-BE49-F238E27FC236}">
                <a16:creationId xmlns:a16="http://schemas.microsoft.com/office/drawing/2014/main" id="{B7CB51CE-FD64-3C27-FD8F-3AD8E74FA1A2}"/>
              </a:ext>
            </a:extLst>
          </p:cNvPr>
          <p:cNvSpPr txBox="1"/>
          <p:nvPr/>
        </p:nvSpPr>
        <p:spPr>
          <a:xfrm flipH="1">
            <a:off x="0" y="4481036"/>
            <a:ext cx="4192437" cy="1477328"/>
          </a:xfrm>
          <a:prstGeom prst="rect">
            <a:avLst/>
          </a:prstGeom>
          <a:noFill/>
        </p:spPr>
        <p:txBody>
          <a:bodyPr wrap="square" rtlCol="0">
            <a:spAutoFit/>
          </a:bodyPr>
          <a:lstStyle/>
          <a:p>
            <a:r>
              <a:rPr lang="en-GB" b="1" dirty="0"/>
              <a:t>https://www.mongodb.com/resources/basics/databases/nosql-explained#:~:text=NoSQL%20databases%20provide%20a%20variety,%2C%20and%20multi%2Dmodel%20databases.</a:t>
            </a:r>
          </a:p>
        </p:txBody>
      </p:sp>
      <p:sp>
        <p:nvSpPr>
          <p:cNvPr id="3" name="TextBox 2">
            <a:extLst>
              <a:ext uri="{FF2B5EF4-FFF2-40B4-BE49-F238E27FC236}">
                <a16:creationId xmlns:a16="http://schemas.microsoft.com/office/drawing/2014/main" id="{E56F7ED2-3BF6-407D-D55C-D202A57FBFBC}"/>
              </a:ext>
            </a:extLst>
          </p:cNvPr>
          <p:cNvSpPr txBox="1"/>
          <p:nvPr/>
        </p:nvSpPr>
        <p:spPr>
          <a:xfrm>
            <a:off x="707366" y="2122098"/>
            <a:ext cx="1380226" cy="646331"/>
          </a:xfrm>
          <a:prstGeom prst="rect">
            <a:avLst/>
          </a:prstGeom>
          <a:noFill/>
        </p:spPr>
        <p:txBody>
          <a:bodyPr wrap="square" rtlCol="0">
            <a:spAutoFit/>
          </a:bodyPr>
          <a:lstStyle/>
          <a:p>
            <a:r>
              <a:rPr lang="en-US" b="1" dirty="0"/>
              <a:t>For more content</a:t>
            </a:r>
            <a:endParaRPr lang="en-GB" b="1" dirty="0"/>
          </a:p>
        </p:txBody>
      </p:sp>
    </p:spTree>
    <p:extLst>
      <p:ext uri="{BB962C8B-B14F-4D97-AF65-F5344CB8AC3E}">
        <p14:creationId xmlns:p14="http://schemas.microsoft.com/office/powerpoint/2010/main" val="1661624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SQL vs NoSQL: Choosing the Right Database for Your Application - Emerging  India Group">
            <a:extLst>
              <a:ext uri="{FF2B5EF4-FFF2-40B4-BE49-F238E27FC236}">
                <a16:creationId xmlns:a16="http://schemas.microsoft.com/office/drawing/2014/main" id="{5E0125E8-87FA-419E-8E8D-11D1AE87C6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12192000" cy="6850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539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CE991-7B5B-B891-DAB2-5F09431A9DAB}"/>
              </a:ext>
            </a:extLst>
          </p:cNvPr>
          <p:cNvSpPr>
            <a:spLocks noGrp="1"/>
          </p:cNvSpPr>
          <p:nvPr>
            <p:ph type="title"/>
          </p:nvPr>
        </p:nvSpPr>
        <p:spPr/>
        <p:txBody>
          <a:bodyPr/>
          <a:lstStyle/>
          <a:p>
            <a:r>
              <a:rPr lang="en-US" dirty="0"/>
              <a:t>Distributed Databases</a:t>
            </a:r>
            <a:endParaRPr lang="en-GB" dirty="0"/>
          </a:p>
        </p:txBody>
      </p:sp>
      <p:sp>
        <p:nvSpPr>
          <p:cNvPr id="3" name="Content Placeholder 2">
            <a:extLst>
              <a:ext uri="{FF2B5EF4-FFF2-40B4-BE49-F238E27FC236}">
                <a16:creationId xmlns:a16="http://schemas.microsoft.com/office/drawing/2014/main" id="{C01AA46F-521A-45F1-64F1-74132C094FBA}"/>
              </a:ext>
            </a:extLst>
          </p:cNvPr>
          <p:cNvSpPr>
            <a:spLocks noGrp="1"/>
          </p:cNvSpPr>
          <p:nvPr>
            <p:ph idx="1"/>
          </p:nvPr>
        </p:nvSpPr>
        <p:spPr/>
        <p:txBody>
          <a:bodyPr/>
          <a:lstStyle/>
          <a:p>
            <a:r>
              <a:rPr lang="en-GB" b="0" i="0" dirty="0">
                <a:solidFill>
                  <a:srgbClr val="42494F"/>
                </a:solidFill>
                <a:effectLst/>
                <a:latin typeface="Akzidenz Grotesk BQ Light"/>
              </a:rPr>
              <a:t> </a:t>
            </a:r>
            <a:r>
              <a:rPr lang="en-GB" b="0" i="0">
                <a:solidFill>
                  <a:srgbClr val="42494F"/>
                </a:solidFill>
                <a:effectLst/>
                <a:latin typeface="Akzidenz Grotesk BQ Light"/>
              </a:rPr>
              <a:t>a distributed database is </a:t>
            </a:r>
            <a:r>
              <a:rPr lang="en-GB" b="0" i="0" dirty="0">
                <a:solidFill>
                  <a:srgbClr val="42494F"/>
                </a:solidFill>
                <a:effectLst/>
                <a:latin typeface="Akzidenz Grotesk BQ Light"/>
              </a:rPr>
              <a:t>a database that stores data in multiple locations instead of one location. </a:t>
            </a:r>
          </a:p>
          <a:p>
            <a:r>
              <a:rPr lang="en-GB" b="0" i="0" dirty="0">
                <a:solidFill>
                  <a:srgbClr val="42494F"/>
                </a:solidFill>
                <a:effectLst/>
                <a:latin typeface="Akzidenz Grotesk BQ Light"/>
              </a:rPr>
              <a:t>This means that rather than putting all data on one server or on one computer, data is placed on multiple servers or in a cluster of computers consisting of individual nodes.</a:t>
            </a:r>
          </a:p>
          <a:p>
            <a:r>
              <a:rPr lang="en-GB" b="0" i="0" dirty="0">
                <a:solidFill>
                  <a:srgbClr val="42494F"/>
                </a:solidFill>
                <a:effectLst/>
                <a:latin typeface="Akzidenz Grotesk BQ Light"/>
              </a:rPr>
              <a:t> These nodes are oftentimes geographically separate and may be physical computers or virtual machines within a </a:t>
            </a:r>
            <a:r>
              <a:rPr lang="en-GB" b="0" i="0" u="none" strike="noStrike" dirty="0">
                <a:solidFill>
                  <a:srgbClr val="13AA52"/>
                </a:solidFill>
                <a:effectLst/>
                <a:latin typeface="Akzidenz Grotesk BQ Light"/>
                <a:hlinkClick r:id="rId2"/>
              </a:rPr>
              <a:t>cloud database</a:t>
            </a:r>
            <a:r>
              <a:rPr lang="en-GB" b="0" i="0" dirty="0">
                <a:solidFill>
                  <a:srgbClr val="42494F"/>
                </a:solidFill>
                <a:effectLst/>
                <a:latin typeface="Akzidenz Grotesk BQ Light"/>
              </a:rPr>
              <a:t>.</a:t>
            </a:r>
            <a:endParaRPr lang="en-GB" dirty="0"/>
          </a:p>
        </p:txBody>
      </p:sp>
    </p:spTree>
    <p:extLst>
      <p:ext uri="{BB962C8B-B14F-4D97-AF65-F5344CB8AC3E}">
        <p14:creationId xmlns:p14="http://schemas.microsoft.com/office/powerpoint/2010/main" val="1657896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llustration of cluster and nodes">
            <a:extLst>
              <a:ext uri="{FF2B5EF4-FFF2-40B4-BE49-F238E27FC236}">
                <a16:creationId xmlns:a16="http://schemas.microsoft.com/office/drawing/2014/main" id="{CDE283EB-11C1-27EB-467C-A291A12D23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7950"/>
            <a:ext cx="12192000" cy="6640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2058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7B669-EA2C-1737-1529-6BD70549ACE3}"/>
              </a:ext>
            </a:extLst>
          </p:cNvPr>
          <p:cNvSpPr>
            <a:spLocks noGrp="1"/>
          </p:cNvSpPr>
          <p:nvPr>
            <p:ph type="title"/>
          </p:nvPr>
        </p:nvSpPr>
        <p:spPr/>
        <p:txBody>
          <a:bodyPr/>
          <a:lstStyle/>
          <a:p>
            <a:r>
              <a:rPr lang="en-US" dirty="0"/>
              <a:t>Types of Distributed Databases</a:t>
            </a:r>
            <a:endParaRPr lang="en-GB" dirty="0"/>
          </a:p>
        </p:txBody>
      </p:sp>
      <p:sp>
        <p:nvSpPr>
          <p:cNvPr id="3" name="Content Placeholder 2">
            <a:extLst>
              <a:ext uri="{FF2B5EF4-FFF2-40B4-BE49-F238E27FC236}">
                <a16:creationId xmlns:a16="http://schemas.microsoft.com/office/drawing/2014/main" id="{7E2C0C70-F3A2-97BE-3E20-427E4DDA8E4F}"/>
              </a:ext>
            </a:extLst>
          </p:cNvPr>
          <p:cNvSpPr>
            <a:spLocks noGrp="1"/>
          </p:cNvSpPr>
          <p:nvPr>
            <p:ph idx="1"/>
          </p:nvPr>
        </p:nvSpPr>
        <p:spPr/>
        <p:txBody>
          <a:bodyPr>
            <a:normAutofit lnSpcReduction="10000"/>
          </a:bodyPr>
          <a:lstStyle/>
          <a:p>
            <a:r>
              <a:rPr lang="en-GB" b="0" i="0" dirty="0">
                <a:solidFill>
                  <a:srgbClr val="42494F"/>
                </a:solidFill>
                <a:effectLst/>
                <a:latin typeface="Akzidenz Grotesk BQ Light"/>
              </a:rPr>
              <a:t>In a </a:t>
            </a:r>
            <a:r>
              <a:rPr lang="en-GB" b="1" i="0" dirty="0">
                <a:solidFill>
                  <a:srgbClr val="42494F"/>
                </a:solidFill>
                <a:effectLst/>
                <a:latin typeface="Akzidenz Grotesk BQ Light"/>
              </a:rPr>
              <a:t>homogeneous distributed database</a:t>
            </a:r>
            <a:r>
              <a:rPr lang="en-GB" b="0" i="0" dirty="0">
                <a:solidFill>
                  <a:srgbClr val="42494F"/>
                </a:solidFill>
                <a:effectLst/>
                <a:latin typeface="Akzidenz Grotesk BQ Light"/>
              </a:rPr>
              <a:t>, the machines, nodes, servers, or sites store the same data, use the same data model, work with the same operating system, and share the same distributed database management system (DDBMS) or occasionally multiple types of DDBMS from the same vendor.</a:t>
            </a:r>
          </a:p>
          <a:p>
            <a:endParaRPr lang="en-GB" dirty="0">
              <a:solidFill>
                <a:srgbClr val="42494F"/>
              </a:solidFill>
              <a:latin typeface="Akzidenz Grotesk BQ Light"/>
            </a:endParaRPr>
          </a:p>
          <a:p>
            <a:r>
              <a:rPr lang="en-GB" b="0" i="0" dirty="0">
                <a:solidFill>
                  <a:srgbClr val="42494F"/>
                </a:solidFill>
                <a:effectLst/>
                <a:latin typeface="Akzidenz Grotesk BQ Light"/>
              </a:rPr>
              <a:t>In a </a:t>
            </a:r>
            <a:r>
              <a:rPr lang="en-GB" b="1" i="0" dirty="0">
                <a:solidFill>
                  <a:srgbClr val="42494F"/>
                </a:solidFill>
                <a:effectLst/>
                <a:latin typeface="Akzidenz Grotesk BQ Light"/>
              </a:rPr>
              <a:t>heterogeneous distributed database</a:t>
            </a:r>
            <a:r>
              <a:rPr lang="en-GB" b="0" i="0" dirty="0">
                <a:solidFill>
                  <a:srgbClr val="42494F"/>
                </a:solidFill>
                <a:effectLst/>
                <a:latin typeface="Akzidenz Grotesk BQ Light"/>
              </a:rPr>
              <a:t>, different machines or sites may house different data sets, use different operating systems, contain different data schemas, and require software to facilitate communication between machines. Further, different sites may not even be aware of the existence of other sites.</a:t>
            </a:r>
            <a:endParaRPr lang="en-GB" dirty="0"/>
          </a:p>
        </p:txBody>
      </p:sp>
    </p:spTree>
    <p:extLst>
      <p:ext uri="{BB962C8B-B14F-4D97-AF65-F5344CB8AC3E}">
        <p14:creationId xmlns:p14="http://schemas.microsoft.com/office/powerpoint/2010/main" val="928287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llustration of the difference between horizontal and vertical partitioning.">
            <a:extLst>
              <a:ext uri="{FF2B5EF4-FFF2-40B4-BE49-F238E27FC236}">
                <a16:creationId xmlns:a16="http://schemas.microsoft.com/office/drawing/2014/main" id="{93720EA9-03D2-505C-E30F-EA657D45B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3" y="369653"/>
            <a:ext cx="10144664" cy="6153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8432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72385-F1D5-5571-C80E-E8762E294E61}"/>
              </a:ext>
            </a:extLst>
          </p:cNvPr>
          <p:cNvSpPr>
            <a:spLocks noGrp="1"/>
          </p:cNvSpPr>
          <p:nvPr>
            <p:ph type="title"/>
          </p:nvPr>
        </p:nvSpPr>
        <p:spPr/>
        <p:txBody>
          <a:bodyPr/>
          <a:lstStyle/>
          <a:p>
            <a:r>
              <a:rPr lang="en-GB" dirty="0"/>
              <a:t>Distributed ledger technology</a:t>
            </a:r>
          </a:p>
        </p:txBody>
      </p:sp>
      <p:sp>
        <p:nvSpPr>
          <p:cNvPr id="3" name="Content Placeholder 2">
            <a:extLst>
              <a:ext uri="{FF2B5EF4-FFF2-40B4-BE49-F238E27FC236}">
                <a16:creationId xmlns:a16="http://schemas.microsoft.com/office/drawing/2014/main" id="{1897E4BF-3D57-D219-9055-B06FFD0D1CAC}"/>
              </a:ext>
            </a:extLst>
          </p:cNvPr>
          <p:cNvSpPr>
            <a:spLocks noGrp="1"/>
          </p:cNvSpPr>
          <p:nvPr>
            <p:ph idx="1"/>
          </p:nvPr>
        </p:nvSpPr>
        <p:spPr/>
        <p:txBody>
          <a:bodyPr>
            <a:normAutofit fontScale="85000" lnSpcReduction="10000"/>
          </a:bodyPr>
          <a:lstStyle/>
          <a:p>
            <a:r>
              <a:rPr lang="en-GB" dirty="0"/>
              <a:t>Distributed ledger technology (DLT) is a digital system for recording the transaction of assets in which the transactions and their details are recorded in multiple places at the same time. Unlike traditional databases, distributed ledgers have no central data store or administration functionality.</a:t>
            </a:r>
          </a:p>
          <a:p>
            <a:r>
              <a:rPr lang="en-GB" dirty="0"/>
              <a:t>DLT refers specifically to the technological infrastructure and protocols that enable the simultaneous access, validation and updating of records that characterize distributed ledgers.</a:t>
            </a:r>
          </a:p>
          <a:p>
            <a:r>
              <a:rPr lang="en-GB" dirty="0"/>
              <a:t> It works on a computer network spread over multiple entities, locations or nodes.</a:t>
            </a:r>
          </a:p>
          <a:p>
            <a:r>
              <a:rPr lang="en-GB" dirty="0"/>
              <a:t> It’s a system where information (like transactions or records) is stored across multiple places (or "ledgers") at the same time, so no one person or organization has control. It’s secure, transparent, and harder to tamper with, because everyone has a copy to check against.</a:t>
            </a:r>
          </a:p>
        </p:txBody>
      </p:sp>
    </p:spTree>
    <p:extLst>
      <p:ext uri="{BB962C8B-B14F-4D97-AF65-F5344CB8AC3E}">
        <p14:creationId xmlns:p14="http://schemas.microsoft.com/office/powerpoint/2010/main" val="2198746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Is Blockchain just a Crippled Distributed Database? | by Trey Zhong | Medium">
            <a:extLst>
              <a:ext uri="{FF2B5EF4-FFF2-40B4-BE49-F238E27FC236}">
                <a16:creationId xmlns:a16="http://schemas.microsoft.com/office/drawing/2014/main" id="{07EC25C1-B0BD-C4B9-4FF0-602874DF2E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9532" y="1776413"/>
            <a:ext cx="8636877" cy="3589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5290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21A3B-A819-1EC8-30AE-0D7682A8A661}"/>
              </a:ext>
            </a:extLst>
          </p:cNvPr>
          <p:cNvSpPr>
            <a:spLocks noGrp="1"/>
          </p:cNvSpPr>
          <p:nvPr>
            <p:ph type="title"/>
          </p:nvPr>
        </p:nvSpPr>
        <p:spPr/>
        <p:txBody>
          <a:bodyPr/>
          <a:lstStyle/>
          <a:p>
            <a:r>
              <a:rPr lang="en-US" dirty="0"/>
              <a:t>How DLT works</a:t>
            </a:r>
            <a:endParaRPr lang="en-GB" dirty="0"/>
          </a:p>
        </p:txBody>
      </p:sp>
      <p:sp>
        <p:nvSpPr>
          <p:cNvPr id="3" name="Content Placeholder 2">
            <a:extLst>
              <a:ext uri="{FF2B5EF4-FFF2-40B4-BE49-F238E27FC236}">
                <a16:creationId xmlns:a16="http://schemas.microsoft.com/office/drawing/2014/main" id="{F8793A7C-471B-DDD3-5AAA-4A75232B8039}"/>
              </a:ext>
            </a:extLst>
          </p:cNvPr>
          <p:cNvSpPr>
            <a:spLocks noGrp="1"/>
          </p:cNvSpPr>
          <p:nvPr>
            <p:ph idx="1"/>
          </p:nvPr>
        </p:nvSpPr>
        <p:spPr/>
        <p:txBody>
          <a:bodyPr/>
          <a:lstStyle/>
          <a:p>
            <a:r>
              <a:rPr lang="en-GB" dirty="0"/>
              <a:t>DLT works based on principles of decentralization. Unlike traditional centralized databases, DLT operates on a peer-to-peer (P2P) network, where multiple nodes store, validate and update the ledger simultaneously. This eliminates the need for a central authority and reduces the risk of a single point of failure.</a:t>
            </a:r>
          </a:p>
        </p:txBody>
      </p:sp>
      <p:pic>
        <p:nvPicPr>
          <p:cNvPr id="4098" name="Picture 2" descr="P2P Network">
            <a:extLst>
              <a:ext uri="{FF2B5EF4-FFF2-40B4-BE49-F238E27FC236}">
                <a16:creationId xmlns:a16="http://schemas.microsoft.com/office/drawing/2014/main" id="{49A67DDF-DA0D-774A-C647-33A70BF1D8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0296" y="3429000"/>
            <a:ext cx="3115559" cy="2493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582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560FB-8DE5-49D4-7666-A8E0C5BA9F09}"/>
              </a:ext>
            </a:extLst>
          </p:cNvPr>
          <p:cNvSpPr>
            <a:spLocks noGrp="1"/>
          </p:cNvSpPr>
          <p:nvPr>
            <p:ph type="title"/>
          </p:nvPr>
        </p:nvSpPr>
        <p:spPr/>
        <p:txBody>
          <a:bodyPr/>
          <a:lstStyle/>
          <a:p>
            <a:r>
              <a:rPr lang="en-GB" dirty="0"/>
              <a:t>Blockchain</a:t>
            </a:r>
          </a:p>
        </p:txBody>
      </p:sp>
      <p:sp>
        <p:nvSpPr>
          <p:cNvPr id="3" name="Content Placeholder 2">
            <a:extLst>
              <a:ext uri="{FF2B5EF4-FFF2-40B4-BE49-F238E27FC236}">
                <a16:creationId xmlns:a16="http://schemas.microsoft.com/office/drawing/2014/main" id="{DBC496ED-B845-A2D4-8A40-9C773596CE86}"/>
              </a:ext>
            </a:extLst>
          </p:cNvPr>
          <p:cNvSpPr>
            <a:spLocks noGrp="1"/>
          </p:cNvSpPr>
          <p:nvPr>
            <p:ph idx="1"/>
          </p:nvPr>
        </p:nvSpPr>
        <p:spPr/>
        <p:txBody>
          <a:bodyPr/>
          <a:lstStyle/>
          <a:p>
            <a:r>
              <a:rPr lang="en-GB" dirty="0"/>
              <a:t>Blockchain is a well-known example of a distributed ledger technology.</a:t>
            </a:r>
          </a:p>
          <a:p>
            <a:r>
              <a:rPr lang="en-GB" dirty="0"/>
              <a:t>Blockchain is a decentralized digital ledger that securely stores records across a network of computers in a way that is transparent, immutable, and resistant to tampering.</a:t>
            </a:r>
          </a:p>
          <a:p>
            <a:r>
              <a:rPr lang="en-GB" dirty="0"/>
              <a:t> Each "block" contains data, and blocks are linked in a chronological "chain.“</a:t>
            </a:r>
          </a:p>
          <a:p>
            <a:r>
              <a:rPr lang="en-GB" b="0" i="0" dirty="0">
                <a:solidFill>
                  <a:srgbClr val="111111"/>
                </a:solidFill>
                <a:effectLst/>
                <a:latin typeface="SourceSansPro"/>
              </a:rPr>
              <a:t> They are best known for their crucial role in cryptocurrency systems, maintaining a secure and decentralized record of transactions, but they are not limited to cryptocurrency uses.</a:t>
            </a:r>
            <a:endParaRPr lang="en-GB" dirty="0"/>
          </a:p>
          <a:p>
            <a:endParaRPr lang="en-GB" dirty="0"/>
          </a:p>
        </p:txBody>
      </p:sp>
    </p:spTree>
    <p:extLst>
      <p:ext uri="{BB962C8B-B14F-4D97-AF65-F5344CB8AC3E}">
        <p14:creationId xmlns:p14="http://schemas.microsoft.com/office/powerpoint/2010/main" val="4166699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Properties of Blockchain">
            <a:extLst>
              <a:ext uri="{FF2B5EF4-FFF2-40B4-BE49-F238E27FC236}">
                <a16:creationId xmlns:a16="http://schemas.microsoft.com/office/drawing/2014/main" id="{AF63BA80-889B-6B30-1B91-403173E7B8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1888" y="0"/>
            <a:ext cx="73882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541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5877-036B-10FE-9D7A-0231605FD2BB}"/>
              </a:ext>
            </a:extLst>
          </p:cNvPr>
          <p:cNvSpPr>
            <a:spLocks noGrp="1"/>
          </p:cNvSpPr>
          <p:nvPr>
            <p:ph type="title"/>
          </p:nvPr>
        </p:nvSpPr>
        <p:spPr/>
        <p:txBody>
          <a:bodyPr/>
          <a:lstStyle/>
          <a:p>
            <a:r>
              <a:rPr lang="en-GB" dirty="0"/>
              <a:t>Cryptocurrency</a:t>
            </a:r>
          </a:p>
        </p:txBody>
      </p:sp>
      <p:sp>
        <p:nvSpPr>
          <p:cNvPr id="3" name="Content Placeholder 2">
            <a:extLst>
              <a:ext uri="{FF2B5EF4-FFF2-40B4-BE49-F238E27FC236}">
                <a16:creationId xmlns:a16="http://schemas.microsoft.com/office/drawing/2014/main" id="{65E827E7-DCE2-13C3-362A-772A0824004D}"/>
              </a:ext>
            </a:extLst>
          </p:cNvPr>
          <p:cNvSpPr>
            <a:spLocks noGrp="1"/>
          </p:cNvSpPr>
          <p:nvPr>
            <p:ph idx="1"/>
          </p:nvPr>
        </p:nvSpPr>
        <p:spPr/>
        <p:txBody>
          <a:bodyPr>
            <a:normAutofit fontScale="92500" lnSpcReduction="20000"/>
          </a:bodyPr>
          <a:lstStyle/>
          <a:p>
            <a:r>
              <a:rPr lang="en-GB" dirty="0"/>
              <a:t>Cryptocurrency is a digital payment system that doesn't rely on banks to verify transactions. </a:t>
            </a:r>
          </a:p>
          <a:p>
            <a:r>
              <a:rPr lang="en-GB" dirty="0"/>
              <a:t>It’s a peer-to-peer system that can enable anyone anywhere to send and receive payments. </a:t>
            </a:r>
          </a:p>
          <a:p>
            <a:r>
              <a:rPr lang="en-GB" dirty="0"/>
              <a:t>Instead of being physical money carried around and exchanged in the real world, cryptocurrency payments exist purely as digital entries to an online database describing specific transactions. </a:t>
            </a:r>
          </a:p>
          <a:p>
            <a:r>
              <a:rPr lang="en-GB" dirty="0"/>
              <a:t>When you transfer cryptocurrency funds, the transactions are recorded in a public ledger. </a:t>
            </a:r>
          </a:p>
          <a:p>
            <a:r>
              <a:rPr lang="en-GB" dirty="0"/>
              <a:t>Cryptocurrency is a type of digital or virtual currency that uses cryptography for security, making it difficult to counterfeit or double-spend.</a:t>
            </a:r>
          </a:p>
        </p:txBody>
      </p:sp>
    </p:spTree>
    <p:extLst>
      <p:ext uri="{BB962C8B-B14F-4D97-AF65-F5344CB8AC3E}">
        <p14:creationId xmlns:p14="http://schemas.microsoft.com/office/powerpoint/2010/main" val="3785753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CA340828-06BF-B436-6A8E-CE5D9A82F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00038"/>
            <a:ext cx="9753600" cy="6257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1510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TotalTime>
  <Words>1417</Words>
  <Application>Microsoft Office PowerPoint</Application>
  <PresentationFormat>Widescreen</PresentationFormat>
  <Paragraphs>88</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Emerging Trends In Database</vt:lpstr>
      <vt:lpstr>Introduction of OODMS</vt:lpstr>
      <vt:lpstr>Definition of an object</vt:lpstr>
      <vt:lpstr>OOPS</vt:lpstr>
      <vt:lpstr>object-oriented databases vs relational databases </vt:lpstr>
      <vt:lpstr>PowerPoint Presentation</vt:lpstr>
      <vt:lpstr>PowerPoint Presentation</vt:lpstr>
      <vt:lpstr>What is ORDBMS?</vt:lpstr>
      <vt:lpstr>NoSQL databases</vt:lpstr>
      <vt:lpstr>Characteristics of NoSQL Database</vt:lpstr>
      <vt:lpstr>Characteristics of NoSQL Database</vt:lpstr>
      <vt:lpstr>PowerPoint Presentation</vt:lpstr>
      <vt:lpstr>PowerPoint Presentation</vt:lpstr>
      <vt:lpstr>NoSQL vs SQL</vt:lpstr>
      <vt:lpstr>PowerPoint Presentation</vt:lpstr>
      <vt:lpstr>PowerPoint Presentation</vt:lpstr>
      <vt:lpstr>Distributed Databases</vt:lpstr>
      <vt:lpstr>PowerPoint Presentation</vt:lpstr>
      <vt:lpstr>Types of Distributed Databases</vt:lpstr>
      <vt:lpstr>PowerPoint Presentation</vt:lpstr>
      <vt:lpstr>Distributed ledger technology</vt:lpstr>
      <vt:lpstr>PowerPoint Presentation</vt:lpstr>
      <vt:lpstr>How DLT works</vt:lpstr>
      <vt:lpstr>Blockchain</vt:lpstr>
      <vt:lpstr>PowerPoint Presentation</vt:lpstr>
      <vt:lpstr>Cryptocurrency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pathak</dc:creator>
  <cp:lastModifiedBy>shiva pathak</cp:lastModifiedBy>
  <cp:revision>38</cp:revision>
  <dcterms:created xsi:type="dcterms:W3CDTF">2025-01-20T14:37:01Z</dcterms:created>
  <dcterms:modified xsi:type="dcterms:W3CDTF">2026-02-14T15:26:45Z</dcterms:modified>
</cp:coreProperties>
</file>